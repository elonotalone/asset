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theme" Target="theme/theme1.xml"/><Relationship Id="rId11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夜间海岸观测项目 · 2026 年度影像汇报 · 观测组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2026 年 3—10 月，17 个观测夜的实测中位数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失联的三个都在离岸最远的一列，去年冬天换过一次电池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那一夜记录到的物种数是全年平均的 2.4 倍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天光把最后一段观测吃掉了 45 分钟，这段正是退潮最快的时候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下一年度的第一夜：2027 年 3 月 6 日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title"/>
          <p:cNvSpPr>
            <a:spLocks noGrp="1"/>
          </p:cNvSpPr>
          <p:nvPr>
            <p:ph type="title"/>
          </p:nvPr>
        </p:nvSpPr>
        <p:spPr>
          <a:xfrm>
            <a:off x="685800" y="1500000"/>
            <a:ext cx="10820400" cy="9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title-accentBar"/>
          <p:cNvSpPr>
            <a:spLocks noGrp="1"/>
          </p:cNvSpPr>
          <p:nvPr>
            <p:ph type="body" idx="1"/>
          </p:nvPr>
        </p:nvSpPr>
        <p:spPr>
          <a:xfrm>
            <a:off x="685800" y="2400000"/>
            <a:ext cx="10820400" cy="9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title-subtitle"/>
          <p:cNvSpPr>
            <a:spLocks noGrp="1"/>
          </p:cNvSpPr>
          <p:nvPr>
            <p:ph type="body" idx="2"/>
          </p:nvPr>
        </p:nvSpPr>
        <p:spPr>
          <a:xfrm>
            <a:off x="685800" y="2700000"/>
            <a:ext cx="10820400" cy="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accentBar"/>
          <p:cNvSpPr>
            <a:spLocks noGrp="1"/>
          </p:cNvSpPr>
          <p:nvPr>
            <p:ph type="title"/>
          </p:nvPr>
        </p:nvSpPr>
        <p:spPr>
          <a:xfrm>
            <a:off x="0" y="0"/>
            <a:ext cx="460000" cy="6858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section-title"/>
          <p:cNvSpPr>
            <a:spLocks noGrp="1"/>
          </p:cNvSpPr>
          <p:nvPr>
            <p:ph type="body" idx="1"/>
          </p:nvPr>
        </p:nvSpPr>
        <p:spPr>
          <a:xfrm>
            <a:off x="1000000" y="2600000"/>
            <a:ext cx="10506200" cy="9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ection-subtitle"/>
          <p:cNvSpPr>
            <a:spLocks noGrp="1"/>
          </p:cNvSpPr>
          <p:nvPr>
            <p:ph type="body" idx="2"/>
          </p:nvPr>
        </p:nvSpPr>
        <p:spPr>
          <a:xfrm>
            <a:off x="1000000" y="3600000"/>
            <a:ext cx="10506200" cy="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llets-accentDot"/>
          <p:cNvSpPr>
            <a:spLocks noGrp="1"/>
          </p:cNvSpPr>
          <p:nvPr>
            <p:ph type="title"/>
          </p:nvPr>
        </p:nvSpPr>
        <p:spPr>
          <a:xfrm>
            <a:off x="685800" y="620000"/>
            <a:ext cx="200000" cy="7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bullets-title"/>
          <p:cNvSpPr>
            <a:spLocks noGrp="1"/>
          </p:cNvSpPr>
          <p:nvPr>
            <p:ph type="body" idx="1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bullets-bullets"/>
          <p:cNvSpPr>
            <a:spLocks noGrp="1"/>
          </p:cNvSpPr>
          <p:nvPr>
            <p:ph type="body" idx="2"/>
          </p:nvPr>
        </p:nvSpPr>
        <p:spPr>
          <a:xfrm>
            <a:off x="685800" y="1700000"/>
            <a:ext cx="10820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wo-column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two-column-left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4724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two-column-right"/>
          <p:cNvSpPr>
            <a:spLocks noGrp="1"/>
          </p:cNvSpPr>
          <p:nvPr>
            <p:ph type="body" idx="2"/>
          </p:nvPr>
        </p:nvSpPr>
        <p:spPr>
          <a:xfrm>
            <a:off x="5810200" y="1700000"/>
            <a:ext cx="4724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data-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-table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a-table-table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10820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full-imag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full-scrim"/>
          <p:cNvSpPr>
            <a:spLocks noGrp="1"/>
          </p:cNvSpPr>
          <p:nvPr>
            <p:ph type="body" idx="1"/>
          </p:nvPr>
        </p:nvSpPr>
        <p:spPr>
          <a:xfrm>
            <a:off x="0" y="5200000"/>
            <a:ext cx="12192000" cy="10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image-full-title"/>
          <p:cNvSpPr>
            <a:spLocks noGrp="1"/>
          </p:cNvSpPr>
          <p:nvPr>
            <p:ph type="body" idx="2"/>
          </p:nvPr>
        </p:nvSpPr>
        <p:spPr>
          <a:xfrm>
            <a:off x="685800" y="5200000"/>
            <a:ext cx="10820400" cy="10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left-image"/>
          <p:cNvSpPr>
            <a:spLocks noGrp="1"/>
          </p:cNvSpPr>
          <p:nvPr>
            <p:ph type="title"/>
          </p:nvPr>
        </p:nvSpPr>
        <p:spPr>
          <a:xfrm>
            <a:off x="685800" y="1700000"/>
            <a:ext cx="39624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left-title"/>
          <p:cNvSpPr>
            <a:spLocks noGrp="1"/>
          </p:cNvSpPr>
          <p:nvPr>
            <p:ph type="body" idx="1"/>
          </p:nvPr>
        </p:nvSpPr>
        <p:spPr>
          <a:xfrm>
            <a:off x="5562600" y="760000"/>
            <a:ext cx="59436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image-left-bullets"/>
          <p:cNvSpPr>
            <a:spLocks noGrp="1"/>
          </p:cNvSpPr>
          <p:nvPr>
            <p:ph type="body" idx="2"/>
          </p:nvPr>
        </p:nvSpPr>
        <p:spPr>
          <a:xfrm>
            <a:off x="5562600" y="1700000"/>
            <a:ext cx="59436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right-image"/>
          <p:cNvSpPr>
            <a:spLocks noGrp="1"/>
          </p:cNvSpPr>
          <p:nvPr>
            <p:ph type="title"/>
          </p:nvPr>
        </p:nvSpPr>
        <p:spPr>
          <a:xfrm>
            <a:off x="7543800" y="1700000"/>
            <a:ext cx="39624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right-title"/>
          <p:cNvSpPr>
            <a:spLocks noGrp="1"/>
          </p:cNvSpPr>
          <p:nvPr>
            <p:ph type="body" idx="1"/>
          </p:nvPr>
        </p:nvSpPr>
        <p:spPr>
          <a:xfrm>
            <a:off x="685800" y="760000"/>
            <a:ext cx="59436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image-right-bullets"/>
          <p:cNvSpPr>
            <a:spLocks noGrp="1"/>
          </p:cNvSpPr>
          <p:nvPr>
            <p:ph type="body" idx="2"/>
          </p:nvPr>
        </p:nvSpPr>
        <p:spPr>
          <a:xfrm>
            <a:off x="685800" y="1700000"/>
            <a:ext cx="59436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grid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grid-cell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3505200" cy="202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chart-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-focus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chart-focus-chart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10820400" cy="3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chart-focus-conclusion"/>
          <p:cNvSpPr>
            <a:spLocks noGrp="1"/>
          </p:cNvSpPr>
          <p:nvPr>
            <p:ph type="body" idx="2"/>
          </p:nvPr>
        </p:nvSpPr>
        <p:spPr>
          <a:xfrm>
            <a:off x="685800" y="5600000"/>
            <a:ext cx="10820400" cy="48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art-with-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-with-notes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chart-with-notes-chart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5943600" cy="3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chart-with-notes-bullets"/>
          <p:cNvSpPr>
            <a:spLocks noGrp="1"/>
          </p:cNvSpPr>
          <p:nvPr>
            <p:ph type="body" idx="2"/>
          </p:nvPr>
        </p:nvSpPr>
        <p:spPr>
          <a:xfrm>
            <a:off x="6934200" y="1700000"/>
            <a:ext cx="3962400" cy="3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kpi-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pi-row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kpi-row-card"/>
          <p:cNvSpPr>
            <a:spLocks noGrp="1"/>
          </p:cNvSpPr>
          <p:nvPr>
            <p:ph type="body" idx="1"/>
          </p:nvPr>
        </p:nvSpPr>
        <p:spPr>
          <a:xfrm>
            <a:off x="685800" y="2000000"/>
            <a:ext cx="4724400" cy="19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arison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comparison-leftHeader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4724400" cy="42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comparison-rightHeader"/>
          <p:cNvSpPr>
            <a:spLocks noGrp="1"/>
          </p:cNvSpPr>
          <p:nvPr>
            <p:ph type="body" idx="2"/>
          </p:nvPr>
        </p:nvSpPr>
        <p:spPr>
          <a:xfrm>
            <a:off x="5810200" y="1700000"/>
            <a:ext cx="4724400" cy="42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line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timeline-axis"/>
          <p:cNvSpPr>
            <a:spLocks noGrp="1"/>
          </p:cNvSpPr>
          <p:nvPr>
            <p:ph type="body" idx="1"/>
          </p:nvPr>
        </p:nvSpPr>
        <p:spPr>
          <a:xfrm>
            <a:off x="685800" y="3400000"/>
            <a:ext cx="10820400" cy="4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timeline-node"/>
          <p:cNvSpPr>
            <a:spLocks noGrp="1"/>
          </p:cNvSpPr>
          <p:nvPr>
            <p:ph type="body" idx="2"/>
          </p:nvPr>
        </p:nvSpPr>
        <p:spPr>
          <a:xfrm>
            <a:off x="685800" y="3310000"/>
            <a:ext cx="180000" cy="18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-mark"/>
          <p:cNvSpPr>
            <a:spLocks noGrp="1"/>
          </p:cNvSpPr>
          <p:nvPr>
            <p:ph type="title"/>
          </p:nvPr>
        </p:nvSpPr>
        <p:spPr>
          <a:xfrm>
            <a:off x="1609800" y="2200000"/>
            <a:ext cx="300000" cy="3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quote-quote"/>
          <p:cNvSpPr>
            <a:spLocks noGrp="1"/>
          </p:cNvSpPr>
          <p:nvPr>
            <p:ph type="body" idx="1"/>
          </p:nvPr>
        </p:nvSpPr>
        <p:spPr>
          <a:xfrm>
            <a:off x="2209800" y="2200000"/>
            <a:ext cx="7163400" cy="1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quote-attribution"/>
          <p:cNvSpPr>
            <a:spLocks noGrp="1"/>
          </p:cNvSpPr>
          <p:nvPr>
            <p:ph type="body" idx="2"/>
          </p:nvPr>
        </p:nvSpPr>
        <p:spPr>
          <a:xfrm>
            <a:off x="2209800" y="4000000"/>
            <a:ext cx="7163400" cy="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mixed-tripty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xed-triptych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mixed-triptych-image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3505200" cy="2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mixed-triptych-chart"/>
          <p:cNvSpPr>
            <a:spLocks noGrp="1"/>
          </p:cNvSpPr>
          <p:nvPr>
            <p:ph type="body" idx="2"/>
          </p:nvPr>
        </p:nvSpPr>
        <p:spPr>
          <a:xfrm>
            <a:off x="4343400" y="1700000"/>
            <a:ext cx="3505200" cy="2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10820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type="sldNum" idx="12"/>
          </p:nvPr>
        </p:nvSpPr>
        <p:spPr>
          <a:xfrm>
            <a:off x="6096000" y="6400800"/>
            <a:ext cx="5410200" cy="3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00" r:id="rId1"/>
    <p:sldLayoutId id="2147483601" r:id="rId2"/>
    <p:sldLayoutId id="2147483602" r:id="rId3"/>
    <p:sldLayoutId id="2147483603" r:id="rId4"/>
    <p:sldLayoutId id="2147483604" r:id="rId5"/>
    <p:sldLayoutId id="2147483605" r:id="rId6"/>
    <p:sldLayoutId id="2147483606" r:id="rId7"/>
    <p:sldLayoutId id="2147483607" r:id="rId8"/>
    <p:sldLayoutId id="2147483608" r:id="rId9"/>
    <p:sldLayoutId id="2147483609" r:id="rId10"/>
    <p:sldLayoutId id="2147483610" r:id="rId11"/>
    <p:sldLayoutId id="2147483611" r:id="rId12"/>
    <p:sldLayoutId id="2147483612" r:id="rId13"/>
    <p:sldLayoutId id="2147483613" r:id="rId14"/>
    <p:sldLayoutId id="2147483614" r:id="rId15"/>
    <p:sldLayoutId id="2147483615" r:id="rId16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深夜的海岬与海面，左侧观测塔射出一束灯光扫过海湾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crim-band-1"/>
          <p:cNvSpPr/>
          <p:nvPr/>
        </p:nvSpPr>
        <p:spPr>
          <a:xfrm>
            <a:off x="0" y="5200000"/>
            <a:ext cx="4064000" cy="1000000"/>
          </a:xfrm>
          <a:prstGeom prst="rect">
            <a:avLst/>
          </a:prstGeom>
          <a:solidFill>
            <a:srgbClr val="0A0714">
              <a:alpha val="6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scrim-band-2"/>
          <p:cNvSpPr/>
          <p:nvPr/>
        </p:nvSpPr>
        <p:spPr>
          <a:xfrm>
            <a:off x="4064000" y="5200000"/>
            <a:ext cx="4064000" cy="1000000"/>
          </a:xfrm>
          <a:prstGeom prst="rect">
            <a:avLst/>
          </a:prstGeom>
          <a:solidFill>
            <a:srgbClr val="0A0714">
              <a:alpha val="44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crim-band-3"/>
          <p:cNvSpPr/>
          <p:nvPr/>
        </p:nvSpPr>
        <p:spPr>
          <a:xfrm>
            <a:off x="8128000" y="5200000"/>
            <a:ext cx="4064000" cy="1000000"/>
          </a:xfrm>
          <a:prstGeom prst="rect">
            <a:avLst/>
          </a:prstGeom>
          <a:solidFill>
            <a:srgbClr val="0A0714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title"/>
          <p:cNvSpPr txBox="1"/>
          <p:nvPr/>
        </p:nvSpPr>
        <p:spPr>
          <a:xfrm>
            <a:off x="685800" y="5200000"/>
            <a:ext cx="10820400" cy="10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4000" b="1" dirty="0">
                <a:solidFill>
                  <a:srgbClr val="F0E7FF"/>
                </a:solidFill>
                <a:latin typeface="Orbitron"/>
                <a:ea typeface="Noto Sans SC"/>
              </a:rPr>
              <a:t>整夜没有关灯的那条海岸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Orbitron"/>
                <a:ea typeface="Noto Sans SC"/>
              </a:rPr>
              <a:t>OceanLeo 夜间海岸观测项目 · 2026 年度</a:t>
            </a:r>
          </a:p>
        </p:txBody>
      </p:sp>
      <p:sp>
        <p:nvSpPr>
          <p:cNvPr id="8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Orbitron"/>
                <a:ea typeface="Noto Sans SC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俯视视角的夜间海面，层层潮线自远向近推进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crim-band-1"/>
          <p:cNvSpPr/>
          <p:nvPr/>
        </p:nvSpPr>
        <p:spPr>
          <a:xfrm>
            <a:off x="0" y="5200000"/>
            <a:ext cx="4064000" cy="1000000"/>
          </a:xfrm>
          <a:prstGeom prst="rect">
            <a:avLst/>
          </a:prstGeom>
          <a:solidFill>
            <a:srgbClr val="0A0714">
              <a:alpha val="6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scrim-band-2"/>
          <p:cNvSpPr/>
          <p:nvPr/>
        </p:nvSpPr>
        <p:spPr>
          <a:xfrm>
            <a:off x="4064000" y="5200000"/>
            <a:ext cx="4064000" cy="1000000"/>
          </a:xfrm>
          <a:prstGeom prst="rect">
            <a:avLst/>
          </a:prstGeom>
          <a:solidFill>
            <a:srgbClr val="0A0714">
              <a:alpha val="44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crim-band-3"/>
          <p:cNvSpPr/>
          <p:nvPr/>
        </p:nvSpPr>
        <p:spPr>
          <a:xfrm>
            <a:off x="8128000" y="5200000"/>
            <a:ext cx="4064000" cy="1000000"/>
          </a:xfrm>
          <a:prstGeom prst="rect">
            <a:avLst/>
          </a:prstGeom>
          <a:solidFill>
            <a:srgbClr val="0A0714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title"/>
          <p:cNvSpPr txBox="1"/>
          <p:nvPr/>
        </p:nvSpPr>
        <p:spPr>
          <a:xfrm>
            <a:off x="685800" y="5200000"/>
            <a:ext cx="10820400" cy="10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4000" b="1" dirty="0">
                <a:solidFill>
                  <a:srgbClr val="F0E7FF"/>
                </a:solidFill>
                <a:latin typeface="Orbitron"/>
                <a:ea typeface="Noto Sans SC"/>
              </a:rPr>
              <a:t>潮位每高 10 厘米，滩涂上能站人的时间就少 40 分钟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Orbitron"/>
                <a:ea typeface="Noto Sans SC"/>
              </a:rPr>
              <a:t>OceanLeo 夜间海岸观测项目 · 2026 年度</a:t>
            </a:r>
          </a:p>
        </p:txBody>
      </p:sp>
      <p:sp>
        <p:nvSpPr>
          <p:cNvPr id="8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Orbitron"/>
                <a:ea typeface="Noto Sans SC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rail"/>
          <p:cNvSpPr/>
          <p:nvPr/>
        </p:nvSpPr>
        <p:spPr>
          <a:xfrm>
            <a:off x="0" y="0"/>
            <a:ext cx="460000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itle-3"/>
          <p:cNvSpPr txBox="1"/>
          <p:nvPr/>
        </p:nvSpPr>
        <p:spPr>
          <a:xfrm>
            <a:off x="1000000" y="2600000"/>
            <a:ext cx="10506200" cy="9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4000" b="1" dirty="0">
                <a:solidFill>
                  <a:srgbClr val="F0E7FF"/>
                </a:solidFill>
                <a:latin typeface="Orbitron"/>
                <a:ea typeface="Noto Sans SC"/>
              </a:rPr>
              <a:t>在看什么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00000" y="3600000"/>
            <a:ext cx="10506200" cy="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600" b="0" dirty="0">
                <a:solidFill>
                  <a:srgbClr val="9B86B5"/>
                </a:solidFill>
                <a:latin typeface="Orbitron"/>
                <a:ea typeface="Noto Sans SC"/>
              </a:rPr>
              <a:t>九个浮标、一条岸线、每晚六个小时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Orbitron"/>
                <a:ea typeface="Noto Sans SC"/>
              </a:rPr>
              <a:t>OceanLeo 夜间海岸观测项目 · 2026 年度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Orbitron"/>
                <a:ea typeface="Noto Sans SC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夜间海面上散布的九处浮标灯光，远近不一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crim-band-1"/>
          <p:cNvSpPr/>
          <p:nvPr/>
        </p:nvSpPr>
        <p:spPr>
          <a:xfrm>
            <a:off x="0" y="5200000"/>
            <a:ext cx="4064000" cy="1000000"/>
          </a:xfrm>
          <a:prstGeom prst="rect">
            <a:avLst/>
          </a:prstGeom>
          <a:solidFill>
            <a:srgbClr val="0A0714">
              <a:alpha val="6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scrim-band-2"/>
          <p:cNvSpPr/>
          <p:nvPr/>
        </p:nvSpPr>
        <p:spPr>
          <a:xfrm>
            <a:off x="4064000" y="5200000"/>
            <a:ext cx="4064000" cy="1000000"/>
          </a:xfrm>
          <a:prstGeom prst="rect">
            <a:avLst/>
          </a:prstGeom>
          <a:solidFill>
            <a:srgbClr val="0A0714">
              <a:alpha val="44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crim-band-3"/>
          <p:cNvSpPr/>
          <p:nvPr/>
        </p:nvSpPr>
        <p:spPr>
          <a:xfrm>
            <a:off x="8128000" y="5200000"/>
            <a:ext cx="4064000" cy="1000000"/>
          </a:xfrm>
          <a:prstGeom prst="rect">
            <a:avLst/>
          </a:prstGeom>
          <a:solidFill>
            <a:srgbClr val="0A0714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title"/>
          <p:cNvSpPr txBox="1"/>
          <p:nvPr/>
        </p:nvSpPr>
        <p:spPr>
          <a:xfrm>
            <a:off x="685800" y="5200000"/>
            <a:ext cx="10820400" cy="10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4000" b="1" dirty="0">
                <a:solidFill>
                  <a:srgbClr val="F0E7FF"/>
                </a:solidFill>
                <a:latin typeface="Orbitron"/>
                <a:ea typeface="Noto Sans SC"/>
              </a:rPr>
              <a:t>九个浮标里，有三个整季没有回过一次数据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Orbitron"/>
                <a:ea typeface="Noto Sans SC"/>
              </a:rPr>
              <a:t>OceanLeo 夜间海岸观测项目 · 2026 年度</a:t>
            </a:r>
          </a:p>
        </p:txBody>
      </p:sp>
      <p:sp>
        <p:nvSpPr>
          <p:cNvPr id="8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Orbitron"/>
                <a:ea typeface="Noto Sans SC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低压云层压过海面，一道闪电落在左侧远处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crim-band-1"/>
          <p:cNvSpPr/>
          <p:nvPr/>
        </p:nvSpPr>
        <p:spPr>
          <a:xfrm>
            <a:off x="0" y="5200000"/>
            <a:ext cx="4064000" cy="1000000"/>
          </a:xfrm>
          <a:prstGeom prst="rect">
            <a:avLst/>
          </a:prstGeom>
          <a:solidFill>
            <a:srgbClr val="0A0714">
              <a:alpha val="6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scrim-band-2"/>
          <p:cNvSpPr/>
          <p:nvPr/>
        </p:nvSpPr>
        <p:spPr>
          <a:xfrm>
            <a:off x="4064000" y="5200000"/>
            <a:ext cx="4064000" cy="1000000"/>
          </a:xfrm>
          <a:prstGeom prst="rect">
            <a:avLst/>
          </a:prstGeom>
          <a:solidFill>
            <a:srgbClr val="0A0714">
              <a:alpha val="44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crim-band-3"/>
          <p:cNvSpPr/>
          <p:nvPr/>
        </p:nvSpPr>
        <p:spPr>
          <a:xfrm>
            <a:off x="8128000" y="5200000"/>
            <a:ext cx="4064000" cy="1000000"/>
          </a:xfrm>
          <a:prstGeom prst="rect">
            <a:avLst/>
          </a:prstGeom>
          <a:solidFill>
            <a:srgbClr val="0A0714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title"/>
          <p:cNvSpPr txBox="1"/>
          <p:nvPr/>
        </p:nvSpPr>
        <p:spPr>
          <a:xfrm>
            <a:off x="685800" y="5200000"/>
            <a:ext cx="10820400" cy="10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4000" b="1" dirty="0">
                <a:solidFill>
                  <a:srgbClr val="F0E7FF"/>
                </a:solidFill>
                <a:latin typeface="Orbitron"/>
                <a:ea typeface="Noto Sans SC"/>
              </a:rPr>
              <a:t>最值钱的六个小时，出现在风暴过境后的第一夜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Orbitron"/>
                <a:ea typeface="Noto Sans SC"/>
              </a:rPr>
              <a:t>OceanLeo 夜间海岸观测项目 · 2026 年度</a:t>
            </a:r>
          </a:p>
        </p:txBody>
      </p:sp>
      <p:sp>
        <p:nvSpPr>
          <p:cNvPr id="8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Orbitron"/>
                <a:ea typeface="Noto Sans SC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rail"/>
          <p:cNvSpPr/>
          <p:nvPr/>
        </p:nvSpPr>
        <p:spPr>
          <a:xfrm>
            <a:off x="0" y="0"/>
            <a:ext cx="460000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itle-6"/>
          <p:cNvSpPr txBox="1"/>
          <p:nvPr/>
        </p:nvSpPr>
        <p:spPr>
          <a:xfrm>
            <a:off x="1000000" y="2600000"/>
            <a:ext cx="10506200" cy="9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4000" b="1" dirty="0">
                <a:solidFill>
                  <a:srgbClr val="F0E7FF"/>
                </a:solidFill>
                <a:latin typeface="Orbitron"/>
                <a:ea typeface="Noto Sans SC"/>
              </a:rPr>
              <a:t>要改的一件事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00000" y="3600000"/>
            <a:ext cx="10506200" cy="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600" b="0" dirty="0">
                <a:solidFill>
                  <a:srgbClr val="9B86B5"/>
                </a:solidFill>
                <a:latin typeface="Orbitron"/>
                <a:ea typeface="Noto Sans SC"/>
              </a:rPr>
              <a:t>不是加人，也不是加设备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Orbitron"/>
                <a:ea typeface="Noto Sans SC"/>
              </a:rPr>
              <a:t>OceanLeo 夜间海岸观测项目 · 2026 年度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Orbitron"/>
                <a:ea typeface="Noto Sans SC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黎明前的海岸，天际线开始泛紫，海面尚暗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crim-band-1"/>
          <p:cNvSpPr/>
          <p:nvPr/>
        </p:nvSpPr>
        <p:spPr>
          <a:xfrm>
            <a:off x="0" y="5200000"/>
            <a:ext cx="4064000" cy="1000000"/>
          </a:xfrm>
          <a:prstGeom prst="rect">
            <a:avLst/>
          </a:prstGeom>
          <a:solidFill>
            <a:srgbClr val="0A0714">
              <a:alpha val="6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scrim-band-2"/>
          <p:cNvSpPr/>
          <p:nvPr/>
        </p:nvSpPr>
        <p:spPr>
          <a:xfrm>
            <a:off x="4064000" y="5200000"/>
            <a:ext cx="4064000" cy="1000000"/>
          </a:xfrm>
          <a:prstGeom prst="rect">
            <a:avLst/>
          </a:prstGeom>
          <a:solidFill>
            <a:srgbClr val="0A0714">
              <a:alpha val="44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crim-band-3"/>
          <p:cNvSpPr/>
          <p:nvPr/>
        </p:nvSpPr>
        <p:spPr>
          <a:xfrm>
            <a:off x="8128000" y="5200000"/>
            <a:ext cx="4064000" cy="1000000"/>
          </a:xfrm>
          <a:prstGeom prst="rect">
            <a:avLst/>
          </a:prstGeom>
          <a:solidFill>
            <a:srgbClr val="0A0714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title"/>
          <p:cNvSpPr txBox="1"/>
          <p:nvPr/>
        </p:nvSpPr>
        <p:spPr>
          <a:xfrm>
            <a:off x="685800" y="5200000"/>
            <a:ext cx="10820400" cy="10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4000" b="1" dirty="0">
                <a:solidFill>
                  <a:srgbClr val="F0E7FF"/>
                </a:solidFill>
                <a:latin typeface="Orbitron"/>
                <a:ea typeface="Noto Sans SC"/>
              </a:rPr>
              <a:t>把交班从 06:00 提前到 05:15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Orbitron"/>
                <a:ea typeface="Noto Sans SC"/>
              </a:rPr>
              <a:t>OceanLeo 夜间海岸观测项目 · 2026 年度</a:t>
            </a:r>
          </a:p>
        </p:txBody>
      </p:sp>
      <p:sp>
        <p:nvSpPr>
          <p:cNvPr id="8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Orbitron"/>
                <a:ea typeface="Noto Sans SC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-mark"/>
          <p:cNvSpPr/>
          <p:nvPr/>
        </p:nvSpPr>
        <p:spPr>
          <a:xfrm>
            <a:off x="1609800" y="2200000"/>
            <a:ext cx="300000" cy="300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quote"/>
          <p:cNvSpPr txBox="1"/>
          <p:nvPr/>
        </p:nvSpPr>
        <p:spPr>
          <a:xfrm>
            <a:off x="2209800" y="2200000"/>
            <a:ext cx="7163400" cy="14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4000" b="0" dirty="0">
                <a:solidFill>
                  <a:srgbClr val="F0E7FF"/>
                </a:solidFill>
                <a:latin typeface="Orbitron"/>
                <a:ea typeface="Noto Sans SC"/>
              </a:rPr>
              <a:t>我们不是在拍海，是在等那一刻——它一年只出现十几次，错过了就要再等一年。</a:t>
            </a:r>
          </a:p>
        </p:txBody>
      </p:sp>
      <p:sp>
        <p:nvSpPr>
          <p:cNvPr id="4" name="quote-attribution"/>
          <p:cNvSpPr txBox="1"/>
          <p:nvPr/>
        </p:nvSpPr>
        <p:spPr>
          <a:xfrm>
            <a:off x="2209800" y="4000000"/>
            <a:ext cx="7163400" cy="4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800" b="0" dirty="0">
                <a:solidFill>
                  <a:srgbClr val="9B86B5"/>
                </a:solidFill>
                <a:latin typeface="Orbitron"/>
                <a:ea typeface="Noto Sans SC"/>
              </a:rPr>
              <a:t>观测组 · 值夜记录本，2026 年 9 月 12 日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Orbitron"/>
                <a:ea typeface="Noto Sans SC"/>
              </a:rPr>
              <a:t>OceanLeo 夜间海岸观测项目 · 2026 年度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Orbitron"/>
                <a:ea typeface="Noto Sans SC"/>
              </a:rPr>
              <a:t>8 / 8</a:t>
            </a:r>
          </a:p>
        </p:txBody>
      </p:sp>
      <p:sp>
        <p:nvSpPr>
          <p:cNvPr id="7" name="oceanleo-credits"/>
          <p:cNvSpPr txBox="1"/>
          <p:nvPr/>
        </p:nvSpPr>
        <p:spPr>
          <a:xfrm>
            <a:off x="685800" y="6060800"/>
            <a:ext cx="108204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Orbitron"/>
                <a:ea typeface="Noto Sans SC"/>
              </a:rPr>
              <a:t>OceanLeo 第一方原创，全部画面为程序化生成，非实拍照片 (CC0-1.0)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eanLeo Deck">
  <a:themeElements>
    <a:clrScheme name="OceanLeo">
      <a:dk1>
        <a:srgbClr val="F0E7FF"/>
      </a:dk1>
      <a:lt1>
        <a:srgbClr val="F0E7FF"/>
      </a:lt1>
      <a:dk2>
        <a:srgbClr val="9B86B5"/>
      </a:dk2>
      <a:lt2>
        <a:srgbClr val="120B1F"/>
      </a:lt2>
      <a:accent1>
        <a:srgbClr val="A855F7"/>
      </a:accent1>
      <a:accent2>
        <a:srgbClr val="9333EA"/>
      </a:accent2>
      <a:accent3>
        <a:srgbClr val="6D28D9"/>
      </a:accent3>
      <a:accent4>
        <a:srgbClr val="C084FC"/>
      </a:accent4>
      <a:accent5>
        <a:srgbClr val="D8B4FE"/>
      </a:accent5>
      <a:accent6>
        <a:srgbClr val="9B86B5"/>
      </a:accent6>
      <a:hlink>
        <a:srgbClr val="0969DA"/>
      </a:hlink>
      <a:folHlink>
        <a:srgbClr val="8250DF"/>
      </a:folHlink>
    </a:clrScheme>
    <a:fontScheme name="OceanLeo">
      <a:majorFont>
        <a:latin typeface="Orbitron"/>
        <a:ea typeface="Noto Sans SC"/>
        <a:cs typeface=""/>
      </a:majorFont>
      <a:minorFont>
        <a:latin typeface="Noto Sans SC"/>
        <a:ea typeface="Noto Sans SC"/>
        <a:cs typeface=""/>
      </a:minorFont>
    </a:fontScheme>
    <a:fmtScheme name="OceanLeo">
      <a:fillStyleLst>
        <a:solidFill>
          <a:schemeClr val="phClr">
            <a:lumMod val="100000"/>
          </a:schemeClr>
        </a:solidFill>
        <a:solidFill>
          <a:schemeClr val="phClr">
            <a:lumMod val="90000"/>
          </a:schemeClr>
        </a:solidFill>
        <a:solidFill>
          <a:schemeClr val="phClr">
            <a:lumMod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>
            <a:lumMod val="100000"/>
          </a:schemeClr>
        </a:solidFill>
        <a:solidFill>
          <a:schemeClr val="phClr">
            <a:lumMod val="95000"/>
          </a:schemeClr>
        </a:solidFill>
        <a:solidFill>
          <a:schemeClr val="phClr">
            <a:lumMod val="85000"/>
          </a:schemeClr>
        </a:soli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夜间海岸观测：2026 年度影像汇报</dc:title>
  <dc:subject>夜间海岸观测：2026 年度影像汇报</dc:subject>
  <dc:creator>OceanLeo</dc:creator>
  <cp:lastModifiedBy>OceanLeo</cp:lastModifiedBy>
  <cp:revision>1</cp:revision>
  <dcterms:created xsi:type="dcterms:W3CDTF">2026-07-29T00:00:00Z</dcterms:created>
  <dcterms:modified xsi:type="dcterms:W3CDTF">2026-07-29T00:00:00Z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ceanLeoCredits">
    <vt:lpwstr>OceanLeo 第一方原创，全部画面为程序化生成，非实拍照片 (CC0-1.0)</vt:lpwstr>
  </property>
  <property fmtid="{D5CDD505-2E9C-101B-9397-08002B2CF9AE}" pid="3" name="usage_scope">
    <vt:lpwstr>commercial-ok</vt:lpwstr>
  </property>
  <property fmtid="{D5CDD505-2E9C-101B-9397-08002B2CF9AE}" pid="4" name="license_family">
    <vt:lpwstr>CC0-1.0</vt:lpwstr>
  </property>
  <property fmtid="{D5CDD505-2E9C-101B-9397-08002B2CF9AE}" pid="5" name="supply_tier">
    <vt:lpwstr>first-party</vt:lpwstr>
  </property>
</Properties>
</file>