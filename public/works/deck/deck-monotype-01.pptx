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theme" Target="theme/theme1.xml"/><Relationship Id="rId13" Type="http://schemas.openxmlformats.org/officeDocument/2006/relationships/notesMaster" Target="notesMasters/notesMaster1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会议人时</c:v>
                </c:pt>
              </c:strCache>
            </c:strRef>
          </c:tx>
          <c:spPr>
            <a:solidFill>
              <a:srgbClr val="1F6FEB"/>
            </a:solidFill>
          </c:spPr>
          <c:marker>
            <c:symbol val="circle"/>
            <c:size val="7"/>
            <c:spPr>
              <a:solidFill>
                <a:srgbClr val="1F6FEB"/>
              </a:solidFill>
            </c:spPr>
          </c:marker>
          <c:dLbls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2025 Q3</c:v>
                </c:pt>
                <c:pt idx="1">
                  <c:v>2025 Q4</c:v>
                </c:pt>
                <c:pt idx="2">
                  <c:v>2026 Q1</c:v>
                </c:pt>
                <c:pt idx="3">
                  <c:v>2026 Q2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1104</c:v>
                </c:pt>
                <c:pt idx="1">
                  <c:v>1218</c:v>
                </c:pt>
                <c:pt idx="2">
                  <c:v>1352</c:v>
                </c:pt>
                <c:pt idx="3">
                  <c:v>1472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交付人时</c:v>
                </c:pt>
              </c:strCache>
            </c:strRef>
          </c:tx>
          <c:spPr>
            <a:solidFill>
              <a:srgbClr val="C47323"/>
            </a:solidFill>
          </c:spPr>
          <c:marker>
            <c:symbol val="square"/>
            <c:size val="7"/>
            <c:spPr>
              <a:solidFill>
                <a:srgbClr val="C47323"/>
              </a:solidFill>
            </c:spPr>
          </c:marker>
          <c:dLbls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2025 Q3</c:v>
                </c:pt>
                <c:pt idx="1">
                  <c:v>2025 Q4</c:v>
                </c:pt>
                <c:pt idx="2">
                  <c:v>2026 Q1</c:v>
                </c:pt>
                <c:pt idx="3">
                  <c:v>2026 Q2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6210</c:v>
                </c:pt>
                <c:pt idx="1">
                  <c:v>6180</c:v>
                </c:pt>
                <c:pt idx="2">
                  <c:v>6240</c:v>
                </c:pt>
                <c:pt idx="3">
                  <c:v>6155</c:v>
                </c:pt>
              </c:numCache>
            </c:numRef>
          </c:val>
          <c:smooth val="0"/>
        </c:ser>
        <c:marker val="1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CN" sz="1400"/>
                  <a:t>人时（每季度）</a:t>
                </a:r>
              </a:p>
            </c:rich>
          </c:tx>
          <c:overlay val="0"/>
        </c:title>
        <c:crossAx val="222222222"/>
      </c:catAx>
      <c:valAx>
        <c:axId val="222222222"/>
        <c:scaling>
          <c:orientation val="minMax"/>
        </c:scaling>
        <c:delete val="0"/>
        <c:axPos val="l"/>
        <c:majorGridlines/>
        <c:numFmt formatCode="General" sourceLinked="1"/>
        <c:crossAx val="111111111"/>
      </c:valAx>
    </c:plotArea>
    <c:legend>
      <c:legendPos val="b"/>
      <c:overlay val="0"/>
    </c:legend>
    <c:plotVisOnly val="1"/>
    <c:dispBlanksAs val="gap"/>
  </c:chart>
  <c:spPr>
    <a:solidFill>
      <a:srgbClr val="FFFFFF"/>
    </a:solidFill>
  </c:spPr>
  <c:externalData xmlns:r="http://schemas.openxmlformats.org/officeDocument/2006/relationships"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全文四页证据、一页反证、一页结论。数据来自日历导出，2025-08-01 至 2026-07-31。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口径一改，结论就会变。要反驳这份备忘，先反驳这三条。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5,146 人时 ≈ 2.7 名全职同事一整年。其中全员周会一项就占 37%。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四个季度里会议人时涨了 33%，同期交付人时几乎持平。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这一页不是成本，是机会成本。它无法精确计价，所以不进上一页的合计。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四条反方意见里有两条被接受，改动方案已按它们调整。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回收的 2,638 人时按 1,880 小时／人年折算，约等于 1.4 名全职同事的一年。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责任人：运营组。复算日期：2026-12-05。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title"/>
          <p:cNvSpPr>
            <a:spLocks noGrp="1"/>
          </p:cNvSpPr>
          <p:nvPr>
            <p:ph type="title"/>
          </p:nvPr>
        </p:nvSpPr>
        <p:spPr>
          <a:xfrm>
            <a:off x="685800" y="1500000"/>
            <a:ext cx="10820400" cy="9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title-accentBar"/>
          <p:cNvSpPr>
            <a:spLocks noGrp="1"/>
          </p:cNvSpPr>
          <p:nvPr>
            <p:ph type="body" idx="1"/>
          </p:nvPr>
        </p:nvSpPr>
        <p:spPr>
          <a:xfrm>
            <a:off x="685800" y="2400000"/>
            <a:ext cx="10820400" cy="9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title-subtitle"/>
          <p:cNvSpPr>
            <a:spLocks noGrp="1"/>
          </p:cNvSpPr>
          <p:nvPr>
            <p:ph type="body" idx="2"/>
          </p:nvPr>
        </p:nvSpPr>
        <p:spPr>
          <a:xfrm>
            <a:off x="685800" y="2700000"/>
            <a:ext cx="10820400" cy="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accentBar"/>
          <p:cNvSpPr>
            <a:spLocks noGrp="1"/>
          </p:cNvSpPr>
          <p:nvPr>
            <p:ph type="title"/>
          </p:nvPr>
        </p:nvSpPr>
        <p:spPr>
          <a:xfrm>
            <a:off x="0" y="0"/>
            <a:ext cx="460000" cy="6858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section-title"/>
          <p:cNvSpPr>
            <a:spLocks noGrp="1"/>
          </p:cNvSpPr>
          <p:nvPr>
            <p:ph type="body" idx="1"/>
          </p:nvPr>
        </p:nvSpPr>
        <p:spPr>
          <a:xfrm>
            <a:off x="1000000" y="2600000"/>
            <a:ext cx="10506200" cy="9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ection-subtitle"/>
          <p:cNvSpPr>
            <a:spLocks noGrp="1"/>
          </p:cNvSpPr>
          <p:nvPr>
            <p:ph type="body" idx="2"/>
          </p:nvPr>
        </p:nvSpPr>
        <p:spPr>
          <a:xfrm>
            <a:off x="1000000" y="3600000"/>
            <a:ext cx="10506200" cy="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llets-accentDot"/>
          <p:cNvSpPr>
            <a:spLocks noGrp="1"/>
          </p:cNvSpPr>
          <p:nvPr>
            <p:ph type="title"/>
          </p:nvPr>
        </p:nvSpPr>
        <p:spPr>
          <a:xfrm>
            <a:off x="685800" y="620000"/>
            <a:ext cx="200000" cy="7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bullets-title"/>
          <p:cNvSpPr>
            <a:spLocks noGrp="1"/>
          </p:cNvSpPr>
          <p:nvPr>
            <p:ph type="body" idx="1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bullets-bullets"/>
          <p:cNvSpPr>
            <a:spLocks noGrp="1"/>
          </p:cNvSpPr>
          <p:nvPr>
            <p:ph type="body" idx="2"/>
          </p:nvPr>
        </p:nvSpPr>
        <p:spPr>
          <a:xfrm>
            <a:off x="685800" y="1700000"/>
            <a:ext cx="10820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wo-column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two-column-left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4724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two-column-right"/>
          <p:cNvSpPr>
            <a:spLocks noGrp="1"/>
          </p:cNvSpPr>
          <p:nvPr>
            <p:ph type="body" idx="2"/>
          </p:nvPr>
        </p:nvSpPr>
        <p:spPr>
          <a:xfrm>
            <a:off x="5810200" y="1700000"/>
            <a:ext cx="4724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data-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-table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a-table-table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10820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full-imag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image-full-scrim"/>
          <p:cNvSpPr>
            <a:spLocks noGrp="1"/>
          </p:cNvSpPr>
          <p:nvPr>
            <p:ph type="body" idx="1"/>
          </p:nvPr>
        </p:nvSpPr>
        <p:spPr>
          <a:xfrm>
            <a:off x="0" y="5200000"/>
            <a:ext cx="12192000" cy="10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image-full-title"/>
          <p:cNvSpPr>
            <a:spLocks noGrp="1"/>
          </p:cNvSpPr>
          <p:nvPr>
            <p:ph type="body" idx="2"/>
          </p:nvPr>
        </p:nvSpPr>
        <p:spPr>
          <a:xfrm>
            <a:off x="685800" y="5200000"/>
            <a:ext cx="10820400" cy="10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left-image"/>
          <p:cNvSpPr>
            <a:spLocks noGrp="1"/>
          </p:cNvSpPr>
          <p:nvPr>
            <p:ph type="title"/>
          </p:nvPr>
        </p:nvSpPr>
        <p:spPr>
          <a:xfrm>
            <a:off x="685800" y="1700000"/>
            <a:ext cx="3962400" cy="3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image-left-title"/>
          <p:cNvSpPr>
            <a:spLocks noGrp="1"/>
          </p:cNvSpPr>
          <p:nvPr>
            <p:ph type="body" idx="1"/>
          </p:nvPr>
        </p:nvSpPr>
        <p:spPr>
          <a:xfrm>
            <a:off x="5562600" y="760000"/>
            <a:ext cx="59436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image-left-bullets"/>
          <p:cNvSpPr>
            <a:spLocks noGrp="1"/>
          </p:cNvSpPr>
          <p:nvPr>
            <p:ph type="body" idx="2"/>
          </p:nvPr>
        </p:nvSpPr>
        <p:spPr>
          <a:xfrm>
            <a:off x="5562600" y="1700000"/>
            <a:ext cx="5943600" cy="3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right-image"/>
          <p:cNvSpPr>
            <a:spLocks noGrp="1"/>
          </p:cNvSpPr>
          <p:nvPr>
            <p:ph type="title"/>
          </p:nvPr>
        </p:nvSpPr>
        <p:spPr>
          <a:xfrm>
            <a:off x="7543800" y="1700000"/>
            <a:ext cx="3962400" cy="3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image-right-title"/>
          <p:cNvSpPr>
            <a:spLocks noGrp="1"/>
          </p:cNvSpPr>
          <p:nvPr>
            <p:ph type="body" idx="1"/>
          </p:nvPr>
        </p:nvSpPr>
        <p:spPr>
          <a:xfrm>
            <a:off x="685800" y="760000"/>
            <a:ext cx="59436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image-right-bullets"/>
          <p:cNvSpPr>
            <a:spLocks noGrp="1"/>
          </p:cNvSpPr>
          <p:nvPr>
            <p:ph type="body" idx="2"/>
          </p:nvPr>
        </p:nvSpPr>
        <p:spPr>
          <a:xfrm>
            <a:off x="685800" y="1700000"/>
            <a:ext cx="5943600" cy="3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grid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image-grid-cell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3505200" cy="202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chart-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rt-focus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chart-focus-chart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10820400" cy="3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chart-focus-conclusion"/>
          <p:cNvSpPr>
            <a:spLocks noGrp="1"/>
          </p:cNvSpPr>
          <p:nvPr>
            <p:ph type="body" idx="2"/>
          </p:nvPr>
        </p:nvSpPr>
        <p:spPr>
          <a:xfrm>
            <a:off x="685800" y="5600000"/>
            <a:ext cx="10820400" cy="48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art-with-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rt-with-notes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chart-with-notes-chart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5943600" cy="3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chart-with-notes-bullets"/>
          <p:cNvSpPr>
            <a:spLocks noGrp="1"/>
          </p:cNvSpPr>
          <p:nvPr>
            <p:ph type="body" idx="2"/>
          </p:nvPr>
        </p:nvSpPr>
        <p:spPr>
          <a:xfrm>
            <a:off x="6934200" y="1700000"/>
            <a:ext cx="3962400" cy="3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kpi-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pi-row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kpi-row-card"/>
          <p:cNvSpPr>
            <a:spLocks noGrp="1"/>
          </p:cNvSpPr>
          <p:nvPr>
            <p:ph type="body" idx="1"/>
          </p:nvPr>
        </p:nvSpPr>
        <p:spPr>
          <a:xfrm>
            <a:off x="685800" y="2000000"/>
            <a:ext cx="4724400" cy="19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parison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comparison-leftHeader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4724400" cy="42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comparison-rightHeader"/>
          <p:cNvSpPr>
            <a:spLocks noGrp="1"/>
          </p:cNvSpPr>
          <p:nvPr>
            <p:ph type="body" idx="2"/>
          </p:nvPr>
        </p:nvSpPr>
        <p:spPr>
          <a:xfrm>
            <a:off x="5810200" y="1700000"/>
            <a:ext cx="4724400" cy="42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line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timeline-axis"/>
          <p:cNvSpPr>
            <a:spLocks noGrp="1"/>
          </p:cNvSpPr>
          <p:nvPr>
            <p:ph type="body" idx="1"/>
          </p:nvPr>
        </p:nvSpPr>
        <p:spPr>
          <a:xfrm>
            <a:off x="685800" y="3400000"/>
            <a:ext cx="10820400" cy="4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timeline-node"/>
          <p:cNvSpPr>
            <a:spLocks noGrp="1"/>
          </p:cNvSpPr>
          <p:nvPr>
            <p:ph type="body" idx="2"/>
          </p:nvPr>
        </p:nvSpPr>
        <p:spPr>
          <a:xfrm>
            <a:off x="685800" y="3310000"/>
            <a:ext cx="180000" cy="18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-mark"/>
          <p:cNvSpPr>
            <a:spLocks noGrp="1"/>
          </p:cNvSpPr>
          <p:nvPr>
            <p:ph type="title"/>
          </p:nvPr>
        </p:nvSpPr>
        <p:spPr>
          <a:xfrm>
            <a:off x="1609800" y="2200000"/>
            <a:ext cx="300000" cy="3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quote-quote"/>
          <p:cNvSpPr>
            <a:spLocks noGrp="1"/>
          </p:cNvSpPr>
          <p:nvPr>
            <p:ph type="body" idx="1"/>
          </p:nvPr>
        </p:nvSpPr>
        <p:spPr>
          <a:xfrm>
            <a:off x="2209800" y="2200000"/>
            <a:ext cx="7163400" cy="14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quote-attribution"/>
          <p:cNvSpPr>
            <a:spLocks noGrp="1"/>
          </p:cNvSpPr>
          <p:nvPr>
            <p:ph type="body" idx="2"/>
          </p:nvPr>
        </p:nvSpPr>
        <p:spPr>
          <a:xfrm>
            <a:off x="2209800" y="4000000"/>
            <a:ext cx="7163400" cy="4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mixed-tripty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xed-triptych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mixed-triptych-image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3505200" cy="24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mixed-triptych-chart"/>
          <p:cNvSpPr>
            <a:spLocks noGrp="1"/>
          </p:cNvSpPr>
          <p:nvPr>
            <p:ph type="body" idx="2"/>
          </p:nvPr>
        </p:nvSpPr>
        <p:spPr>
          <a:xfrm>
            <a:off x="4343400" y="1700000"/>
            <a:ext cx="3505200" cy="24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Body Placeholder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10820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type="sldNum" idx="12"/>
          </p:nvPr>
        </p:nvSpPr>
        <p:spPr>
          <a:xfrm>
            <a:off x="6096000" y="6400800"/>
            <a:ext cx="5410200" cy="3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00" r:id="rId1"/>
    <p:sldLayoutId id="2147483601" r:id="rId2"/>
    <p:sldLayoutId id="2147483602" r:id="rId3"/>
    <p:sldLayoutId id="2147483603" r:id="rId4"/>
    <p:sldLayoutId id="2147483604" r:id="rId5"/>
    <p:sldLayoutId id="2147483605" r:id="rId6"/>
    <p:sldLayoutId id="2147483606" r:id="rId7"/>
    <p:sldLayoutId id="2147483607" r:id="rId8"/>
    <p:sldLayoutId id="2147483608" r:id="rId9"/>
    <p:sldLayoutId id="2147483609" r:id="rId10"/>
    <p:sldLayoutId id="2147483610" r:id="rId11"/>
    <p:sldLayoutId id="2147483611" r:id="rId12"/>
    <p:sldLayoutId id="2147483612" r:id="rId13"/>
    <p:sldLayoutId id="2147483613" r:id="rId14"/>
    <p:sldLayoutId id="2147483614" r:id="rId15"/>
    <p:sldLayoutId id="2147483615" r:id="rId16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-mark"/>
          <p:cNvSpPr/>
          <p:nvPr/>
        </p:nvSpPr>
        <p:spPr>
          <a:xfrm>
            <a:off x="1609800" y="2200000"/>
            <a:ext cx="300000" cy="300000"/>
          </a:xfrm>
          <a:prstGeom prst="rect">
            <a:avLst/>
          </a:prstGeom>
          <a:solidFill>
            <a:srgbClr val="8C2F2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quote"/>
          <p:cNvSpPr txBox="1"/>
          <p:nvPr/>
        </p:nvSpPr>
        <p:spPr>
          <a:xfrm>
            <a:off x="2209800" y="2200000"/>
            <a:ext cx="7163400" cy="14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4000" b="0" dirty="0">
                <a:solidFill>
                  <a:srgbClr val="1F2328"/>
                </a:solidFill>
                <a:latin typeface="Noto Serif CJK SC"/>
                <a:ea typeface="Noto Serif CJK SC"/>
              </a:rPr>
              <a:t>一场四十人的全员周会，一年要花掉 1,880 个人时——正好是一名全职同事一整年的工时。这份备忘只回答一件事：这一年买到了什么。</a:t>
            </a:r>
          </a:p>
        </p:txBody>
      </p:sp>
      <p:sp>
        <p:nvSpPr>
          <p:cNvPr id="4" name="quote-attribution"/>
          <p:cNvSpPr txBox="1"/>
          <p:nvPr/>
        </p:nvSpPr>
        <p:spPr>
          <a:xfrm>
            <a:off x="2209800" y="4000000"/>
            <a:ext cx="7163400" cy="4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800" b="0" dirty="0">
                <a:solidFill>
                  <a:srgbClr val="3A4149"/>
                </a:solidFill>
                <a:latin typeface="Noto Serif CJK SC"/>
                <a:ea typeface="Noto Serif CJK SC"/>
              </a:rPr>
              <a:t>运营组 · 致管理层的内部备忘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erif CJK SC"/>
                <a:ea typeface="Noto Serif CJK SC"/>
              </a:rPr>
              <a:t>内部备忘 · 会议成本复盘 · 第 2 版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erif CJK SC"/>
                <a:ea typeface="Noto Serif CJK SC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rail"/>
          <p:cNvSpPr/>
          <p:nvPr/>
        </p:nvSpPr>
        <p:spPr>
          <a:xfrm>
            <a:off x="0" y="0"/>
            <a:ext cx="460000" cy="6858000"/>
          </a:xfrm>
          <a:prstGeom prst="rect">
            <a:avLst/>
          </a:prstGeom>
          <a:solidFill>
            <a:srgbClr val="8C2F2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itle-2"/>
          <p:cNvSpPr txBox="1"/>
          <p:nvPr/>
        </p:nvSpPr>
        <p:spPr>
          <a:xfrm>
            <a:off x="1000000" y="2600000"/>
            <a:ext cx="10506200" cy="9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4000" b="1" dirty="0">
                <a:solidFill>
                  <a:srgbClr val="1F2328"/>
                </a:solidFill>
                <a:latin typeface="Noto Serif CJK SC"/>
                <a:ea typeface="Noto Serif CJK SC"/>
              </a:rPr>
              <a:t>一、账是怎么算的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000000" y="3600000"/>
            <a:ext cx="10506200" cy="6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600" b="0" dirty="0">
                <a:solidFill>
                  <a:srgbClr val="3A4149"/>
                </a:solidFill>
                <a:latin typeface="Noto Serif CJK SC"/>
                <a:ea typeface="Noto Serif CJK SC"/>
              </a:rPr>
              <a:t>只算日历上真实发生过的固定会议，不算临时拉群与走廊沟通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erif CJK SC"/>
                <a:ea typeface="Noto Serif CJK SC"/>
              </a:rPr>
              <a:t>内部备忘 · 会议成本复盘 · 第 2 版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erif CJK SC"/>
                <a:ea typeface="Noto Serif CJK SC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dot"/>
          <p:cNvSpPr/>
          <p:nvPr/>
        </p:nvSpPr>
        <p:spPr>
          <a:xfrm>
            <a:off x="685800" y="620000"/>
            <a:ext cx="200000" cy="70000"/>
          </a:xfrm>
          <a:prstGeom prst="rect">
            <a:avLst/>
          </a:prstGeom>
          <a:solidFill>
            <a:srgbClr val="8C2F2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itle-3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1F2328"/>
                </a:solidFill>
                <a:latin typeface="Noto Serif CJK SC"/>
                <a:ea typeface="Noto Serif CJK SC"/>
              </a:rPr>
              <a:t>三条口径，先说清楚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700000"/>
            <a:ext cx="10820400" cy="45484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2328"/>
                </a:solidFill>
                <a:latin typeface="Noto Serif CJK SC"/>
                <a:ea typeface="Noto Serif CJK SC"/>
              </a:rPr>
              <a:t>人时 = 参会人数 × 时长。会开一小时、坐了四十个人，就记四十人时，不记一小时。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2328"/>
                </a:solidFill>
                <a:latin typeface="Noto Serif CJK SC"/>
                <a:ea typeface="Noto Serif CJK SC"/>
              </a:rPr>
              <a:t>只统计日历上重复发生的固定会议，共 5 类；临时会与客户会不在本次口径内。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2328"/>
                </a:solidFill>
                <a:latin typeface="Noto Serif CJK SC"/>
                <a:ea typeface="Noto Serif CJK SC"/>
              </a:rPr>
              <a:t>一名全职同事一年的可用工时按 1,880 小时计（47 周 × 40 小时，已扣年假与法定假）。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erif CJK SC"/>
                <a:ea typeface="Noto Serif CJK SC"/>
              </a:rPr>
              <a:t>内部备忘 · 会议成本复盘 · 第 2 版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erif CJK SC"/>
                <a:ea typeface="Noto Serif CJK SC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4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1F2328"/>
                </a:solidFill>
                <a:latin typeface="Noto Serif CJK SC"/>
                <a:ea typeface="Noto Serif CJK SC"/>
              </a:rPr>
              <a:t>五类固定会议，一年 5,146 人时</a:t>
            </a:r>
          </a:p>
        </p:txBody>
      </p:sp>
      <p:sp>
        <p:nvSpPr>
          <p:cNvPr id="3" name="table-header"/>
          <p:cNvSpPr/>
          <p:nvPr/>
        </p:nvSpPr>
        <p:spPr>
          <a:xfrm>
            <a:off x="685800" y="1700000"/>
            <a:ext cx="10820400" cy="420000"/>
          </a:xfrm>
          <a:prstGeom prst="rect">
            <a:avLst/>
          </a:prstGeom>
          <a:solidFill>
            <a:srgbClr val="8C2F2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th-0"/>
          <p:cNvSpPr txBox="1"/>
          <p:nvPr/>
        </p:nvSpPr>
        <p:spPr>
          <a:xfrm>
            <a:off x="685800" y="1700000"/>
            <a:ext cx="2164080" cy="42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Noto Serif CJK SC"/>
                <a:ea typeface="Noto Serif CJK SC"/>
              </a:rPr>
              <a:t>会议</a:t>
            </a:r>
          </a:p>
        </p:txBody>
      </p:sp>
      <p:sp>
        <p:nvSpPr>
          <p:cNvPr id="5" name="th-1"/>
          <p:cNvSpPr txBox="1"/>
          <p:nvPr/>
        </p:nvSpPr>
        <p:spPr>
          <a:xfrm>
            <a:off x="2849880" y="1700000"/>
            <a:ext cx="2164080" cy="42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Noto Serif CJK SC"/>
                <a:ea typeface="Noto Serif CJK SC"/>
              </a:rPr>
              <a:t>每周</a:t>
            </a:r>
          </a:p>
        </p:txBody>
      </p:sp>
      <p:sp>
        <p:nvSpPr>
          <p:cNvPr id="6" name="th-2"/>
          <p:cNvSpPr txBox="1"/>
          <p:nvPr/>
        </p:nvSpPr>
        <p:spPr>
          <a:xfrm>
            <a:off x="5013960" y="1700000"/>
            <a:ext cx="2164080" cy="42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Noto Serif CJK SC"/>
                <a:ea typeface="Noto Serif CJK SC"/>
              </a:rPr>
              <a:t>单次时长</a:t>
            </a:r>
          </a:p>
        </p:txBody>
      </p:sp>
      <p:sp>
        <p:nvSpPr>
          <p:cNvPr id="7" name="th-3"/>
          <p:cNvSpPr txBox="1"/>
          <p:nvPr/>
        </p:nvSpPr>
        <p:spPr>
          <a:xfrm>
            <a:off x="7178040" y="1700000"/>
            <a:ext cx="2164080" cy="42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Noto Serif CJK SC"/>
                <a:ea typeface="Noto Serif CJK SC"/>
              </a:rPr>
              <a:t>参会人数</a:t>
            </a:r>
          </a:p>
        </p:txBody>
      </p:sp>
      <p:sp>
        <p:nvSpPr>
          <p:cNvPr id="8" name="th-4"/>
          <p:cNvSpPr txBox="1"/>
          <p:nvPr/>
        </p:nvSpPr>
        <p:spPr>
          <a:xfrm>
            <a:off x="9342120" y="1700000"/>
            <a:ext cx="2164080" cy="42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Noto Serif CJK SC"/>
                <a:ea typeface="Noto Serif CJK SC"/>
              </a:rPr>
              <a:t>年人时</a:t>
            </a:r>
          </a:p>
        </p:txBody>
      </p:sp>
      <p:sp>
        <p:nvSpPr>
          <p:cNvPr id="9" name="td-0-0"/>
          <p:cNvSpPr txBox="1"/>
          <p:nvPr/>
        </p:nvSpPr>
        <p:spPr>
          <a:xfrm>
            <a:off x="685800" y="212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全员周会</a:t>
            </a:r>
          </a:p>
        </p:txBody>
      </p:sp>
      <p:sp>
        <p:nvSpPr>
          <p:cNvPr id="10" name="td-0-1"/>
          <p:cNvSpPr txBox="1"/>
          <p:nvPr/>
        </p:nvSpPr>
        <p:spPr>
          <a:xfrm>
            <a:off x="2849880" y="212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1 次</a:t>
            </a:r>
          </a:p>
        </p:txBody>
      </p:sp>
      <p:sp>
        <p:nvSpPr>
          <p:cNvPr id="11" name="td-0-2"/>
          <p:cNvSpPr txBox="1"/>
          <p:nvPr/>
        </p:nvSpPr>
        <p:spPr>
          <a:xfrm>
            <a:off x="5013960" y="212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60 分钟</a:t>
            </a:r>
          </a:p>
        </p:txBody>
      </p:sp>
      <p:sp>
        <p:nvSpPr>
          <p:cNvPr id="12" name="td-0-3"/>
          <p:cNvSpPr txBox="1"/>
          <p:nvPr/>
        </p:nvSpPr>
        <p:spPr>
          <a:xfrm>
            <a:off x="7178040" y="212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40 人</a:t>
            </a:r>
          </a:p>
        </p:txBody>
      </p:sp>
      <p:sp>
        <p:nvSpPr>
          <p:cNvPr id="13" name="td-0-4"/>
          <p:cNvSpPr txBox="1"/>
          <p:nvPr/>
        </p:nvSpPr>
        <p:spPr>
          <a:xfrm>
            <a:off x="9342120" y="212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1,880</a:t>
            </a:r>
          </a:p>
        </p:txBody>
      </p:sp>
      <p:sp>
        <p:nvSpPr>
          <p:cNvPr id="14" name="tr-1"/>
          <p:cNvSpPr/>
          <p:nvPr/>
        </p:nvSpPr>
        <p:spPr>
          <a:xfrm>
            <a:off x="685800" y="2500000"/>
            <a:ext cx="10820400" cy="38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5" name="td-1-0"/>
          <p:cNvSpPr txBox="1"/>
          <p:nvPr/>
        </p:nvSpPr>
        <p:spPr>
          <a:xfrm>
            <a:off x="685800" y="250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项目站会</a:t>
            </a:r>
          </a:p>
        </p:txBody>
      </p:sp>
      <p:sp>
        <p:nvSpPr>
          <p:cNvPr id="16" name="td-1-1"/>
          <p:cNvSpPr txBox="1"/>
          <p:nvPr/>
        </p:nvSpPr>
        <p:spPr>
          <a:xfrm>
            <a:off x="2849880" y="250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5 次</a:t>
            </a:r>
          </a:p>
        </p:txBody>
      </p:sp>
      <p:sp>
        <p:nvSpPr>
          <p:cNvPr id="17" name="td-1-2"/>
          <p:cNvSpPr txBox="1"/>
          <p:nvPr/>
        </p:nvSpPr>
        <p:spPr>
          <a:xfrm>
            <a:off x="5013960" y="250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15 分钟</a:t>
            </a:r>
          </a:p>
        </p:txBody>
      </p:sp>
      <p:sp>
        <p:nvSpPr>
          <p:cNvPr id="18" name="td-1-3"/>
          <p:cNvSpPr txBox="1"/>
          <p:nvPr/>
        </p:nvSpPr>
        <p:spPr>
          <a:xfrm>
            <a:off x="7178040" y="250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6 人</a:t>
            </a:r>
          </a:p>
        </p:txBody>
      </p:sp>
      <p:sp>
        <p:nvSpPr>
          <p:cNvPr id="19" name="td-1-4"/>
          <p:cNvSpPr txBox="1"/>
          <p:nvPr/>
        </p:nvSpPr>
        <p:spPr>
          <a:xfrm>
            <a:off x="9342120" y="250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1,410</a:t>
            </a:r>
          </a:p>
        </p:txBody>
      </p:sp>
      <p:sp>
        <p:nvSpPr>
          <p:cNvPr id="20" name="td-2-0"/>
          <p:cNvSpPr txBox="1"/>
          <p:nvPr/>
        </p:nvSpPr>
        <p:spPr>
          <a:xfrm>
            <a:off x="685800" y="288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一对一</a:t>
            </a:r>
          </a:p>
        </p:txBody>
      </p:sp>
      <p:sp>
        <p:nvSpPr>
          <p:cNvPr id="21" name="td-2-1"/>
          <p:cNvSpPr txBox="1"/>
          <p:nvPr/>
        </p:nvSpPr>
        <p:spPr>
          <a:xfrm>
            <a:off x="2849880" y="288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1 次</a:t>
            </a:r>
          </a:p>
        </p:txBody>
      </p:sp>
      <p:sp>
        <p:nvSpPr>
          <p:cNvPr id="22" name="td-2-2"/>
          <p:cNvSpPr txBox="1"/>
          <p:nvPr/>
        </p:nvSpPr>
        <p:spPr>
          <a:xfrm>
            <a:off x="5013960" y="288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30 分钟</a:t>
            </a:r>
          </a:p>
        </p:txBody>
      </p:sp>
      <p:sp>
        <p:nvSpPr>
          <p:cNvPr id="23" name="td-2-3"/>
          <p:cNvSpPr txBox="1"/>
          <p:nvPr/>
        </p:nvSpPr>
        <p:spPr>
          <a:xfrm>
            <a:off x="7178040" y="288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2 人 × 20 组</a:t>
            </a:r>
          </a:p>
        </p:txBody>
      </p:sp>
      <p:sp>
        <p:nvSpPr>
          <p:cNvPr id="24" name="td-2-4"/>
          <p:cNvSpPr txBox="1"/>
          <p:nvPr/>
        </p:nvSpPr>
        <p:spPr>
          <a:xfrm>
            <a:off x="9342120" y="288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940</a:t>
            </a:r>
          </a:p>
        </p:txBody>
      </p:sp>
      <p:sp>
        <p:nvSpPr>
          <p:cNvPr id="25" name="tr-3"/>
          <p:cNvSpPr/>
          <p:nvPr/>
        </p:nvSpPr>
        <p:spPr>
          <a:xfrm>
            <a:off x="685800" y="3260000"/>
            <a:ext cx="10820400" cy="38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6" name="td-3-0"/>
          <p:cNvSpPr txBox="1"/>
          <p:nvPr/>
        </p:nvSpPr>
        <p:spPr>
          <a:xfrm>
            <a:off x="685800" y="326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需求评审</a:t>
            </a:r>
          </a:p>
        </p:txBody>
      </p:sp>
      <p:sp>
        <p:nvSpPr>
          <p:cNvPr id="27" name="td-3-1"/>
          <p:cNvSpPr txBox="1"/>
          <p:nvPr/>
        </p:nvSpPr>
        <p:spPr>
          <a:xfrm>
            <a:off x="2849880" y="326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1 次</a:t>
            </a:r>
          </a:p>
        </p:txBody>
      </p:sp>
      <p:sp>
        <p:nvSpPr>
          <p:cNvPr id="28" name="td-3-2"/>
          <p:cNvSpPr txBox="1"/>
          <p:nvPr/>
        </p:nvSpPr>
        <p:spPr>
          <a:xfrm>
            <a:off x="5013960" y="326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90 分钟</a:t>
            </a:r>
          </a:p>
        </p:txBody>
      </p:sp>
      <p:sp>
        <p:nvSpPr>
          <p:cNvPr id="29" name="td-3-3"/>
          <p:cNvSpPr txBox="1"/>
          <p:nvPr/>
        </p:nvSpPr>
        <p:spPr>
          <a:xfrm>
            <a:off x="7178040" y="326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9 人</a:t>
            </a:r>
          </a:p>
        </p:txBody>
      </p:sp>
      <p:sp>
        <p:nvSpPr>
          <p:cNvPr id="30" name="td-3-4"/>
          <p:cNvSpPr txBox="1"/>
          <p:nvPr/>
        </p:nvSpPr>
        <p:spPr>
          <a:xfrm>
            <a:off x="9342120" y="326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634</a:t>
            </a:r>
          </a:p>
        </p:txBody>
      </p:sp>
      <p:sp>
        <p:nvSpPr>
          <p:cNvPr id="31" name="td-4-0"/>
          <p:cNvSpPr txBox="1"/>
          <p:nvPr/>
        </p:nvSpPr>
        <p:spPr>
          <a:xfrm>
            <a:off x="685800" y="364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双周复盘</a:t>
            </a:r>
          </a:p>
        </p:txBody>
      </p:sp>
      <p:sp>
        <p:nvSpPr>
          <p:cNvPr id="32" name="td-4-1"/>
          <p:cNvSpPr txBox="1"/>
          <p:nvPr/>
        </p:nvSpPr>
        <p:spPr>
          <a:xfrm>
            <a:off x="2849880" y="364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0.5 次</a:t>
            </a:r>
          </a:p>
        </p:txBody>
      </p:sp>
      <p:sp>
        <p:nvSpPr>
          <p:cNvPr id="33" name="td-4-2"/>
          <p:cNvSpPr txBox="1"/>
          <p:nvPr/>
        </p:nvSpPr>
        <p:spPr>
          <a:xfrm>
            <a:off x="5013960" y="364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60 分钟</a:t>
            </a:r>
          </a:p>
        </p:txBody>
      </p:sp>
      <p:sp>
        <p:nvSpPr>
          <p:cNvPr id="34" name="td-4-3"/>
          <p:cNvSpPr txBox="1"/>
          <p:nvPr/>
        </p:nvSpPr>
        <p:spPr>
          <a:xfrm>
            <a:off x="7178040" y="364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12 人</a:t>
            </a:r>
          </a:p>
        </p:txBody>
      </p:sp>
      <p:sp>
        <p:nvSpPr>
          <p:cNvPr id="35" name="td-4-4"/>
          <p:cNvSpPr txBox="1"/>
          <p:nvPr/>
        </p:nvSpPr>
        <p:spPr>
          <a:xfrm>
            <a:off x="9342120" y="364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282</a:t>
            </a:r>
          </a:p>
        </p:txBody>
      </p:sp>
      <p:sp>
        <p:nvSpPr>
          <p:cNvPr id="36" name="tr-5"/>
          <p:cNvSpPr/>
          <p:nvPr/>
        </p:nvSpPr>
        <p:spPr>
          <a:xfrm>
            <a:off x="685800" y="4020000"/>
            <a:ext cx="10820400" cy="38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7" name="td-5-0"/>
          <p:cNvSpPr txBox="1"/>
          <p:nvPr/>
        </p:nvSpPr>
        <p:spPr>
          <a:xfrm>
            <a:off x="685800" y="402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合计</a:t>
            </a:r>
          </a:p>
        </p:txBody>
      </p:sp>
      <p:sp>
        <p:nvSpPr>
          <p:cNvPr id="38" name="td-5-1"/>
          <p:cNvSpPr txBox="1"/>
          <p:nvPr/>
        </p:nvSpPr>
        <p:spPr>
          <a:xfrm>
            <a:off x="2849880" y="402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—</a:t>
            </a:r>
          </a:p>
        </p:txBody>
      </p:sp>
      <p:sp>
        <p:nvSpPr>
          <p:cNvPr id="39" name="td-5-2"/>
          <p:cNvSpPr txBox="1"/>
          <p:nvPr/>
        </p:nvSpPr>
        <p:spPr>
          <a:xfrm>
            <a:off x="5013960" y="402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—</a:t>
            </a:r>
          </a:p>
        </p:txBody>
      </p:sp>
      <p:sp>
        <p:nvSpPr>
          <p:cNvPr id="40" name="td-5-3"/>
          <p:cNvSpPr txBox="1"/>
          <p:nvPr/>
        </p:nvSpPr>
        <p:spPr>
          <a:xfrm>
            <a:off x="7178040" y="402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—</a:t>
            </a:r>
          </a:p>
        </p:txBody>
      </p:sp>
      <p:sp>
        <p:nvSpPr>
          <p:cNvPr id="41" name="td-5-4"/>
          <p:cNvSpPr txBox="1"/>
          <p:nvPr/>
        </p:nvSpPr>
        <p:spPr>
          <a:xfrm>
            <a:off x="9342120" y="402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5,146</a:t>
            </a:r>
          </a:p>
        </p:txBody>
      </p:sp>
      <p:sp>
        <p:nvSpPr>
          <p:cNvPr id="42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erif CJK SC"/>
                <a:ea typeface="Noto Serif CJK SC"/>
              </a:rPr>
              <a:t>内部备忘 · 会议成本复盘 · 第 2 版</a:t>
            </a:r>
          </a:p>
        </p:txBody>
      </p:sp>
      <p:sp>
        <p:nvSpPr>
          <p:cNvPr id="43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erif CJK SC"/>
                <a:ea typeface="Noto Serif CJK SC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5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1F2328"/>
                </a:solidFill>
                <a:latin typeface="Noto Serif CJK SC"/>
                <a:ea typeface="Noto Serif CJK SC"/>
              </a:rPr>
              <a:t>会议人时在涨，交付人时没跟着涨</a:t>
            </a:r>
          </a:p>
        </p:txBody>
      </p:sp>
      <p:graphicFrame>
        <p:nvGraphicFramePr>
          <p:cNvPr id="3" name="c3"/>
          <p:cNvGraphicFramePr/>
          <p:nvPr/>
        </p:nvGraphicFramePr>
        <p:xfrm>
          <a:off x="685800" y="1700000"/>
          <a:ext cx="10820400" cy="3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conclusion-bar"/>
          <p:cNvSpPr/>
          <p:nvPr/>
        </p:nvSpPr>
        <p:spPr>
          <a:xfrm>
            <a:off x="685800" y="5600000"/>
            <a:ext cx="10820400" cy="48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conclusion"/>
          <p:cNvSpPr txBox="1"/>
          <p:nvPr/>
        </p:nvSpPr>
        <p:spPr>
          <a:xfrm>
            <a:off x="685800" y="5600000"/>
            <a:ext cx="10820400" cy="4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600" b="0" dirty="0">
                <a:solidFill>
                  <a:srgbClr val="1F2328"/>
                </a:solidFill>
                <a:latin typeface="Noto Serif CJK SC"/>
                <a:ea typeface="Noto Serif CJK SC"/>
              </a:rPr>
              <a:t>四个季度里会议人时涨了 33%，同期交付人时几乎持平。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erif CJK SC"/>
                <a:ea typeface="Noto Serif CJK SC"/>
              </a:rPr>
              <a:t>内部备忘 · 会议成本复盘 · 第 2 版</a:t>
            </a:r>
          </a:p>
        </p:txBody>
      </p:sp>
      <p:sp>
        <p:nvSpPr>
          <p:cNvPr id="7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erif CJK SC"/>
                <a:ea typeface="Noto Serif CJK SC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dot"/>
          <p:cNvSpPr/>
          <p:nvPr/>
        </p:nvSpPr>
        <p:spPr>
          <a:xfrm>
            <a:off x="685800" y="620000"/>
            <a:ext cx="200000" cy="70000"/>
          </a:xfrm>
          <a:prstGeom prst="rect">
            <a:avLst/>
          </a:prstGeom>
          <a:solidFill>
            <a:srgbClr val="8C2F2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itle-6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1F2328"/>
                </a:solidFill>
                <a:latin typeface="Noto Serif CJK SC"/>
                <a:ea typeface="Noto Serif CJK SC"/>
              </a:rPr>
              <a:t>同一年里，被会议挤掉的三件事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700000"/>
            <a:ext cx="10820400" cy="45484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2328"/>
                </a:solidFill>
                <a:latin typeface="Noto Serif CJK SC"/>
                <a:ea typeface="Noto Serif CJK SC"/>
              </a:rPr>
              <a:t>季度技术债清理：计划 240 人时，实际投入 61 人时，两次因周会延期而取消。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2328"/>
                </a:solidFill>
                <a:latin typeface="Noto Serif CJK SC"/>
                <a:ea typeface="Noto Serif CJK SC"/>
              </a:rPr>
              <a:t>客户回访：计划每月 8 家，实际全年 41 家，缺口集中在周会最长的三个月。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2328"/>
                </a:solidFill>
                <a:latin typeface="Noto Serif CJK SC"/>
                <a:ea typeface="Noto Serif CJK SC"/>
              </a:rPr>
              <a:t>新人带教：8 周计划里有 3 周的带教时段与固定会议撞车，只能改成自学。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2328"/>
                </a:solidFill>
                <a:latin typeface="Noto Serif CJK SC"/>
                <a:ea typeface="Noto Serif CJK SC"/>
              </a:rPr>
              <a:t>以上三项都不是被砍掉的，是被排不进日历的——日历里先放的是会。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erif CJK SC"/>
                <a:ea typeface="Noto Serif CJK SC"/>
              </a:rPr>
              <a:t>内部备忘 · 会议成本复盘 · 第 2 版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erif CJK SC"/>
                <a:ea typeface="Noto Serif CJK SC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7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1F2328"/>
                </a:solidFill>
                <a:latin typeface="Noto Serif CJK SC"/>
                <a:ea typeface="Noto Serif CJK SC"/>
              </a:rPr>
              <a:t>先把反面意见摆上来</a:t>
            </a:r>
          </a:p>
        </p:txBody>
      </p:sp>
      <p:sp>
        <p:nvSpPr>
          <p:cNvPr id="3" name="left-header"/>
          <p:cNvSpPr/>
          <p:nvPr/>
        </p:nvSpPr>
        <p:spPr>
          <a:xfrm>
            <a:off x="685800" y="1700000"/>
            <a:ext cx="4724400" cy="420000"/>
          </a:xfrm>
          <a:prstGeom prst="rect">
            <a:avLst/>
          </a:prstGeom>
          <a:solidFill>
            <a:srgbClr val="8C2F2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left-header-text"/>
          <p:cNvSpPr txBox="1"/>
          <p:nvPr/>
        </p:nvSpPr>
        <p:spPr>
          <a:xfrm>
            <a:off x="685800" y="1700000"/>
            <a:ext cx="4724400" cy="42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Noto Serif CJK SC"/>
                <a:ea typeface="Noto Serif CJK SC"/>
              </a:rPr>
              <a:t>A</a:t>
            </a:r>
          </a:p>
        </p:txBody>
      </p:sp>
      <p:sp>
        <p:nvSpPr>
          <p:cNvPr id="5" name="left-items"/>
          <p:cNvSpPr txBox="1"/>
          <p:nvPr/>
        </p:nvSpPr>
        <p:spPr>
          <a:xfrm>
            <a:off x="685800" y="2120000"/>
            <a:ext cx="4724400" cy="276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2328"/>
                </a:solidFill>
                <a:latin typeface="Noto Serif CJK SC"/>
                <a:ea typeface="Noto Serif CJK SC"/>
              </a:rPr>
              <a:t>反方：会议是信息同步的成本，砍了会更贵。</a:t>
            </a:r>
          </a:p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2328"/>
                </a:solidFill>
                <a:latin typeface="Noto Serif CJK SC"/>
                <a:ea typeface="Noto Serif CJK SC"/>
              </a:rPr>
              <a:t>反方：全员周会是唯一一次所有人同时在场的场合。</a:t>
            </a:r>
          </a:p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2328"/>
                </a:solidFill>
                <a:latin typeface="Noto Serif CJK SC"/>
                <a:ea typeface="Noto Serif CJK SC"/>
              </a:rPr>
              <a:t>反方：新同事靠周会建立对全局的认识。</a:t>
            </a:r>
          </a:p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2328"/>
                </a:solidFill>
                <a:latin typeface="Noto Serif CJK SC"/>
                <a:ea typeface="Noto Serif CJK SC"/>
              </a:rPr>
              <a:t>反方：人时是账面数字，会上没人在真干活也算不清。</a:t>
            </a:r>
          </a:p>
        </p:txBody>
      </p:sp>
      <p:sp>
        <p:nvSpPr>
          <p:cNvPr id="6" name="right-header"/>
          <p:cNvSpPr/>
          <p:nvPr/>
        </p:nvSpPr>
        <p:spPr>
          <a:xfrm>
            <a:off x="5810200" y="1700000"/>
            <a:ext cx="4724400" cy="4200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right-header-text"/>
          <p:cNvSpPr txBox="1"/>
          <p:nvPr/>
        </p:nvSpPr>
        <p:spPr>
          <a:xfrm>
            <a:off x="5810200" y="1700000"/>
            <a:ext cx="4724400" cy="42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Noto Serif CJK SC"/>
                <a:ea typeface="Noto Serif CJK SC"/>
              </a:rPr>
              <a:t>四条反方意见里有两条被接受，改动方案已按它们调整。</a:t>
            </a:r>
          </a:p>
        </p:txBody>
      </p:sp>
      <p:sp>
        <p:nvSpPr>
          <p:cNvPr id="8" name="right-items"/>
          <p:cNvSpPr txBox="1"/>
          <p:nvPr/>
        </p:nvSpPr>
        <p:spPr>
          <a:xfrm>
            <a:off x="5810200" y="2120000"/>
            <a:ext cx="4724400" cy="276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2328"/>
                </a:solidFill>
                <a:latin typeface="Noto Serif CJK SC"/>
                <a:ea typeface="Noto Serif CJK SC"/>
              </a:rPr>
              <a:t>回应：同步可以异步做——纪要 5 分钟读完，会议要 60 分钟坐完。</a:t>
            </a:r>
          </a:p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2328"/>
                </a:solidFill>
                <a:latin typeface="Noto Serif CJK SC"/>
                <a:ea typeface="Noto Serif CJK SC"/>
              </a:rPr>
              <a:t>回应：同时在场的价值成立，但不必每周一次；本备忘建议改月度。</a:t>
            </a:r>
          </a:p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2328"/>
                </a:solidFill>
                <a:latin typeface="Noto Serif CJK SC"/>
                <a:ea typeface="Noto Serif CJK SC"/>
              </a:rPr>
              <a:t>回应：新人前 8 周保留全程参会，之后转为按需。</a:t>
            </a:r>
          </a:p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2328"/>
                </a:solidFill>
                <a:latin typeface="Noto Serif CJK SC"/>
                <a:ea typeface="Noto Serif CJK SC"/>
              </a:rPr>
              <a:t>回应：认可。所以本备忘只用人时算成本，不用它算浪费。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erif CJK SC"/>
                <a:ea typeface="Noto Serif CJK SC"/>
              </a:rPr>
              <a:t>内部备忘 · 会议成本复盘 · 第 2 版</a:t>
            </a:r>
          </a:p>
        </p:txBody>
      </p:sp>
      <p:sp>
        <p:nvSpPr>
          <p:cNvPr id="10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erif CJK SC"/>
                <a:ea typeface="Noto Serif CJK SC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8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1F2328"/>
                </a:solidFill>
                <a:latin typeface="Noto Serif CJK SC"/>
                <a:ea typeface="Noto Serif CJK SC"/>
              </a:rPr>
              <a:t>二、建议的三处改动</a:t>
            </a:r>
          </a:p>
        </p:txBody>
      </p:sp>
      <p:sp>
        <p:nvSpPr>
          <p:cNvPr id="3" name="left"/>
          <p:cNvSpPr txBox="1"/>
          <p:nvPr/>
        </p:nvSpPr>
        <p:spPr>
          <a:xfrm>
            <a:off x="685800" y="1700000"/>
            <a:ext cx="4724400" cy="45484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3937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2328"/>
                </a:solidFill>
                <a:latin typeface="Noto Serif CJK SC"/>
                <a:ea typeface="Noto Serif CJK SC"/>
              </a:rPr>
              <a:t>① 全员周会改月度，单次 60 分钟不变。</a:t>
            </a:r>
          </a:p>
          <a:p>
            <a:pPr algn="l" marL="228600" indent="-228600">
              <a:lnSpc>
                <a:spcPts val="3937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2328"/>
                </a:solidFill>
                <a:latin typeface="Noto Serif CJK SC"/>
                <a:ea typeface="Noto Serif CJK SC"/>
              </a:rPr>
              <a:t>② 项目站会由每天改为每周二、四两次。</a:t>
            </a:r>
          </a:p>
          <a:p>
            <a:pPr algn="l" marL="228600" indent="-228600">
              <a:lnSpc>
                <a:spcPts val="3937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2328"/>
                </a:solidFill>
                <a:latin typeface="Noto Serif CJK SC"/>
                <a:ea typeface="Noto Serif CJK SC"/>
              </a:rPr>
              <a:t>③ 需求评审前置一份书面稿，会上只处理有异议的条目。</a:t>
            </a:r>
          </a:p>
        </p:txBody>
      </p:sp>
      <p:sp>
        <p:nvSpPr>
          <p:cNvPr id="4" name="right"/>
          <p:cNvSpPr txBox="1"/>
          <p:nvPr/>
        </p:nvSpPr>
        <p:spPr>
          <a:xfrm>
            <a:off x="5810200" y="1700000"/>
            <a:ext cx="4724400" cy="45484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3937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2328"/>
                </a:solidFill>
                <a:latin typeface="Noto Serif CJK SC"/>
                <a:ea typeface="Noto Serif CJK SC"/>
              </a:rPr>
              <a:t>省下 1,440 人时／年，纪要当天发出。</a:t>
            </a:r>
          </a:p>
          <a:p>
            <a:pPr algn="l" marL="228600" indent="-228600">
              <a:lnSpc>
                <a:spcPts val="3937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2328"/>
                </a:solidFill>
                <a:latin typeface="Noto Serif CJK SC"/>
                <a:ea typeface="Noto Serif CJK SC"/>
              </a:rPr>
              <a:t>省下 846 人时／年，阻塞问题走即时消息。</a:t>
            </a:r>
          </a:p>
          <a:p>
            <a:pPr algn="l" marL="228600" indent="-228600">
              <a:lnSpc>
                <a:spcPts val="3937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1F2328"/>
                </a:solidFill>
                <a:latin typeface="Noto Serif CJK SC"/>
                <a:ea typeface="Noto Serif CJK SC"/>
              </a:rPr>
              <a:t>会议时长预计从 90 分钟压到 40 分钟，省 352 人时／年。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erif CJK SC"/>
                <a:ea typeface="Noto Serif CJK SC"/>
              </a:rPr>
              <a:t>内部备忘 · 会议成本复盘 · 第 2 版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erif CJK SC"/>
                <a:ea typeface="Noto Serif CJK SC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9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1F2328"/>
                </a:solidFill>
                <a:latin typeface="Noto Serif CJK SC"/>
                <a:ea typeface="Noto Serif CJK SC"/>
              </a:rPr>
              <a:t>改动之后，同一张账重算一遍</a:t>
            </a:r>
          </a:p>
        </p:txBody>
      </p:sp>
      <p:sp>
        <p:nvSpPr>
          <p:cNvPr id="3" name="table-header"/>
          <p:cNvSpPr/>
          <p:nvPr/>
        </p:nvSpPr>
        <p:spPr>
          <a:xfrm>
            <a:off x="685800" y="1700000"/>
            <a:ext cx="10820400" cy="420000"/>
          </a:xfrm>
          <a:prstGeom prst="rect">
            <a:avLst/>
          </a:prstGeom>
          <a:solidFill>
            <a:srgbClr val="8C2F2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th-0"/>
          <p:cNvSpPr txBox="1"/>
          <p:nvPr/>
        </p:nvSpPr>
        <p:spPr>
          <a:xfrm>
            <a:off x="685800" y="1700000"/>
            <a:ext cx="2164080" cy="42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Noto Serif CJK SC"/>
                <a:ea typeface="Noto Serif CJK SC"/>
              </a:rPr>
              <a:t>会议</a:t>
            </a:r>
          </a:p>
        </p:txBody>
      </p:sp>
      <p:sp>
        <p:nvSpPr>
          <p:cNvPr id="5" name="th-1"/>
          <p:cNvSpPr txBox="1"/>
          <p:nvPr/>
        </p:nvSpPr>
        <p:spPr>
          <a:xfrm>
            <a:off x="2849880" y="1700000"/>
            <a:ext cx="2164080" cy="42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Noto Serif CJK SC"/>
                <a:ea typeface="Noto Serif CJK SC"/>
              </a:rPr>
              <a:t>改动</a:t>
            </a:r>
          </a:p>
        </p:txBody>
      </p:sp>
      <p:sp>
        <p:nvSpPr>
          <p:cNvPr id="6" name="th-2"/>
          <p:cNvSpPr txBox="1"/>
          <p:nvPr/>
        </p:nvSpPr>
        <p:spPr>
          <a:xfrm>
            <a:off x="5013960" y="1700000"/>
            <a:ext cx="2164080" cy="42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Noto Serif CJK SC"/>
                <a:ea typeface="Noto Serif CJK SC"/>
              </a:rPr>
              <a:t>原年人时</a:t>
            </a:r>
          </a:p>
        </p:txBody>
      </p:sp>
      <p:sp>
        <p:nvSpPr>
          <p:cNvPr id="7" name="th-3"/>
          <p:cNvSpPr txBox="1"/>
          <p:nvPr/>
        </p:nvSpPr>
        <p:spPr>
          <a:xfrm>
            <a:off x="7178040" y="1700000"/>
            <a:ext cx="2164080" cy="42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Noto Serif CJK SC"/>
                <a:ea typeface="Noto Serif CJK SC"/>
              </a:rPr>
              <a:t>新年人时</a:t>
            </a:r>
          </a:p>
        </p:txBody>
      </p:sp>
      <p:sp>
        <p:nvSpPr>
          <p:cNvPr id="8" name="th-4"/>
          <p:cNvSpPr txBox="1"/>
          <p:nvPr/>
        </p:nvSpPr>
        <p:spPr>
          <a:xfrm>
            <a:off x="9342120" y="1700000"/>
            <a:ext cx="2164080" cy="42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Noto Serif CJK SC"/>
                <a:ea typeface="Noto Serif CJK SC"/>
              </a:rPr>
              <a:t>回收</a:t>
            </a:r>
          </a:p>
        </p:txBody>
      </p:sp>
      <p:sp>
        <p:nvSpPr>
          <p:cNvPr id="9" name="td-0-0"/>
          <p:cNvSpPr txBox="1"/>
          <p:nvPr/>
        </p:nvSpPr>
        <p:spPr>
          <a:xfrm>
            <a:off x="685800" y="212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全员周会</a:t>
            </a:r>
          </a:p>
        </p:txBody>
      </p:sp>
      <p:sp>
        <p:nvSpPr>
          <p:cNvPr id="10" name="td-0-1"/>
          <p:cNvSpPr txBox="1"/>
          <p:nvPr/>
        </p:nvSpPr>
        <p:spPr>
          <a:xfrm>
            <a:off x="2849880" y="212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每周改月度</a:t>
            </a:r>
          </a:p>
        </p:txBody>
      </p:sp>
      <p:sp>
        <p:nvSpPr>
          <p:cNvPr id="11" name="td-0-2"/>
          <p:cNvSpPr txBox="1"/>
          <p:nvPr/>
        </p:nvSpPr>
        <p:spPr>
          <a:xfrm>
            <a:off x="5013960" y="212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1,880</a:t>
            </a:r>
          </a:p>
        </p:txBody>
      </p:sp>
      <p:sp>
        <p:nvSpPr>
          <p:cNvPr id="12" name="td-0-3"/>
          <p:cNvSpPr txBox="1"/>
          <p:nvPr/>
        </p:nvSpPr>
        <p:spPr>
          <a:xfrm>
            <a:off x="7178040" y="212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440</a:t>
            </a:r>
          </a:p>
        </p:txBody>
      </p:sp>
      <p:sp>
        <p:nvSpPr>
          <p:cNvPr id="13" name="td-0-4"/>
          <p:cNvSpPr txBox="1"/>
          <p:nvPr/>
        </p:nvSpPr>
        <p:spPr>
          <a:xfrm>
            <a:off x="9342120" y="212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1,440</a:t>
            </a:r>
          </a:p>
        </p:txBody>
      </p:sp>
      <p:sp>
        <p:nvSpPr>
          <p:cNvPr id="14" name="tr-1"/>
          <p:cNvSpPr/>
          <p:nvPr/>
        </p:nvSpPr>
        <p:spPr>
          <a:xfrm>
            <a:off x="685800" y="2500000"/>
            <a:ext cx="10820400" cy="38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5" name="td-1-0"/>
          <p:cNvSpPr txBox="1"/>
          <p:nvPr/>
        </p:nvSpPr>
        <p:spPr>
          <a:xfrm>
            <a:off x="685800" y="250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项目站会</a:t>
            </a:r>
          </a:p>
        </p:txBody>
      </p:sp>
      <p:sp>
        <p:nvSpPr>
          <p:cNvPr id="16" name="td-1-1"/>
          <p:cNvSpPr txBox="1"/>
          <p:nvPr/>
        </p:nvSpPr>
        <p:spPr>
          <a:xfrm>
            <a:off x="2849880" y="250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每天改每周两次</a:t>
            </a:r>
          </a:p>
        </p:txBody>
      </p:sp>
      <p:sp>
        <p:nvSpPr>
          <p:cNvPr id="17" name="td-1-2"/>
          <p:cNvSpPr txBox="1"/>
          <p:nvPr/>
        </p:nvSpPr>
        <p:spPr>
          <a:xfrm>
            <a:off x="5013960" y="250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1,410</a:t>
            </a:r>
          </a:p>
        </p:txBody>
      </p:sp>
      <p:sp>
        <p:nvSpPr>
          <p:cNvPr id="18" name="td-1-3"/>
          <p:cNvSpPr txBox="1"/>
          <p:nvPr/>
        </p:nvSpPr>
        <p:spPr>
          <a:xfrm>
            <a:off x="7178040" y="250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564</a:t>
            </a:r>
          </a:p>
        </p:txBody>
      </p:sp>
      <p:sp>
        <p:nvSpPr>
          <p:cNvPr id="19" name="td-1-4"/>
          <p:cNvSpPr txBox="1"/>
          <p:nvPr/>
        </p:nvSpPr>
        <p:spPr>
          <a:xfrm>
            <a:off x="9342120" y="250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846</a:t>
            </a:r>
          </a:p>
        </p:txBody>
      </p:sp>
      <p:sp>
        <p:nvSpPr>
          <p:cNvPr id="20" name="td-2-0"/>
          <p:cNvSpPr txBox="1"/>
          <p:nvPr/>
        </p:nvSpPr>
        <p:spPr>
          <a:xfrm>
            <a:off x="685800" y="288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需求评审</a:t>
            </a:r>
          </a:p>
        </p:txBody>
      </p:sp>
      <p:sp>
        <p:nvSpPr>
          <p:cNvPr id="21" name="td-2-1"/>
          <p:cNvSpPr txBox="1"/>
          <p:nvPr/>
        </p:nvSpPr>
        <p:spPr>
          <a:xfrm>
            <a:off x="2849880" y="288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书面前置，会上只议异议</a:t>
            </a:r>
          </a:p>
        </p:txBody>
      </p:sp>
      <p:sp>
        <p:nvSpPr>
          <p:cNvPr id="22" name="td-2-2"/>
          <p:cNvSpPr txBox="1"/>
          <p:nvPr/>
        </p:nvSpPr>
        <p:spPr>
          <a:xfrm>
            <a:off x="5013960" y="288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634</a:t>
            </a:r>
          </a:p>
        </p:txBody>
      </p:sp>
      <p:sp>
        <p:nvSpPr>
          <p:cNvPr id="23" name="td-2-3"/>
          <p:cNvSpPr txBox="1"/>
          <p:nvPr/>
        </p:nvSpPr>
        <p:spPr>
          <a:xfrm>
            <a:off x="7178040" y="288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282</a:t>
            </a:r>
          </a:p>
        </p:txBody>
      </p:sp>
      <p:sp>
        <p:nvSpPr>
          <p:cNvPr id="24" name="td-2-4"/>
          <p:cNvSpPr txBox="1"/>
          <p:nvPr/>
        </p:nvSpPr>
        <p:spPr>
          <a:xfrm>
            <a:off x="9342120" y="288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352</a:t>
            </a:r>
          </a:p>
        </p:txBody>
      </p:sp>
      <p:sp>
        <p:nvSpPr>
          <p:cNvPr id="25" name="tr-3"/>
          <p:cNvSpPr/>
          <p:nvPr/>
        </p:nvSpPr>
        <p:spPr>
          <a:xfrm>
            <a:off x="685800" y="3260000"/>
            <a:ext cx="10820400" cy="38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6" name="td-3-0"/>
          <p:cNvSpPr txBox="1"/>
          <p:nvPr/>
        </p:nvSpPr>
        <p:spPr>
          <a:xfrm>
            <a:off x="685800" y="326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一对一</a:t>
            </a:r>
          </a:p>
        </p:txBody>
      </p:sp>
      <p:sp>
        <p:nvSpPr>
          <p:cNvPr id="27" name="td-3-1"/>
          <p:cNvSpPr txBox="1"/>
          <p:nvPr/>
        </p:nvSpPr>
        <p:spPr>
          <a:xfrm>
            <a:off x="2849880" y="326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不变</a:t>
            </a:r>
          </a:p>
        </p:txBody>
      </p:sp>
      <p:sp>
        <p:nvSpPr>
          <p:cNvPr id="28" name="td-3-2"/>
          <p:cNvSpPr txBox="1"/>
          <p:nvPr/>
        </p:nvSpPr>
        <p:spPr>
          <a:xfrm>
            <a:off x="5013960" y="326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940</a:t>
            </a:r>
          </a:p>
        </p:txBody>
      </p:sp>
      <p:sp>
        <p:nvSpPr>
          <p:cNvPr id="29" name="td-3-3"/>
          <p:cNvSpPr txBox="1"/>
          <p:nvPr/>
        </p:nvSpPr>
        <p:spPr>
          <a:xfrm>
            <a:off x="7178040" y="326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940</a:t>
            </a:r>
          </a:p>
        </p:txBody>
      </p:sp>
      <p:sp>
        <p:nvSpPr>
          <p:cNvPr id="30" name="td-3-4"/>
          <p:cNvSpPr txBox="1"/>
          <p:nvPr/>
        </p:nvSpPr>
        <p:spPr>
          <a:xfrm>
            <a:off x="9342120" y="326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0</a:t>
            </a:r>
          </a:p>
        </p:txBody>
      </p:sp>
      <p:sp>
        <p:nvSpPr>
          <p:cNvPr id="31" name="td-4-0"/>
          <p:cNvSpPr txBox="1"/>
          <p:nvPr/>
        </p:nvSpPr>
        <p:spPr>
          <a:xfrm>
            <a:off x="685800" y="364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双周复盘</a:t>
            </a:r>
          </a:p>
        </p:txBody>
      </p:sp>
      <p:sp>
        <p:nvSpPr>
          <p:cNvPr id="32" name="td-4-1"/>
          <p:cNvSpPr txBox="1"/>
          <p:nvPr/>
        </p:nvSpPr>
        <p:spPr>
          <a:xfrm>
            <a:off x="2849880" y="364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不变</a:t>
            </a:r>
          </a:p>
        </p:txBody>
      </p:sp>
      <p:sp>
        <p:nvSpPr>
          <p:cNvPr id="33" name="td-4-2"/>
          <p:cNvSpPr txBox="1"/>
          <p:nvPr/>
        </p:nvSpPr>
        <p:spPr>
          <a:xfrm>
            <a:off x="5013960" y="364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282</a:t>
            </a:r>
          </a:p>
        </p:txBody>
      </p:sp>
      <p:sp>
        <p:nvSpPr>
          <p:cNvPr id="34" name="td-4-3"/>
          <p:cNvSpPr txBox="1"/>
          <p:nvPr/>
        </p:nvSpPr>
        <p:spPr>
          <a:xfrm>
            <a:off x="7178040" y="364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282</a:t>
            </a:r>
          </a:p>
        </p:txBody>
      </p:sp>
      <p:sp>
        <p:nvSpPr>
          <p:cNvPr id="35" name="td-4-4"/>
          <p:cNvSpPr txBox="1"/>
          <p:nvPr/>
        </p:nvSpPr>
        <p:spPr>
          <a:xfrm>
            <a:off x="9342120" y="364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0</a:t>
            </a:r>
          </a:p>
        </p:txBody>
      </p:sp>
      <p:sp>
        <p:nvSpPr>
          <p:cNvPr id="36" name="tr-5"/>
          <p:cNvSpPr/>
          <p:nvPr/>
        </p:nvSpPr>
        <p:spPr>
          <a:xfrm>
            <a:off x="685800" y="4020000"/>
            <a:ext cx="10820400" cy="38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7" name="td-5-0"/>
          <p:cNvSpPr txBox="1"/>
          <p:nvPr/>
        </p:nvSpPr>
        <p:spPr>
          <a:xfrm>
            <a:off x="685800" y="402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合计</a:t>
            </a:r>
          </a:p>
        </p:txBody>
      </p:sp>
      <p:sp>
        <p:nvSpPr>
          <p:cNvPr id="38" name="td-5-1"/>
          <p:cNvSpPr txBox="1"/>
          <p:nvPr/>
        </p:nvSpPr>
        <p:spPr>
          <a:xfrm>
            <a:off x="2849880" y="402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—</a:t>
            </a:r>
          </a:p>
        </p:txBody>
      </p:sp>
      <p:sp>
        <p:nvSpPr>
          <p:cNvPr id="39" name="td-5-2"/>
          <p:cNvSpPr txBox="1"/>
          <p:nvPr/>
        </p:nvSpPr>
        <p:spPr>
          <a:xfrm>
            <a:off x="5013960" y="402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5,146</a:t>
            </a:r>
          </a:p>
        </p:txBody>
      </p:sp>
      <p:sp>
        <p:nvSpPr>
          <p:cNvPr id="40" name="td-5-3"/>
          <p:cNvSpPr txBox="1"/>
          <p:nvPr/>
        </p:nvSpPr>
        <p:spPr>
          <a:xfrm>
            <a:off x="7178040" y="402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2,508</a:t>
            </a:r>
          </a:p>
        </p:txBody>
      </p:sp>
      <p:sp>
        <p:nvSpPr>
          <p:cNvPr id="41" name="td-5-4"/>
          <p:cNvSpPr txBox="1"/>
          <p:nvPr/>
        </p:nvSpPr>
        <p:spPr>
          <a:xfrm>
            <a:off x="9342120" y="4020000"/>
            <a:ext cx="2164080" cy="38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300" b="0" dirty="0">
                <a:solidFill>
                  <a:srgbClr val="1F2328"/>
                </a:solidFill>
                <a:latin typeface="Noto Serif CJK SC"/>
                <a:ea typeface="Noto Serif CJK SC"/>
              </a:rPr>
              <a:t>2,638</a:t>
            </a:r>
          </a:p>
        </p:txBody>
      </p:sp>
      <p:sp>
        <p:nvSpPr>
          <p:cNvPr id="42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erif CJK SC"/>
                <a:ea typeface="Noto Serif CJK SC"/>
              </a:rPr>
              <a:t>内部备忘 · 会议成本复盘 · 第 2 版</a:t>
            </a:r>
          </a:p>
        </p:txBody>
      </p:sp>
      <p:sp>
        <p:nvSpPr>
          <p:cNvPr id="43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erif CJK SC"/>
                <a:ea typeface="Noto Serif CJK SC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dot"/>
          <p:cNvSpPr/>
          <p:nvPr/>
        </p:nvSpPr>
        <p:spPr>
          <a:xfrm>
            <a:off x="685800" y="620000"/>
            <a:ext cx="200000" cy="70000"/>
          </a:xfrm>
          <a:prstGeom prst="rect">
            <a:avLst/>
          </a:prstGeom>
          <a:solidFill>
            <a:srgbClr val="8C2F2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itle-10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1F2328"/>
                </a:solidFill>
                <a:latin typeface="Noto Serif CJK SC"/>
                <a:ea typeface="Noto Serif CJK SC"/>
              </a:rPr>
              <a:t>结论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700000"/>
            <a:ext cx="10820400" cy="45484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2328"/>
                </a:solidFill>
                <a:latin typeface="Noto Serif CJK SC"/>
                <a:ea typeface="Noto Serif CJK SC"/>
              </a:rPr>
              <a:t>三处改动合计回收 2,638 人时／年，占现有会议总量的 51%。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2328"/>
                </a:solidFill>
                <a:latin typeface="Noto Serif CJK SC"/>
                <a:ea typeface="Noto Serif CJK SC"/>
              </a:rPr>
              <a:t>本备忘不建议取消任何一类会议，只改频次与形式。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1F2328"/>
                </a:solidFill>
                <a:latin typeface="Noto Serif CJK SC"/>
                <a:ea typeface="Noto Serif CJK SC"/>
              </a:rPr>
              <a:t>9 月 1 日起试行一个季度，12 月按同一口径复算一次，数据不达标就改回去。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erif CJK SC"/>
                <a:ea typeface="Noto Serif CJK SC"/>
              </a:rPr>
              <a:t>内部备忘 · 会议成本复盘 · 第 2 版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erif CJK SC"/>
                <a:ea typeface="Noto Serif CJK SC"/>
              </a:rPr>
              <a:t>10 / 10</a:t>
            </a:r>
          </a:p>
        </p:txBody>
      </p:sp>
      <p:sp>
        <p:nvSpPr>
          <p:cNvPr id="7" name="oceanleo-credits"/>
          <p:cNvSpPr txBox="1"/>
          <p:nvPr/>
        </p:nvSpPr>
        <p:spPr>
          <a:xfrm>
            <a:off x="685800" y="6060800"/>
            <a:ext cx="108204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3A4149"/>
                </a:solidFill>
                <a:latin typeface="Noto Serif CJK SC"/>
                <a:ea typeface="Noto Serif CJK SC"/>
              </a:rPr>
              <a:t>OceanLeo 第一方原创，数据为示例数据，不指向任何真实组织 (CC0-1.0)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eanLeo Deck">
  <a:themeElements>
    <a:clrScheme name="OceanLeo">
      <a:dk1>
        <a:srgbClr val="1F2328"/>
      </a:dk1>
      <a:lt1>
        <a:srgbClr val="FFFFFF"/>
      </a:lt1>
      <a:dk2>
        <a:srgbClr val="3A4149"/>
      </a:dk2>
      <a:lt2>
        <a:srgbClr val="F2F5F9"/>
      </a:lt2>
      <a:accent1>
        <a:srgbClr val="8C2F2F"/>
      </a:accent1>
      <a:accent2>
        <a:srgbClr val="5B6270"/>
      </a:accent2>
      <a:accent3>
        <a:srgbClr val="8A919C"/>
      </a:accent3>
      <a:accent4>
        <a:srgbClr val="B9BEC6"/>
      </a:accent4>
      <a:accent5>
        <a:srgbClr val="3A4149"/>
      </a:accent5>
      <a:accent6>
        <a:srgbClr val="6B7280"/>
      </a:accent6>
      <a:hlink>
        <a:srgbClr val="0969DA"/>
      </a:hlink>
      <a:folHlink>
        <a:srgbClr val="8250DF"/>
      </a:folHlink>
    </a:clrScheme>
    <a:fontScheme name="OceanLeo">
      <a:majorFont>
        <a:latin typeface="Noto Serif CJK SC"/>
        <a:ea typeface="Noto Serif CJK SC"/>
        <a:cs typeface=""/>
      </a:majorFont>
      <a:minorFont>
        <a:latin typeface="Noto Serif CJK SC"/>
        <a:ea typeface="Noto Serif CJK SC"/>
        <a:cs typeface=""/>
      </a:minorFont>
    </a:fontScheme>
    <a:fmtScheme name="OceanLeo">
      <a:fillStyleLst>
        <a:solidFill>
          <a:schemeClr val="phClr">
            <a:lumMod val="100000"/>
          </a:schemeClr>
        </a:solidFill>
        <a:solidFill>
          <a:schemeClr val="phClr">
            <a:lumMod val="90000"/>
          </a:schemeClr>
        </a:solidFill>
        <a:solidFill>
          <a:schemeClr val="phClr">
            <a:lumMod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>
            <a:lumMod val="100000"/>
          </a:schemeClr>
        </a:solidFill>
        <a:solidFill>
          <a:schemeClr val="phClr">
            <a:lumMod val="95000"/>
          </a:schemeClr>
        </a:solidFill>
        <a:solidFill>
          <a:schemeClr val="phClr">
            <a:lumMod val="85000"/>
          </a:schemeClr>
        </a:soli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会议成本备忘：一场全员周会，一年 1,880 小时</dc:title>
  <dc:subject>会议成本备忘：一场全员周会，一年 1,880 小时</dc:subject>
  <dc:creator>OceanLeo</dc:creator>
  <cp:lastModifiedBy>OceanLeo</cp:lastModifiedBy>
  <cp:revision>1</cp:revision>
  <dcterms:created xsi:type="dcterms:W3CDTF">2026-07-29T00:00:00Z</dcterms:created>
  <dcterms:modified xsi:type="dcterms:W3CDTF">2026-07-29T00:00:00Z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ceanLeoCredits">
    <vt:lpwstr>OceanLeo 第一方原创，数据为示例数据，不指向任何真实组织 (CC0-1.0)</vt:lpwstr>
  </property>
  <property fmtid="{D5CDD505-2E9C-101B-9397-08002B2CF9AE}" pid="3" name="usage_scope">
    <vt:lpwstr>commercial-ok</vt:lpwstr>
  </property>
  <property fmtid="{D5CDD505-2E9C-101B-9397-08002B2CF9AE}" pid="4" name="license_family">
    <vt:lpwstr>CC0-1.0</vt:lpwstr>
  </property>
  <property fmtid="{D5CDD505-2E9C-101B-9397-08002B2CF9AE}" pid="5" name="supply_tier">
    <vt:lpwstr>first-party</vt:lpwstr>
  </property>
</Properties>
</file>