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theme" Target="theme/theme1.xml"/><Relationship Id="rId12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开场只讲一句：今年我们不发盲盒，发三件能用完的东西。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这一页只要一个画面和一句话。不要念数字，数字在下一页。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停两秒再翻页。这句话是后面所有决定的依据。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结论：把款式砍到三件，把价格钉死，把包装成本挪进用料。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重点是「内页单卖」——本子不是一次性的。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联名不是借个名字，是把稿费和署名都写清楚。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这是承诺，不是促销。念完就翻页。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11 月 1 日那场复盘是对外的，包括难看的数字。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留一分钟提问，别把最后一页念成广告。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title"/>
          <p:cNvSpPr>
            <a:spLocks noGrp="1"/>
          </p:cNvSpPr>
          <p:nvPr>
            <p:ph type="title"/>
          </p:nvPr>
        </p:nvSpPr>
        <p:spPr>
          <a:xfrm>
            <a:off x="685800" y="1500000"/>
            <a:ext cx="10820400" cy="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itle-accentBar"/>
          <p:cNvSpPr>
            <a:spLocks noGrp="1"/>
          </p:cNvSpPr>
          <p:nvPr>
            <p:ph type="body" idx="1"/>
          </p:nvPr>
        </p:nvSpPr>
        <p:spPr>
          <a:xfrm>
            <a:off x="685800" y="2400000"/>
            <a:ext cx="10820400" cy="9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itle-subtitle"/>
          <p:cNvSpPr>
            <a:spLocks noGrp="1"/>
          </p:cNvSpPr>
          <p:nvPr>
            <p:ph type="body" idx="2"/>
          </p:nvPr>
        </p:nvSpPr>
        <p:spPr>
          <a:xfrm>
            <a:off x="685800" y="2700000"/>
            <a:ext cx="10820400" cy="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accentBar"/>
          <p:cNvSpPr>
            <a:spLocks noGrp="1"/>
          </p:cNvSpPr>
          <p:nvPr>
            <p:ph type="title"/>
          </p:nvPr>
        </p:nvSpPr>
        <p:spPr>
          <a:xfrm>
            <a:off x="0" y="0"/>
            <a:ext cx="460000" cy="6858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section-title"/>
          <p:cNvSpPr>
            <a:spLocks noGrp="1"/>
          </p:cNvSpPr>
          <p:nvPr>
            <p:ph type="body" idx="1"/>
          </p:nvPr>
        </p:nvSpPr>
        <p:spPr>
          <a:xfrm>
            <a:off x="1000000" y="2600000"/>
            <a:ext cx="10506200" cy="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ection-subtitle"/>
          <p:cNvSpPr>
            <a:spLocks noGrp="1"/>
          </p:cNvSpPr>
          <p:nvPr>
            <p:ph type="body" idx="2"/>
          </p:nvPr>
        </p:nvSpPr>
        <p:spPr>
          <a:xfrm>
            <a:off x="1000000" y="3600000"/>
            <a:ext cx="10506200" cy="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llets-accentDot"/>
          <p:cNvSpPr>
            <a:spLocks noGrp="1"/>
          </p:cNvSpPr>
          <p:nvPr>
            <p:ph type="title"/>
          </p:nvPr>
        </p:nvSpPr>
        <p:spPr>
          <a:xfrm>
            <a:off x="685800" y="620000"/>
            <a:ext cx="200000" cy="7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bullets-title"/>
          <p:cNvSpPr>
            <a:spLocks noGrp="1"/>
          </p:cNvSpPr>
          <p:nvPr>
            <p:ph type="body" idx="1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bullets-bullets"/>
          <p:cNvSpPr>
            <a:spLocks noGrp="1"/>
          </p:cNvSpPr>
          <p:nvPr>
            <p:ph type="body" idx="2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wo-column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wo-column-lef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4724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wo-column-right"/>
          <p:cNvSpPr>
            <a:spLocks noGrp="1"/>
          </p:cNvSpPr>
          <p:nvPr>
            <p:ph type="body" idx="2"/>
          </p:nvPr>
        </p:nvSpPr>
        <p:spPr>
          <a:xfrm>
            <a:off x="5810200" y="1700000"/>
            <a:ext cx="4724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data-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-table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a-table-table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full-imag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full-scrim"/>
          <p:cNvSpPr>
            <a:spLocks noGrp="1"/>
          </p:cNvSpPr>
          <p:nvPr>
            <p:ph type="body" idx="1"/>
          </p:nvPr>
        </p:nvSpPr>
        <p:spPr>
          <a:xfrm>
            <a:off x="0" y="5200000"/>
            <a:ext cx="12192000" cy="10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full-title"/>
          <p:cNvSpPr>
            <a:spLocks noGrp="1"/>
          </p:cNvSpPr>
          <p:nvPr>
            <p:ph type="body" idx="2"/>
          </p:nvPr>
        </p:nvSpPr>
        <p:spPr>
          <a:xfrm>
            <a:off x="685800" y="5200000"/>
            <a:ext cx="10820400" cy="10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left-image"/>
          <p:cNvSpPr>
            <a:spLocks noGrp="1"/>
          </p:cNvSpPr>
          <p:nvPr>
            <p:ph type="title"/>
          </p:nvPr>
        </p:nvSpPr>
        <p:spPr>
          <a:xfrm>
            <a:off x="685800" y="1700000"/>
            <a:ext cx="39624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left-title"/>
          <p:cNvSpPr>
            <a:spLocks noGrp="1"/>
          </p:cNvSpPr>
          <p:nvPr>
            <p:ph type="body" idx="1"/>
          </p:nvPr>
        </p:nvSpPr>
        <p:spPr>
          <a:xfrm>
            <a:off x="5562600" y="760000"/>
            <a:ext cx="59436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left-bullets"/>
          <p:cNvSpPr>
            <a:spLocks noGrp="1"/>
          </p:cNvSpPr>
          <p:nvPr>
            <p:ph type="body" idx="2"/>
          </p:nvPr>
        </p:nvSpPr>
        <p:spPr>
          <a:xfrm>
            <a:off x="5562600" y="1700000"/>
            <a:ext cx="59436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right-image"/>
          <p:cNvSpPr>
            <a:spLocks noGrp="1"/>
          </p:cNvSpPr>
          <p:nvPr>
            <p:ph type="title"/>
          </p:nvPr>
        </p:nvSpPr>
        <p:spPr>
          <a:xfrm>
            <a:off x="7543800" y="1700000"/>
            <a:ext cx="39624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right-title"/>
          <p:cNvSpPr>
            <a:spLocks noGrp="1"/>
          </p:cNvSpPr>
          <p:nvPr>
            <p:ph type="body" idx="1"/>
          </p:nvPr>
        </p:nvSpPr>
        <p:spPr>
          <a:xfrm>
            <a:off x="685800" y="760000"/>
            <a:ext cx="59436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right-bullets"/>
          <p:cNvSpPr>
            <a:spLocks noGrp="1"/>
          </p:cNvSpPr>
          <p:nvPr>
            <p:ph type="body" idx="2"/>
          </p:nvPr>
        </p:nvSpPr>
        <p:spPr>
          <a:xfrm>
            <a:off x="685800" y="1700000"/>
            <a:ext cx="59436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grid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grid-cell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3505200" cy="20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chart-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-focus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hart-focus-char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hart-focus-conclusion"/>
          <p:cNvSpPr>
            <a:spLocks noGrp="1"/>
          </p:cNvSpPr>
          <p:nvPr>
            <p:ph type="body" idx="2"/>
          </p:nvPr>
        </p:nvSpPr>
        <p:spPr>
          <a:xfrm>
            <a:off x="685800" y="5600000"/>
            <a:ext cx="10820400" cy="48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art-with-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-with-notes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hart-with-notes-char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59436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hart-with-notes-bullets"/>
          <p:cNvSpPr>
            <a:spLocks noGrp="1"/>
          </p:cNvSpPr>
          <p:nvPr>
            <p:ph type="body" idx="2"/>
          </p:nvPr>
        </p:nvSpPr>
        <p:spPr>
          <a:xfrm>
            <a:off x="6934200" y="1700000"/>
            <a:ext cx="39624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kpi-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pi-row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kpi-row-card"/>
          <p:cNvSpPr>
            <a:spLocks noGrp="1"/>
          </p:cNvSpPr>
          <p:nvPr>
            <p:ph type="body" idx="1"/>
          </p:nvPr>
        </p:nvSpPr>
        <p:spPr>
          <a:xfrm>
            <a:off x="685800" y="2000000"/>
            <a:ext cx="4724400" cy="1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arison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omparison-leftHeader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4724400" cy="4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omparison-rightHeader"/>
          <p:cNvSpPr>
            <a:spLocks noGrp="1"/>
          </p:cNvSpPr>
          <p:nvPr>
            <p:ph type="body" idx="2"/>
          </p:nvPr>
        </p:nvSpPr>
        <p:spPr>
          <a:xfrm>
            <a:off x="5810200" y="1700000"/>
            <a:ext cx="4724400" cy="4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line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imeline-axis"/>
          <p:cNvSpPr>
            <a:spLocks noGrp="1"/>
          </p:cNvSpPr>
          <p:nvPr>
            <p:ph type="body" idx="1"/>
          </p:nvPr>
        </p:nvSpPr>
        <p:spPr>
          <a:xfrm>
            <a:off x="685800" y="3400000"/>
            <a:ext cx="10820400" cy="4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imeline-node"/>
          <p:cNvSpPr>
            <a:spLocks noGrp="1"/>
          </p:cNvSpPr>
          <p:nvPr>
            <p:ph type="body" idx="2"/>
          </p:nvPr>
        </p:nvSpPr>
        <p:spPr>
          <a:xfrm>
            <a:off x="685800" y="3310000"/>
            <a:ext cx="180000" cy="18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-mark"/>
          <p:cNvSpPr>
            <a:spLocks noGrp="1"/>
          </p:cNvSpPr>
          <p:nvPr>
            <p:ph type="title"/>
          </p:nvPr>
        </p:nvSpPr>
        <p:spPr>
          <a:xfrm>
            <a:off x="1609800" y="2200000"/>
            <a:ext cx="300000" cy="3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quote-quote"/>
          <p:cNvSpPr>
            <a:spLocks noGrp="1"/>
          </p:cNvSpPr>
          <p:nvPr>
            <p:ph type="body" idx="1"/>
          </p:nvPr>
        </p:nvSpPr>
        <p:spPr>
          <a:xfrm>
            <a:off x="2209800" y="2200000"/>
            <a:ext cx="7163400" cy="1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quote-attribution"/>
          <p:cNvSpPr>
            <a:spLocks noGrp="1"/>
          </p:cNvSpPr>
          <p:nvPr>
            <p:ph type="body" idx="2"/>
          </p:nvPr>
        </p:nvSpPr>
        <p:spPr>
          <a:xfrm>
            <a:off x="2209800" y="4000000"/>
            <a:ext cx="7163400" cy="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mixed-tripty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ed-triptych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mixed-triptych-image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3505200" cy="2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mixed-triptych-chart"/>
          <p:cNvSpPr>
            <a:spLocks noGrp="1"/>
          </p:cNvSpPr>
          <p:nvPr>
            <p:ph type="body" idx="2"/>
          </p:nvPr>
        </p:nvSpPr>
        <p:spPr>
          <a:xfrm>
            <a:off x="4343400" y="1700000"/>
            <a:ext cx="3505200" cy="2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type="sldNum" idx="12"/>
          </p:nvPr>
        </p:nvSpPr>
        <p:spPr>
          <a:xfrm>
            <a:off x="6096000" y="6400800"/>
            <a:ext cx="5410200" cy="3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00" r:id="rId1"/>
    <p:sldLayoutId id="2147483601" r:id="rId2"/>
    <p:sldLayoutId id="2147483602" r:id="rId3"/>
    <p:sldLayoutId id="2147483603" r:id="rId4"/>
    <p:sldLayoutId id="2147483604" r:id="rId5"/>
    <p:sldLayoutId id="2147483605" r:id="rId6"/>
    <p:sldLayoutId id="2147483606" r:id="rId7"/>
    <p:sldLayoutId id="2147483607" r:id="rId8"/>
    <p:sldLayoutId id="2147483608" r:id="rId9"/>
    <p:sldLayoutId id="2147483609" r:id="rId10"/>
    <p:sldLayoutId id="2147483610" r:id="rId11"/>
    <p:sldLayoutId id="2147483611" r:id="rId12"/>
    <p:sldLayoutId id="2147483612" r:id="rId13"/>
    <p:sldLayoutId id="2147483613" r:id="rId14"/>
    <p:sldLayoutId id="2147483614" r:id="rId15"/>
    <p:sldLayoutId id="2147483615" r:id="rId16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撞色几何风格的门店与发布现场，人群与展台"/>
          <p:cNvPicPr>
            <a:picLocks noChangeAspect="1"/>
          </p:cNvPicPr>
          <p:nvPr/>
        </p:nvPicPr>
        <p:blipFill>
          <a:blip r:embed="rId2"/>
          <a:srcRect t="10476" b="1047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crim-band-1"/>
          <p:cNvSpPr/>
          <p:nvPr/>
        </p:nvSpPr>
        <p:spPr>
          <a:xfrm>
            <a:off x="0" y="5200000"/>
            <a:ext cx="4064000" cy="1000000"/>
          </a:xfrm>
          <a:prstGeom prst="rect">
            <a:avLst/>
          </a:prstGeom>
          <a:solidFill>
            <a:srgbClr val="28324E">
              <a:alpha val="8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scrim-band-2"/>
          <p:cNvSpPr/>
          <p:nvPr/>
        </p:nvSpPr>
        <p:spPr>
          <a:xfrm>
            <a:off x="4064000" y="5200000"/>
            <a:ext cx="4064000" cy="1000000"/>
          </a:xfrm>
          <a:prstGeom prst="rect">
            <a:avLst/>
          </a:prstGeom>
          <a:solidFill>
            <a:srgbClr val="28324E">
              <a:alpha val="76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crim-band-3"/>
          <p:cNvSpPr/>
          <p:nvPr/>
        </p:nvSpPr>
        <p:spPr>
          <a:xfrm>
            <a:off x="8128000" y="5200000"/>
            <a:ext cx="4064000" cy="1000000"/>
          </a:xfrm>
          <a:prstGeom prst="rect">
            <a:avLst/>
          </a:prstGeom>
          <a:solidFill>
            <a:srgbClr val="28324E">
              <a:alpha val="64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title"/>
          <p:cNvSpPr txBox="1"/>
          <p:nvPr/>
        </p:nvSpPr>
        <p:spPr>
          <a:xfrm>
            <a:off x="685800" y="5200000"/>
            <a:ext cx="10820400" cy="10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4000" b="1" dirty="0">
                <a:solidFill>
                  <a:srgbClr val="FFF1F2"/>
                </a:solidFill>
                <a:latin typeface="Smiley Sans"/>
                <a:ea typeface="Smiley Sans"/>
              </a:rPr>
              <a:t>不做盲盒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壳与芯 · 2026 秋季首发 · 9 月 12 日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撞色几何的招新市集场景：摊位、展板与三三两两的学生"/>
          <p:cNvPicPr>
            <a:picLocks noChangeAspect="1"/>
          </p:cNvPicPr>
          <p:nvPr/>
        </p:nvPicPr>
        <p:blipFill>
          <a:blip r:embed="rId2"/>
          <a:srcRect t="6680" b="668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crim-band-1"/>
          <p:cNvSpPr/>
          <p:nvPr/>
        </p:nvSpPr>
        <p:spPr>
          <a:xfrm>
            <a:off x="0" y="5200000"/>
            <a:ext cx="4064000" cy="1000000"/>
          </a:xfrm>
          <a:prstGeom prst="rect">
            <a:avLst/>
          </a:prstGeom>
          <a:solidFill>
            <a:srgbClr val="28324E">
              <a:alpha val="8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scrim-band-2"/>
          <p:cNvSpPr/>
          <p:nvPr/>
        </p:nvSpPr>
        <p:spPr>
          <a:xfrm>
            <a:off x="4064000" y="5200000"/>
            <a:ext cx="4064000" cy="1000000"/>
          </a:xfrm>
          <a:prstGeom prst="rect">
            <a:avLst/>
          </a:prstGeom>
          <a:solidFill>
            <a:srgbClr val="28324E">
              <a:alpha val="76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crim-band-3"/>
          <p:cNvSpPr/>
          <p:nvPr/>
        </p:nvSpPr>
        <p:spPr>
          <a:xfrm>
            <a:off x="8128000" y="5200000"/>
            <a:ext cx="4064000" cy="1000000"/>
          </a:xfrm>
          <a:prstGeom prst="rect">
            <a:avLst/>
          </a:prstGeom>
          <a:solidFill>
            <a:srgbClr val="28324E">
              <a:alpha val="64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title"/>
          <p:cNvSpPr txBox="1"/>
          <p:nvPr/>
        </p:nvSpPr>
        <p:spPr>
          <a:xfrm>
            <a:off x="685800" y="5200000"/>
            <a:ext cx="10820400" cy="10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4000" b="1" dirty="0">
                <a:solidFill>
                  <a:srgbClr val="FFF1F2"/>
                </a:solidFill>
                <a:latin typeface="Smiley Sans"/>
                <a:ea typeface="Smiley Sans"/>
              </a:rPr>
              <a:t>去年秋天，我们摆了 23 场摊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壳与芯 · 2026 秋季首发 · 9 月 12 日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-mark"/>
          <p:cNvSpPr/>
          <p:nvPr/>
        </p:nvSpPr>
        <p:spPr>
          <a:xfrm>
            <a:off x="1609800" y="2200000"/>
            <a:ext cx="300000" cy="300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quote"/>
          <p:cNvSpPr txBox="1"/>
          <p:nvPr/>
        </p:nvSpPr>
        <p:spPr>
          <a:xfrm>
            <a:off x="2209800" y="2200000"/>
            <a:ext cx="7163400" cy="14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4000" b="0" dirty="0">
                <a:solidFill>
                  <a:srgbClr val="1C0A0F"/>
                </a:solidFill>
                <a:latin typeface="Smiley Sans"/>
                <a:ea typeface="Smiley Sans"/>
              </a:rPr>
              <a:t>学生不缺好看的东西，缺的是买得起、用得完的那一件。</a:t>
            </a:r>
          </a:p>
        </p:txBody>
      </p:sp>
      <p:sp>
        <p:nvSpPr>
          <p:cNvPr id="4" name="quote-attribution"/>
          <p:cNvSpPr txBox="1"/>
          <p:nvPr/>
        </p:nvSpPr>
        <p:spPr>
          <a:xfrm>
            <a:off x="2209800" y="4000000"/>
            <a:ext cx="7163400" cy="4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800" b="0" dirty="0">
                <a:solidFill>
                  <a:srgbClr val="6B5158"/>
                </a:solidFill>
                <a:latin typeface="Smiley Sans"/>
                <a:ea typeface="Smiley Sans"/>
              </a:rPr>
              <a:t>1,847 份有效问卷的高频表述归纳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壳与芯 · 2026 秋季首发 · 9 月 12 日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C0A0F"/>
                </a:solidFill>
                <a:latin typeface="Smiley Sans"/>
                <a:ea typeface="Smiley Sans"/>
              </a:rPr>
              <a:t>四个数字，一条结论</a:t>
            </a:r>
          </a:p>
        </p:txBody>
      </p:sp>
      <p:sp>
        <p:nvSpPr>
          <p:cNvPr id="3" name="kpi-card-0"/>
          <p:cNvSpPr/>
          <p:nvPr/>
        </p:nvSpPr>
        <p:spPr>
          <a:xfrm>
            <a:off x="685800" y="2000000"/>
            <a:ext cx="2438400" cy="1900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kpi-value-0"/>
          <p:cNvSpPr txBox="1"/>
          <p:nvPr/>
        </p:nvSpPr>
        <p:spPr>
          <a:xfrm>
            <a:off x="685800" y="2000000"/>
            <a:ext cx="2438400" cy="1178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5400" b="1" dirty="0">
                <a:solidFill>
                  <a:srgbClr val="E11D48"/>
                </a:solidFill>
                <a:latin typeface="Smiley Sans"/>
                <a:ea typeface="Smiley Sans"/>
              </a:rPr>
              <a:t>23场</a:t>
            </a:r>
          </a:p>
        </p:txBody>
      </p:sp>
      <p:sp>
        <p:nvSpPr>
          <p:cNvPr id="5" name="kpi-label-0"/>
          <p:cNvSpPr txBox="1"/>
          <p:nvPr/>
        </p:nvSpPr>
        <p:spPr>
          <a:xfrm>
            <a:off x="685800" y="3178000"/>
            <a:ext cx="2438400" cy="722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6B5158"/>
                </a:solidFill>
                <a:latin typeface="Smiley Sans"/>
                <a:ea typeface="Smiley Sans"/>
              </a:rPr>
              <a:t>摆摊调研 覆盖 11 所学校</a:t>
            </a:r>
          </a:p>
        </p:txBody>
      </p:sp>
      <p:sp>
        <p:nvSpPr>
          <p:cNvPr id="6" name="kpi-card-1"/>
          <p:cNvSpPr/>
          <p:nvPr/>
        </p:nvSpPr>
        <p:spPr>
          <a:xfrm>
            <a:off x="3479800" y="2000000"/>
            <a:ext cx="2438400" cy="1900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kpi-value-1"/>
          <p:cNvSpPr txBox="1"/>
          <p:nvPr/>
        </p:nvSpPr>
        <p:spPr>
          <a:xfrm>
            <a:off x="3479800" y="2000000"/>
            <a:ext cx="2438400" cy="1178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5400" b="1" dirty="0">
                <a:solidFill>
                  <a:srgbClr val="E11D48"/>
                </a:solidFill>
                <a:latin typeface="Smiley Sans"/>
                <a:ea typeface="Smiley Sans"/>
              </a:rPr>
              <a:t>1,847份</a:t>
            </a:r>
          </a:p>
        </p:txBody>
      </p:sp>
      <p:sp>
        <p:nvSpPr>
          <p:cNvPr id="8" name="kpi-label-1"/>
          <p:cNvSpPr txBox="1"/>
          <p:nvPr/>
        </p:nvSpPr>
        <p:spPr>
          <a:xfrm>
            <a:off x="3479800" y="3178000"/>
            <a:ext cx="2438400" cy="722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6B5158"/>
                </a:solidFill>
                <a:latin typeface="Smiley Sans"/>
                <a:ea typeface="Smiley Sans"/>
              </a:rPr>
              <a:t>有效问卷 回收率 68%</a:t>
            </a:r>
          </a:p>
        </p:txBody>
      </p:sp>
      <p:sp>
        <p:nvSpPr>
          <p:cNvPr id="9" name="kpi-card-2"/>
          <p:cNvSpPr/>
          <p:nvPr/>
        </p:nvSpPr>
        <p:spPr>
          <a:xfrm>
            <a:off x="6273800" y="2000000"/>
            <a:ext cx="2438400" cy="1900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" name="kpi-value-2"/>
          <p:cNvSpPr txBox="1"/>
          <p:nvPr/>
        </p:nvSpPr>
        <p:spPr>
          <a:xfrm>
            <a:off x="6273800" y="2000000"/>
            <a:ext cx="2438400" cy="1178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5400" b="1" dirty="0">
                <a:solidFill>
                  <a:srgbClr val="E11D48"/>
                </a:solidFill>
                <a:latin typeface="Smiley Sans"/>
                <a:ea typeface="Smiley Sans"/>
              </a:rPr>
              <a:t>39元</a:t>
            </a:r>
          </a:p>
        </p:txBody>
      </p:sp>
      <p:sp>
        <p:nvSpPr>
          <p:cNvPr id="11" name="kpi-label-2"/>
          <p:cNvSpPr txBox="1"/>
          <p:nvPr/>
        </p:nvSpPr>
        <p:spPr>
          <a:xfrm>
            <a:off x="6273800" y="3178000"/>
            <a:ext cx="2438400" cy="722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6B5158"/>
                </a:solidFill>
                <a:latin typeface="Smiley Sans"/>
                <a:ea typeface="Smiley Sans"/>
              </a:rPr>
              <a:t>封顶价 一年不涨</a:t>
            </a:r>
          </a:p>
        </p:txBody>
      </p:sp>
      <p:sp>
        <p:nvSpPr>
          <p:cNvPr id="12" name="kpi-card-3"/>
          <p:cNvSpPr/>
          <p:nvPr/>
        </p:nvSpPr>
        <p:spPr>
          <a:xfrm>
            <a:off x="9067800" y="2000000"/>
            <a:ext cx="2438400" cy="1900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3" name="kpi-value-3"/>
          <p:cNvSpPr txBox="1"/>
          <p:nvPr/>
        </p:nvSpPr>
        <p:spPr>
          <a:xfrm>
            <a:off x="9067800" y="2000000"/>
            <a:ext cx="2438400" cy="1178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5400" b="1" dirty="0">
                <a:solidFill>
                  <a:srgbClr val="E11D48"/>
                </a:solidFill>
                <a:latin typeface="Smiley Sans"/>
                <a:ea typeface="Smiley Sans"/>
              </a:rPr>
              <a:t>3件</a:t>
            </a:r>
          </a:p>
        </p:txBody>
      </p:sp>
      <p:sp>
        <p:nvSpPr>
          <p:cNvPr id="14" name="kpi-label-3"/>
          <p:cNvSpPr txBox="1"/>
          <p:nvPr/>
        </p:nvSpPr>
        <p:spPr>
          <a:xfrm>
            <a:off x="9067800" y="3178000"/>
            <a:ext cx="2438400" cy="722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6B5158"/>
                </a:solidFill>
                <a:latin typeface="Smiley Sans"/>
                <a:ea typeface="Smiley Sans"/>
              </a:rPr>
              <a:t>首发 不做隐藏款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壳与芯 · 2026 秋季首发 · 9 月 12 日</a:t>
            </a:r>
          </a:p>
        </p:txBody>
      </p:sp>
      <p:sp>
        <p:nvSpPr>
          <p:cNvPr id="1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聚光灯下的星形色块，撞色几何构成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543800" y="1700000"/>
            <a:ext cx="3962400" cy="3600000"/>
          </a:xfrm>
          <a:prstGeom prst="rect">
            <a:avLst/>
          </a:prstGeom>
        </p:spPr>
      </p:pic>
      <p:sp>
        <p:nvSpPr>
          <p:cNvPr id="3" name="title-5"/>
          <p:cNvSpPr txBox="1"/>
          <p:nvPr/>
        </p:nvSpPr>
        <p:spPr>
          <a:xfrm>
            <a:off x="685800" y="760000"/>
            <a:ext cx="59436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C0A0F"/>
                </a:solidFill>
                <a:latin typeface="Smiley Sans"/>
                <a:ea typeface="Smiley Sans"/>
              </a:rPr>
              <a:t>首发一 · 不掉墨的活页本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700000"/>
            <a:ext cx="5943600" cy="3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C0A0F"/>
                </a:solidFill>
                <a:latin typeface="Smiley Sans"/>
                <a:ea typeface="Smiley Sans"/>
              </a:rPr>
              <a:t>80 克米黄纸，中性笔背面不透，做过 12 支常见笔的实测。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C0A0F"/>
                </a:solidFill>
                <a:latin typeface="Smiley Sans"/>
                <a:ea typeface="Smiley Sans"/>
              </a:rPr>
              <a:t>六孔活页，可拆可换，内页单卖 9 元。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C0A0F"/>
                </a:solidFill>
                <a:latin typeface="Smiley Sans"/>
                <a:ea typeface="Smiley Sans"/>
              </a:rPr>
              <a:t>定价 29 元，含 60 页内页。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壳与芯 · 2026 秋季首发 · 9 月 12 日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两个拟人化几何形状握手，撞色平涂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5800" y="1700000"/>
            <a:ext cx="3962400" cy="3600000"/>
          </a:xfrm>
          <a:prstGeom prst="rect">
            <a:avLst/>
          </a:prstGeom>
        </p:spPr>
      </p:pic>
      <p:sp>
        <p:nvSpPr>
          <p:cNvPr id="3" name="title-6"/>
          <p:cNvSpPr txBox="1"/>
          <p:nvPr/>
        </p:nvSpPr>
        <p:spPr>
          <a:xfrm>
            <a:off x="5562600" y="760000"/>
            <a:ext cx="59436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C0A0F"/>
                </a:solidFill>
                <a:latin typeface="Smiley Sans"/>
                <a:ea typeface="Smiley Sans"/>
              </a:rPr>
              <a:t>首发二 · 和校美术社联名的帆布笔袋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5562600" y="1700000"/>
            <a:ext cx="5943600" cy="3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C0A0F"/>
                </a:solidFill>
                <a:latin typeface="Smiley Sans"/>
                <a:ea typeface="Smiley Sans"/>
              </a:rPr>
              <a:t>图案由 6 位美术社成员出稿，署名印在袋内标签上。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C0A0F"/>
                </a:solidFill>
                <a:latin typeface="Smiley Sans"/>
                <a:ea typeface="Smiley Sans"/>
              </a:rPr>
              <a:t>12 安帆布，走线加固，装得下 30 支笔和一把尺。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C0A0F"/>
                </a:solidFill>
                <a:latin typeface="Smiley Sans"/>
                <a:ea typeface="Smiley Sans"/>
              </a:rPr>
              <a:t>定价 39 元，售出每件回 3 元给社团活动经费。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壳与芯 · 2026 秋季首发 · 9 月 12 日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粉与青的大色块正面相撞，中间一道黄色闪电"/>
          <p:cNvPicPr>
            <a:picLocks noChangeAspect="1"/>
          </p:cNvPicPr>
          <p:nvPr/>
        </p:nvPicPr>
        <p:blipFill>
          <a:blip r:embed="rId2"/>
          <a:srcRect t="2468" b="2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crim-band-1"/>
          <p:cNvSpPr/>
          <p:nvPr/>
        </p:nvSpPr>
        <p:spPr>
          <a:xfrm>
            <a:off x="0" y="5200000"/>
            <a:ext cx="4064000" cy="1000000"/>
          </a:xfrm>
          <a:prstGeom prst="rect">
            <a:avLst/>
          </a:prstGeom>
          <a:solidFill>
            <a:srgbClr val="28324E">
              <a:alpha val="8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scrim-band-2"/>
          <p:cNvSpPr/>
          <p:nvPr/>
        </p:nvSpPr>
        <p:spPr>
          <a:xfrm>
            <a:off x="4064000" y="5200000"/>
            <a:ext cx="4064000" cy="1000000"/>
          </a:xfrm>
          <a:prstGeom prst="rect">
            <a:avLst/>
          </a:prstGeom>
          <a:solidFill>
            <a:srgbClr val="28324E">
              <a:alpha val="76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crim-band-3"/>
          <p:cNvSpPr/>
          <p:nvPr/>
        </p:nvSpPr>
        <p:spPr>
          <a:xfrm>
            <a:off x="8128000" y="5200000"/>
            <a:ext cx="4064000" cy="1000000"/>
          </a:xfrm>
          <a:prstGeom prst="rect">
            <a:avLst/>
          </a:prstGeom>
          <a:solidFill>
            <a:srgbClr val="28324E">
              <a:alpha val="64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title"/>
          <p:cNvSpPr txBox="1"/>
          <p:nvPr/>
        </p:nvSpPr>
        <p:spPr>
          <a:xfrm>
            <a:off x="685800" y="5200000"/>
            <a:ext cx="10820400" cy="10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4000" b="1" dirty="0">
                <a:solidFill>
                  <a:srgbClr val="FFF1F2"/>
                </a:solidFill>
                <a:latin typeface="Smiley Sans"/>
                <a:ea typeface="Smiley Sans"/>
              </a:rPr>
              <a:t>39 元封顶，一年不涨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壳与芯 · 2026 秋季首发 · 9 月 12 日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C0A0F"/>
                </a:solidFill>
                <a:latin typeface="Smiley Sans"/>
                <a:ea typeface="Smiley Sans"/>
              </a:rPr>
              <a:t>接下来六周</a:t>
            </a:r>
          </a:p>
        </p:txBody>
      </p:sp>
      <p:sp>
        <p:nvSpPr>
          <p:cNvPr id="3" name="axis"/>
          <p:cNvSpPr/>
          <p:nvPr/>
        </p:nvSpPr>
        <p:spPr>
          <a:xfrm>
            <a:off x="685800" y="3400000"/>
            <a:ext cx="10820400" cy="40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node-0"/>
          <p:cNvSpPr/>
          <p:nvPr/>
        </p:nvSpPr>
        <p:spPr>
          <a:xfrm>
            <a:off x="685800" y="3310000"/>
            <a:ext cx="180000" cy="18000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at-0"/>
          <p:cNvSpPr txBox="1"/>
          <p:nvPr/>
        </p:nvSpPr>
        <p:spPr>
          <a:xfrm>
            <a:off x="-576750" y="3000000"/>
            <a:ext cx="2705100" cy="400000"/>
          </a:xfrm>
          <a:prstGeom prst="rect">
            <a:avLst/>
          </a:prstGeom>
          <a:noFill/>
        </p:spPr>
        <p:txBody>
          <a:bodyPr wrap="square" lIns="91440" rIns="91440" anchor="b">
            <a:normAutofit/>
          </a:bodyPr>
          <a:lstStyle/>
          <a:p>
            <a:pPr algn="ctr" marL="0" indent="0">
              <a:buNone/>
            </a:pPr>
            <a:r>
              <a:rPr lang="zh-CN" altLang="en-US" sz="2000" b="1" dirty="0">
                <a:solidFill>
                  <a:srgbClr val="1C0A0F"/>
                </a:solidFill>
                <a:latin typeface="Smiley Sans"/>
                <a:ea typeface="Smiley Sans"/>
              </a:rPr>
              <a:t>9/12</a:t>
            </a:r>
          </a:p>
        </p:txBody>
      </p:sp>
      <p:sp>
        <p:nvSpPr>
          <p:cNvPr id="6" name="label-0"/>
          <p:cNvSpPr txBox="1"/>
          <p:nvPr/>
        </p:nvSpPr>
        <p:spPr>
          <a:xfrm>
            <a:off x="-576750" y="3700000"/>
            <a:ext cx="27051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1C0A0F"/>
                </a:solidFill>
                <a:latin typeface="Smiley Sans"/>
                <a:ea typeface="Smiley Sans"/>
              </a:rPr>
              <a:t>线上首发</a:t>
            </a:r>
          </a:p>
        </p:txBody>
      </p:sp>
      <p:sp>
        <p:nvSpPr>
          <p:cNvPr id="7" name="detail-0"/>
          <p:cNvSpPr txBox="1"/>
          <p:nvPr/>
        </p:nvSpPr>
        <p:spPr>
          <a:xfrm>
            <a:off x="-576750" y="4020000"/>
            <a:ext cx="27051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6B5158"/>
                </a:solidFill>
                <a:latin typeface="Smiley Sans"/>
                <a:ea typeface="Smiley Sans"/>
              </a:rPr>
              <a:t>小程序与两个校园团购群同时开卖</a:t>
            </a:r>
          </a:p>
        </p:txBody>
      </p:sp>
      <p:sp>
        <p:nvSpPr>
          <p:cNvPr id="8" name="node-1"/>
          <p:cNvSpPr/>
          <p:nvPr/>
        </p:nvSpPr>
        <p:spPr>
          <a:xfrm>
            <a:off x="4232600" y="3310000"/>
            <a:ext cx="180000" cy="18000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" name="at-1"/>
          <p:cNvSpPr txBox="1"/>
          <p:nvPr/>
        </p:nvSpPr>
        <p:spPr>
          <a:xfrm>
            <a:off x="2970050" y="3000000"/>
            <a:ext cx="2705100" cy="400000"/>
          </a:xfrm>
          <a:prstGeom prst="rect">
            <a:avLst/>
          </a:prstGeom>
          <a:noFill/>
        </p:spPr>
        <p:txBody>
          <a:bodyPr wrap="square" lIns="91440" rIns="91440" anchor="b">
            <a:normAutofit/>
          </a:bodyPr>
          <a:lstStyle/>
          <a:p>
            <a:pPr algn="ctr" marL="0" indent="0">
              <a:buNone/>
            </a:pPr>
            <a:r>
              <a:rPr lang="zh-CN" altLang="en-US" sz="2000" b="1" dirty="0">
                <a:solidFill>
                  <a:srgbClr val="1C0A0F"/>
                </a:solidFill>
                <a:latin typeface="Smiley Sans"/>
                <a:ea typeface="Smiley Sans"/>
              </a:rPr>
              <a:t>9/20</a:t>
            </a:r>
          </a:p>
        </p:txBody>
      </p:sp>
      <p:sp>
        <p:nvSpPr>
          <p:cNvPr id="10" name="label-1"/>
          <p:cNvSpPr txBox="1"/>
          <p:nvPr/>
        </p:nvSpPr>
        <p:spPr>
          <a:xfrm>
            <a:off x="2970050" y="3700000"/>
            <a:ext cx="27051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1C0A0F"/>
                </a:solidFill>
                <a:latin typeface="Smiley Sans"/>
                <a:ea typeface="Smiley Sans"/>
              </a:rPr>
              <a:t>校园快闪</a:t>
            </a:r>
          </a:p>
        </p:txBody>
      </p:sp>
      <p:sp>
        <p:nvSpPr>
          <p:cNvPr id="11" name="detail-1"/>
          <p:cNvSpPr txBox="1"/>
          <p:nvPr/>
        </p:nvSpPr>
        <p:spPr>
          <a:xfrm>
            <a:off x="2970050" y="4020000"/>
            <a:ext cx="27051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6B5158"/>
                </a:solidFill>
                <a:latin typeface="Smiley Sans"/>
                <a:ea typeface="Smiley Sans"/>
              </a:rPr>
              <a:t>4 所学校各一天，现场可试写试装</a:t>
            </a:r>
          </a:p>
        </p:txBody>
      </p:sp>
      <p:sp>
        <p:nvSpPr>
          <p:cNvPr id="12" name="node-2"/>
          <p:cNvSpPr/>
          <p:nvPr/>
        </p:nvSpPr>
        <p:spPr>
          <a:xfrm>
            <a:off x="7779400" y="3310000"/>
            <a:ext cx="180000" cy="18000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3" name="at-2"/>
          <p:cNvSpPr txBox="1"/>
          <p:nvPr/>
        </p:nvSpPr>
        <p:spPr>
          <a:xfrm>
            <a:off x="6516850" y="3000000"/>
            <a:ext cx="2705100" cy="400000"/>
          </a:xfrm>
          <a:prstGeom prst="rect">
            <a:avLst/>
          </a:prstGeom>
          <a:noFill/>
        </p:spPr>
        <p:txBody>
          <a:bodyPr wrap="square" lIns="91440" rIns="91440" anchor="b">
            <a:normAutofit/>
          </a:bodyPr>
          <a:lstStyle/>
          <a:p>
            <a:pPr algn="ctr" marL="0" indent="0">
              <a:buNone/>
            </a:pPr>
            <a:r>
              <a:rPr lang="zh-CN" altLang="en-US" sz="2000" b="1" dirty="0">
                <a:solidFill>
                  <a:srgbClr val="1C0A0F"/>
                </a:solidFill>
                <a:latin typeface="Smiley Sans"/>
                <a:ea typeface="Smiley Sans"/>
              </a:rPr>
              <a:t>10/08</a:t>
            </a:r>
          </a:p>
        </p:txBody>
      </p:sp>
      <p:sp>
        <p:nvSpPr>
          <p:cNvPr id="14" name="label-2"/>
          <p:cNvSpPr txBox="1"/>
          <p:nvPr/>
        </p:nvSpPr>
        <p:spPr>
          <a:xfrm>
            <a:off x="6516850" y="3700000"/>
            <a:ext cx="27051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1C0A0F"/>
                </a:solidFill>
                <a:latin typeface="Smiley Sans"/>
                <a:ea typeface="Smiley Sans"/>
              </a:rPr>
              <a:t>首轮补货</a:t>
            </a:r>
          </a:p>
        </p:txBody>
      </p:sp>
      <p:sp>
        <p:nvSpPr>
          <p:cNvPr id="15" name="detail-2"/>
          <p:cNvSpPr txBox="1"/>
          <p:nvPr/>
        </p:nvSpPr>
        <p:spPr>
          <a:xfrm>
            <a:off x="6516850" y="4020000"/>
            <a:ext cx="27051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6B5158"/>
                </a:solidFill>
                <a:latin typeface="Smiley Sans"/>
                <a:ea typeface="Smiley Sans"/>
              </a:rPr>
              <a:t>按前三周实销补，不预压库存</a:t>
            </a:r>
          </a:p>
        </p:txBody>
      </p:sp>
      <p:sp>
        <p:nvSpPr>
          <p:cNvPr id="16" name="node-3"/>
          <p:cNvSpPr/>
          <p:nvPr/>
        </p:nvSpPr>
        <p:spPr>
          <a:xfrm>
            <a:off x="11326200" y="3310000"/>
            <a:ext cx="180000" cy="18000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" name="at-3"/>
          <p:cNvSpPr txBox="1"/>
          <p:nvPr/>
        </p:nvSpPr>
        <p:spPr>
          <a:xfrm>
            <a:off x="10063650" y="3000000"/>
            <a:ext cx="2705100" cy="400000"/>
          </a:xfrm>
          <a:prstGeom prst="rect">
            <a:avLst/>
          </a:prstGeom>
          <a:noFill/>
        </p:spPr>
        <p:txBody>
          <a:bodyPr wrap="square" lIns="91440" rIns="91440" anchor="b">
            <a:normAutofit/>
          </a:bodyPr>
          <a:lstStyle/>
          <a:p>
            <a:pPr algn="ctr" marL="0" indent="0">
              <a:buNone/>
            </a:pPr>
            <a:r>
              <a:rPr lang="zh-CN" altLang="en-US" sz="2000" b="1" dirty="0">
                <a:solidFill>
                  <a:srgbClr val="1C0A0F"/>
                </a:solidFill>
                <a:latin typeface="Smiley Sans"/>
                <a:ea typeface="Smiley Sans"/>
              </a:rPr>
              <a:t>11/01</a:t>
            </a:r>
          </a:p>
        </p:txBody>
      </p:sp>
      <p:sp>
        <p:nvSpPr>
          <p:cNvPr id="18" name="label-3"/>
          <p:cNvSpPr txBox="1"/>
          <p:nvPr/>
        </p:nvSpPr>
        <p:spPr>
          <a:xfrm>
            <a:off x="10063650" y="3700000"/>
            <a:ext cx="27051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1C0A0F"/>
                </a:solidFill>
                <a:latin typeface="Smiley Sans"/>
                <a:ea typeface="Smiley Sans"/>
              </a:rPr>
              <a:t>公开复盘</a:t>
            </a:r>
          </a:p>
        </p:txBody>
      </p:sp>
      <p:sp>
        <p:nvSpPr>
          <p:cNvPr id="19" name="detail-3"/>
          <p:cNvSpPr txBox="1"/>
          <p:nvPr/>
        </p:nvSpPr>
        <p:spPr>
          <a:xfrm>
            <a:off x="10063650" y="4020000"/>
            <a:ext cx="27051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6B5158"/>
                </a:solidFill>
                <a:latin typeface="Smiley Sans"/>
                <a:ea typeface="Smiley Sans"/>
              </a:rPr>
              <a:t>把销量、退货率和亏的钱都贴出来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壳与芯 · 2026 秋季首发 · 9 月 12 日</a:t>
            </a:r>
          </a:p>
        </p:txBody>
      </p:sp>
      <p:sp>
        <p:nvSpPr>
          <p:cNvPr id="21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撞色几何风格的市集摊位与人群远景"/>
          <p:cNvPicPr>
            <a:picLocks noChangeAspect="1"/>
          </p:cNvPicPr>
          <p:nvPr/>
        </p:nvPicPr>
        <p:blipFill>
          <a:blip r:embed="rId2"/>
          <a:srcRect l="14019" r="14019"/>
          <a:stretch>
            <a:fillRect/>
          </a:stretch>
        </p:blipFill>
        <p:spPr>
          <a:xfrm>
            <a:off x="7543800" y="1700000"/>
            <a:ext cx="3962400" cy="3600000"/>
          </a:xfrm>
          <a:prstGeom prst="rect">
            <a:avLst/>
          </a:prstGeom>
        </p:spPr>
      </p:pic>
      <p:sp>
        <p:nvSpPr>
          <p:cNvPr id="3" name="title-9"/>
          <p:cNvSpPr txBox="1"/>
          <p:nvPr/>
        </p:nvSpPr>
        <p:spPr>
          <a:xfrm>
            <a:off x="685800" y="760000"/>
            <a:ext cx="59436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C0A0F"/>
                </a:solidFill>
                <a:latin typeface="Smiley Sans"/>
                <a:ea typeface="Smiley Sans"/>
              </a:rPr>
              <a:t>去哪买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700000"/>
            <a:ext cx="5943600" cy="3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C0A0F"/>
                </a:solidFill>
                <a:latin typeface="Smiley Sans"/>
                <a:ea typeface="Smiley Sans"/>
              </a:rPr>
              <a:t>小程序「壳与芯」——首发当天 10:00 开卖。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C0A0F"/>
                </a:solidFill>
                <a:latin typeface="Smiley Sans"/>
                <a:ea typeface="Smiley Sans"/>
              </a:rPr>
              <a:t>校园快闪现场——只收现价，不加价。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C0A0F"/>
                </a:solidFill>
                <a:latin typeface="Smiley Sans"/>
                <a:ea typeface="Smiley Sans"/>
              </a:rPr>
              <a:t>社团合作——20 件起，联系各校社联对接人。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壳与芯 · 2026 秋季首发 · 9 月 12 日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9 / 9</a:t>
            </a:r>
          </a:p>
        </p:txBody>
      </p:sp>
      <p:sp>
        <p:nvSpPr>
          <p:cNvPr id="7" name="oceanleo-credits"/>
          <p:cNvSpPr txBox="1"/>
          <p:nvPr/>
        </p:nvSpPr>
        <p:spPr>
          <a:xfrm>
            <a:off x="685800" y="6060800"/>
            <a:ext cx="10820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158"/>
                </a:solidFill>
                <a:latin typeface="Smiley Sans"/>
                <a:ea typeface="Smiley Sans"/>
              </a:rPr>
              <a:t>配图复用自 OceanLeo 平台既有孟菲斯撞色风演示模板（brand-memphis / memphis 两套整页图裁切），第一方素材 (OceanLeo-Free-1.0); 文字与数据为 OceanLeo 第一方原创示例，「壳与芯」为虚构品牌，不指向任何真实商家 (CC0-1.0)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Leo Deck">
  <a:themeElements>
    <a:clrScheme name="OceanLeo">
      <a:dk1>
        <a:srgbClr val="1C0A0F"/>
      </a:dk1>
      <a:lt1>
        <a:srgbClr val="FFF1F2"/>
      </a:lt1>
      <a:dk2>
        <a:srgbClr val="6B5158"/>
      </a:dk2>
      <a:lt2>
        <a:srgbClr val="FFF1F2"/>
      </a:lt2>
      <a:accent1>
        <a:srgbClr val="E11D48"/>
      </a:accent1>
      <a:accent2>
        <a:srgbClr val="BE123C"/>
      </a:accent2>
      <a:accent3>
        <a:srgbClr val="881337"/>
      </a:accent3>
      <a:accent4>
        <a:srgbClr val="F43F5E"/>
      </a:accent4>
      <a:accent5>
        <a:srgbClr val="FDA4AF"/>
      </a:accent5>
      <a:accent6>
        <a:srgbClr val="EF4444"/>
      </a:accent6>
      <a:hlink>
        <a:srgbClr val="0969DA"/>
      </a:hlink>
      <a:folHlink>
        <a:srgbClr val="8250DF"/>
      </a:folHlink>
    </a:clrScheme>
    <a:fontScheme name="OceanLeo">
      <a:majorFont>
        <a:latin typeface="Smiley Sans"/>
        <a:ea typeface="Smiley Sans"/>
        <a:cs typeface=""/>
      </a:majorFont>
      <a:minorFont>
        <a:latin typeface="Noto Sans SC"/>
        <a:ea typeface="Smiley Sans"/>
        <a:cs typeface=""/>
      </a:minorFont>
    </a:fontScheme>
    <a:fmtScheme name="OceanLeo">
      <a:fillStyleLst>
        <a:solidFill>
          <a:schemeClr val="phClr">
            <a:lumMod val="100000"/>
          </a:schemeClr>
        </a:solidFill>
        <a:solidFill>
          <a:schemeClr val="phClr">
            <a:lumMod val="90000"/>
          </a:schemeClr>
        </a:solidFill>
        <a:solidFill>
          <a:schemeClr val="phClr">
            <a:lumMod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>
            <a:lumMod val="100000"/>
          </a:schemeClr>
        </a:solidFill>
        <a:solidFill>
          <a:schemeClr val="phClr">
            <a:lumMod val="95000"/>
          </a:schemeClr>
        </a:solidFill>
        <a:solidFill>
          <a:schemeClr val="phClr">
            <a:lumMod val="85000"/>
          </a:schemeClr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不做盲盒：校园文创「壳与芯」2026 秋季首发</dc:title>
  <dc:subject>不做盲盒：校园文创「壳与芯」2026 秋季首发</dc:subject>
  <dc:creator>OceanLeo</dc:creator>
  <cp:lastModifiedBy>OceanLeo</cp:lastModifiedBy>
  <cp:revision>1</cp:revision>
  <dcterms:created xsi:type="dcterms:W3CDTF">2026-07-29T00:00:00Z</dcterms:created>
  <dcterms:modified xsi:type="dcterms:W3CDTF">2026-07-29T00:00:00Z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ceanLeoCredits">
    <vt:lpwstr>配图复用自 OceanLeo 平台既有孟菲斯撞色风演示模板（brand-memphis / memphis 两套整页图裁切），第一方素材 (OceanLeo-Free-1.0); 文字与数据为 OceanLeo 第一方原创示例，「壳与芯」为虚构品牌，不指向任何真实商家 (CC0-1.0)</vt:lpwstr>
  </property>
</Properties>
</file>