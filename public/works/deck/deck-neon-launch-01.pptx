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theme" Target="theme/theme1.xml"/><Relationship Id="rId16" Type="http://schemas.openxmlformats.org/officeDocument/2006/relationships/notesMaster" Target="notesMasters/notesMaster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剩下的人</c:v>
                </c:pt>
              </c:strCache>
            </c:strRef>
          </c:tx>
          <c:spPr>
            <a:solidFill>
              <a:srgbClr val="1F6FEB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看见</c:v>
                </c:pt>
                <c:pt idx="1">
                  <c:v>商店页</c:v>
                </c:pt>
                <c:pt idx="2">
                  <c:v>安装</c:v>
                </c:pt>
                <c:pt idx="3">
                  <c:v>注册</c:v>
                </c:pt>
                <c:pt idx="4">
                  <c:v>第七天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10412</c:v>
                </c:pt>
                <c:pt idx="1">
                  <c:v>2290</c:v>
                </c:pt>
                <c:pt idx="2">
                  <c:v>2180</c:v>
                </c:pt>
                <c:pt idx="3">
                  <c:v>1109</c:v>
                </c:pt>
                <c:pt idx="4">
                  <c:v>620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sz="1400"/>
                  <a:t>人数</a:t>
                </a:r>
              </a:p>
            </c:rich>
          </c:tx>
          <c:overlay val="0"/>
        </c:title>
        <c:crossAx val="222222222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crossAx val="111111111"/>
      </c:valAx>
    </c:plotArea>
    <c:legend>
      <c:legendPos val="b"/>
      <c:overlay val="0"/>
    </c:legend>
    <c:plotVisOnly val="1"/>
    <c:dispBlanksAs val="gap"/>
  </c:chart>
  <c:spPr>
    <a:solidFill>
      <a:srgbClr val="F0E7FF"/>
    </a:solidFill>
  </c:spPr>
  <c:externalData xmlns:r="http://schemas.openxmlformats.org/officeDocument/2006/relationships"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信息流来的人</c:v>
                </c:pt>
              </c:strCache>
            </c:strRef>
          </c:tx>
          <c:spPr>
            <a:solidFill>
              <a:srgbClr val="1F6FEB"/>
            </a:solidFill>
          </c:spPr>
          <c:marker>
            <c:symbol val="circle"/>
            <c:size val="7"/>
            <c:spPr>
              <a:solidFill>
                <a:srgbClr val="1F6FEB"/>
              </a:solidFill>
            </c:spPr>
          </c:marker>
          <c:cat>
            <c:strRef>
              <c:f>Sheet1!$A$2:$A$8</c:f>
              <c:strCache>
                <c:ptCount val="7"/>
                <c:pt idx="0">
                  <c:v>第1天</c:v>
                </c:pt>
                <c:pt idx="1">
                  <c:v>第2天</c:v>
                </c:pt>
                <c:pt idx="2">
                  <c:v>第3天</c:v>
                </c:pt>
                <c:pt idx="3">
                  <c:v>第4天</c:v>
                </c:pt>
                <c:pt idx="4">
                  <c:v>第5天</c:v>
                </c:pt>
                <c:pt idx="5">
                  <c:v>第6天</c:v>
                </c:pt>
                <c:pt idx="6">
                  <c:v>第7天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41</c:v>
                </c:pt>
                <c:pt idx="2">
                  <c:v>28</c:v>
                </c:pt>
                <c:pt idx="3">
                  <c:v>21</c:v>
                </c:pt>
                <c:pt idx="4">
                  <c:v>17</c:v>
                </c:pt>
                <c:pt idx="5">
                  <c:v>15</c:v>
                </c:pt>
                <c:pt idx="6">
                  <c:v>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搜索来的人</c:v>
                </c:pt>
              </c:strCache>
            </c:strRef>
          </c:tx>
          <c:spPr>
            <a:solidFill>
              <a:srgbClr val="C47323"/>
            </a:solidFill>
          </c:spPr>
          <c:marker>
            <c:symbol val="square"/>
            <c:size val="7"/>
            <c:spPr>
              <a:solidFill>
                <a:srgbClr val="C47323"/>
              </a:solidFill>
            </c:spPr>
          </c:marker>
          <c:cat>
            <c:strRef>
              <c:f>Sheet1!$A$2:$A$8</c:f>
              <c:strCache>
                <c:ptCount val="7"/>
                <c:pt idx="0">
                  <c:v>第1天</c:v>
                </c:pt>
                <c:pt idx="1">
                  <c:v>第2天</c:v>
                </c:pt>
                <c:pt idx="2">
                  <c:v>第3天</c:v>
                </c:pt>
                <c:pt idx="3">
                  <c:v>第4天</c:v>
                </c:pt>
                <c:pt idx="4">
                  <c:v>第5天</c:v>
                </c:pt>
                <c:pt idx="5">
                  <c:v>第6天</c:v>
                </c:pt>
                <c:pt idx="6">
                  <c:v>第7天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72</c:v>
                </c:pt>
                <c:pt idx="2">
                  <c:v>63</c:v>
                </c:pt>
                <c:pt idx="3">
                  <c:v>58</c:v>
                </c:pt>
                <c:pt idx="4">
                  <c:v>55</c:v>
                </c:pt>
                <c:pt idx="5">
                  <c:v>53</c:v>
                </c:pt>
                <c:pt idx="6">
                  <c:v>52</c:v>
                </c:pt>
              </c:numCache>
            </c:numRef>
          </c:val>
          <c:smooth val="0"/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sz="1400"/>
                  <a:t>留存（以首日为 100）</a:t>
                </a:r>
              </a:p>
            </c:rich>
          </c:tx>
          <c:overlay val="0"/>
        </c:title>
        <c:crossAx val="222222222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crossAx val="111111111"/>
      </c:valAx>
    </c:plotArea>
    <c:legend>
      <c:legendPos val="b"/>
      <c:overlay val="0"/>
    </c:legend>
    <c:plotVisOnly val="1"/>
    <c:dispBlanksAs val="gap"/>
  </c:chart>
  <c:spPr>
    <a:solidFill>
      <a:srgbClr val="F0E7FF"/>
    </a:solidFill>
  </c:spPr>
  <c:externalData xmlns:r="http://schemas.openxmlformats.org/officeDocument/2006/relationships"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预计能追回的人</c:v>
                </c:pt>
              </c:strCache>
            </c:strRef>
          </c:tx>
          <c:spPr>
            <a:solidFill>
              <a:srgbClr val="1F6FEB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商店页首屏</c:v>
                </c:pt>
                <c:pt idx="1">
                  <c:v>首次成功路径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1420</c:v>
                </c:pt>
                <c:pt idx="1">
                  <c:v>380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crossAx val="111111111"/>
      </c:valAx>
    </c:plotArea>
    <c:legend>
      <c:legendPos val="b"/>
      <c:overlay val="0"/>
    </c:legend>
    <c:plotVisOnly val="1"/>
    <c:dispBlanksAs val="gap"/>
  </c:chart>
  <c:spPr>
    <a:solidFill>
      <a:srgbClr val="F0E7FF"/>
    </a:solidFill>
  </c:spPr>
  <c:externalData xmlns:r="http://schemas.openxmlformats.org/officeDocument/2006/relationships"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开场只说一句：今晚要回答的不是「成不成功」，是「人在哪一步走掉的」。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口径：统计窗口为上线后 168 小时，同一设备去重，不含内部账号。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看见 → 商店页那一段掉得最狠，而它是我们唯一没做过设计的一段。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三条都不是猜的：第一条查了资源提交记录，第二条对比了搜索词，第三条是端上埋点。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这一页的作用是让人记住这个位置，不是评价它好不好看。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只改了标题与首屏两张图，没动产品。新版是上线第 4 天开始的，样本 3,100。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搜索来的人第七天还剩一半，信息流来的只剩七分之一。买量之前先看这张图：同样的钱买来的不是同样的人。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所以下一版要做的不是引导教程，是把第一次成功的路径缩短。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预计值按本次实测的分段转化推的，不是目标值。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这一页按 neon 的纪律不放照片：一句话在暗底上已经够响。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title"/>
          <p:cNvSpPr>
            <a:spLocks noGrp="1"/>
          </p:cNvSpPr>
          <p:nvPr>
            <p:ph type="title"/>
          </p:nvPr>
        </p:nvSpPr>
        <p:spPr>
          <a:xfrm>
            <a:off x="685800" y="1500000"/>
            <a:ext cx="108204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tle-accentBar"/>
          <p:cNvSpPr>
            <a:spLocks noGrp="1"/>
          </p:cNvSpPr>
          <p:nvPr>
            <p:ph type="body" idx="1"/>
          </p:nvPr>
        </p:nvSpPr>
        <p:spPr>
          <a:xfrm>
            <a:off x="685800" y="2400000"/>
            <a:ext cx="10820400" cy="9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tle-subtitle"/>
          <p:cNvSpPr>
            <a:spLocks noGrp="1"/>
          </p:cNvSpPr>
          <p:nvPr>
            <p:ph type="body" idx="2"/>
          </p:nvPr>
        </p:nvSpPr>
        <p:spPr>
          <a:xfrm>
            <a:off x="685800" y="2700000"/>
            <a:ext cx="108204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accentBar"/>
          <p:cNvSpPr>
            <a:spLocks noGrp="1"/>
          </p:cNvSpPr>
          <p:nvPr>
            <p:ph type="title"/>
          </p:nvPr>
        </p:nvSpPr>
        <p:spPr>
          <a:xfrm>
            <a:off x="0" y="0"/>
            <a:ext cx="460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section-title"/>
          <p:cNvSpPr>
            <a:spLocks noGrp="1"/>
          </p:cNvSpPr>
          <p:nvPr>
            <p:ph type="body" idx="1"/>
          </p:nvPr>
        </p:nvSpPr>
        <p:spPr>
          <a:xfrm>
            <a:off x="1000000" y="2600000"/>
            <a:ext cx="105062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ection-subtitle"/>
          <p:cNvSpPr>
            <a:spLocks noGrp="1"/>
          </p:cNvSpPr>
          <p:nvPr>
            <p:ph type="body" idx="2"/>
          </p:nvPr>
        </p:nvSpPr>
        <p:spPr>
          <a:xfrm>
            <a:off x="1000000" y="3600000"/>
            <a:ext cx="105062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-accentDot"/>
          <p:cNvSpPr>
            <a:spLocks noGrp="1"/>
          </p:cNvSpPr>
          <p:nvPr>
            <p:ph type="title"/>
          </p:nvPr>
        </p:nvSpPr>
        <p:spPr>
          <a:xfrm>
            <a:off x="685800" y="620000"/>
            <a:ext cx="200000" cy="7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ullets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bullets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colum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wo-column-lef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wo-column-right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ata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tabl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a-table-tabl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full-imag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full-scrim"/>
          <p:cNvSpPr>
            <a:spLocks noGrp="1"/>
          </p:cNvSpPr>
          <p:nvPr>
            <p:ph type="body" idx="1"/>
          </p:nvPr>
        </p:nvSpPr>
        <p:spPr>
          <a:xfrm>
            <a:off x="0" y="5200000"/>
            <a:ext cx="121920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full-title"/>
          <p:cNvSpPr>
            <a:spLocks noGrp="1"/>
          </p:cNvSpPr>
          <p:nvPr>
            <p:ph type="body" idx="2"/>
          </p:nvPr>
        </p:nvSpPr>
        <p:spPr>
          <a:xfrm>
            <a:off x="685800" y="5200000"/>
            <a:ext cx="108204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left-image"/>
          <p:cNvSpPr>
            <a:spLocks noGrp="1"/>
          </p:cNvSpPr>
          <p:nvPr>
            <p:ph type="title"/>
          </p:nvPr>
        </p:nvSpPr>
        <p:spPr>
          <a:xfrm>
            <a:off x="685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left-title"/>
          <p:cNvSpPr>
            <a:spLocks noGrp="1"/>
          </p:cNvSpPr>
          <p:nvPr>
            <p:ph type="body" idx="1"/>
          </p:nvPr>
        </p:nvSpPr>
        <p:spPr>
          <a:xfrm>
            <a:off x="55626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left-bullets"/>
          <p:cNvSpPr>
            <a:spLocks noGrp="1"/>
          </p:cNvSpPr>
          <p:nvPr>
            <p:ph type="body" idx="2"/>
          </p:nvPr>
        </p:nvSpPr>
        <p:spPr>
          <a:xfrm>
            <a:off x="55626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right-image"/>
          <p:cNvSpPr>
            <a:spLocks noGrp="1"/>
          </p:cNvSpPr>
          <p:nvPr>
            <p:ph type="title"/>
          </p:nvPr>
        </p:nvSpPr>
        <p:spPr>
          <a:xfrm>
            <a:off x="7543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right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right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grid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grid-cell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0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chart-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focu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focu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focus-conclusion"/>
          <p:cNvSpPr>
            <a:spLocks noGrp="1"/>
          </p:cNvSpPr>
          <p:nvPr>
            <p:ph type="body" idx="2"/>
          </p:nvPr>
        </p:nvSpPr>
        <p:spPr>
          <a:xfrm>
            <a:off x="685800" y="5600000"/>
            <a:ext cx="10820400" cy="4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art-with-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with-note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with-note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59436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with-notes-bullets"/>
          <p:cNvSpPr>
            <a:spLocks noGrp="1"/>
          </p:cNvSpPr>
          <p:nvPr>
            <p:ph type="body" idx="2"/>
          </p:nvPr>
        </p:nvSpPr>
        <p:spPr>
          <a:xfrm>
            <a:off x="6934200" y="1700000"/>
            <a:ext cx="3962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pi-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pi-row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kpi-row-card"/>
          <p:cNvSpPr>
            <a:spLocks noGrp="1"/>
          </p:cNvSpPr>
          <p:nvPr>
            <p:ph type="body" idx="1"/>
          </p:nvPr>
        </p:nvSpPr>
        <p:spPr>
          <a:xfrm>
            <a:off x="685800" y="2000000"/>
            <a:ext cx="4724400" cy="1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omparison-leftHea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omparison-rightHeader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lin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meline-axis"/>
          <p:cNvSpPr>
            <a:spLocks noGrp="1"/>
          </p:cNvSpPr>
          <p:nvPr>
            <p:ph type="body" idx="1"/>
          </p:nvPr>
        </p:nvSpPr>
        <p:spPr>
          <a:xfrm>
            <a:off x="685800" y="3400000"/>
            <a:ext cx="10820400" cy="4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meline-node"/>
          <p:cNvSpPr>
            <a:spLocks noGrp="1"/>
          </p:cNvSpPr>
          <p:nvPr>
            <p:ph type="body" idx="2"/>
          </p:nvPr>
        </p:nvSpPr>
        <p:spPr>
          <a:xfrm>
            <a:off x="685800" y="3310000"/>
            <a:ext cx="180000" cy="1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>
            <a:spLocks noGrp="1"/>
          </p:cNvSpPr>
          <p:nvPr>
            <p:ph type="title"/>
          </p:nvPr>
        </p:nvSpPr>
        <p:spPr>
          <a:xfrm>
            <a:off x="1609800" y="2200000"/>
            <a:ext cx="3000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quote-quote"/>
          <p:cNvSpPr>
            <a:spLocks noGrp="1"/>
          </p:cNvSpPr>
          <p:nvPr>
            <p:ph type="body" idx="1"/>
          </p:nvPr>
        </p:nvSpPr>
        <p:spPr>
          <a:xfrm>
            <a:off x="2209800" y="2200000"/>
            <a:ext cx="7163400" cy="1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quote-attribution"/>
          <p:cNvSpPr>
            <a:spLocks noGrp="1"/>
          </p:cNvSpPr>
          <p:nvPr>
            <p:ph type="body" idx="2"/>
          </p:nvPr>
        </p:nvSpPr>
        <p:spPr>
          <a:xfrm>
            <a:off x="2209800" y="4000000"/>
            <a:ext cx="7163400" cy="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mixed-tripty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-triptych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mixed-triptych-imag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mixed-triptych-chart"/>
          <p:cNvSpPr>
            <a:spLocks noGrp="1"/>
          </p:cNvSpPr>
          <p:nvPr>
            <p:ph type="body" idx="2"/>
          </p:nvPr>
        </p:nvSpPr>
        <p:spPr>
          <a:xfrm>
            <a:off x="43434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type="sldNum" idx="12"/>
          </p:nvPr>
        </p:nvSpPr>
        <p:spPr>
          <a:xfrm>
            <a:off x="6096000" y="6400800"/>
            <a:ext cx="54102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00" r:id="rId1"/>
    <p:sldLayoutId id="2147483601" r:id="rId2"/>
    <p:sldLayoutId id="2147483602" r:id="rId3"/>
    <p:sldLayoutId id="2147483603" r:id="rId4"/>
    <p:sldLayoutId id="2147483604" r:id="rId5"/>
    <p:sldLayoutId id="2147483605" r:id="rId6"/>
    <p:sldLayoutId id="2147483606" r:id="rId7"/>
    <p:sldLayoutId id="2147483607" r:id="rId8"/>
    <p:sldLayoutId id="2147483608" r:id="rId9"/>
    <p:sldLayoutId id="2147483609" r:id="rId10"/>
    <p:sldLayoutId id="2147483610" r:id="rId11"/>
    <p:sldLayoutId id="2147483611" r:id="rId12"/>
    <p:sldLayoutId id="2147483612" r:id="rId13"/>
    <p:sldLayoutId id="2147483613" r:id="rId14"/>
    <p:sldLayoutId id="2147483614" r:id="rId15"/>
    <p:sldLayoutId id="2147483615" r:id="rId16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webp"/><Relationship Id="rId3" Type="http://schemas.openxmlformats.org/officeDocument/2006/relationships/image" Target="../media/image2.webp"/><Relationship Id="rId4" Type="http://schemas.openxmlformats.org/officeDocument/2006/relationships/image" Target="../media/image3.webp"/><Relationship Id="rId5" Type="http://schemas.openxmlformats.org/officeDocument/2006/relationships/image" Target="../media/image4.webp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ebp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webp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7.webp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"/>
          <p:cNvSpPr txBox="1"/>
          <p:nvPr/>
        </p:nvSpPr>
        <p:spPr>
          <a:xfrm>
            <a:off x="685800" y="1500000"/>
            <a:ext cx="10820400" cy="9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4400" b="1" dirty="0">
                <a:solidFill>
                  <a:srgbClr val="F0E7FF"/>
                </a:solidFill>
                <a:latin typeface="Noto Sans CJK SC"/>
                <a:ea typeface="Noto Sans SC"/>
              </a:rPr>
              <a:t>首发那一夜</a:t>
            </a:r>
          </a:p>
        </p:txBody>
      </p:sp>
      <p:sp>
        <p:nvSpPr>
          <p:cNvPr id="3" name="accent-bar"/>
          <p:cNvSpPr/>
          <p:nvPr/>
        </p:nvSpPr>
        <p:spPr>
          <a:xfrm>
            <a:off x="685800" y="2400000"/>
            <a:ext cx="10820400" cy="9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685800" y="2700000"/>
            <a:ext cx="10820400" cy="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800" b="0" dirty="0">
                <a:solidFill>
                  <a:srgbClr val="9B86B5"/>
                </a:solidFill>
                <a:latin typeface="Noto Sans CJK SC"/>
                <a:ea typeface="Noto Sans SC"/>
              </a:rPr>
              <a:t>10,412 次点击，第七天还剩 620 个人 · 一次上线的逐步复盘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rail"/>
          <p:cNvSpPr/>
          <p:nvPr/>
        </p:nvSpPr>
        <p:spPr>
          <a:xfrm>
            <a:off x="0" y="0"/>
            <a:ext cx="4600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itle-2"/>
          <p:cNvSpPr txBox="1"/>
          <p:nvPr/>
        </p:nvSpPr>
        <p:spPr>
          <a:xfrm>
            <a:off x="1000000" y="2600000"/>
            <a:ext cx="10506200" cy="9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0E7FF"/>
                </a:solidFill>
                <a:latin typeface="Noto Sans CJK SC"/>
                <a:ea typeface="Noto Sans SC"/>
              </a:rPr>
              <a:t>结论先说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00000" y="3600000"/>
            <a:ext cx="10506200" cy="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600" b="0" dirty="0">
                <a:solidFill>
                  <a:srgbClr val="9B86B5"/>
                </a:solidFill>
                <a:latin typeface="Noto Sans CJK SC"/>
                <a:ea typeface="Noto Sans SC"/>
              </a:rPr>
              <a:t>最大的一跌不在产品里。从看见到打开商店页，走掉了七成八——那一步我们既没设计过，也没量过。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F0E7FF"/>
                </a:solidFill>
                <a:latin typeface="Noto Sans CJK SC"/>
                <a:ea typeface="Noto Sans SC"/>
              </a:rPr>
              <a:t>四个数</a:t>
            </a:r>
          </a:p>
        </p:txBody>
      </p:sp>
      <p:sp>
        <p:nvSpPr>
          <p:cNvPr id="3" name="kpi-card-0"/>
          <p:cNvSpPr/>
          <p:nvPr/>
        </p:nvSpPr>
        <p:spPr>
          <a:xfrm>
            <a:off x="685800" y="2000000"/>
            <a:ext cx="2438400" cy="1900000"/>
          </a:xfrm>
          <a:prstGeom prst="rect">
            <a:avLst/>
          </a:prstGeom>
          <a:solidFill>
            <a:srgbClr val="120B1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kpi-value-0"/>
          <p:cNvSpPr txBox="1"/>
          <p:nvPr/>
        </p:nvSpPr>
        <p:spPr>
          <a:xfrm>
            <a:off x="685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A855F7"/>
                </a:solidFill>
                <a:latin typeface="Noto Sans CJK SC"/>
                <a:ea typeface="Noto Sans SC"/>
              </a:rPr>
              <a:t>10,412</a:t>
            </a:r>
          </a:p>
        </p:txBody>
      </p:sp>
      <p:sp>
        <p:nvSpPr>
          <p:cNvPr id="5" name="kpi-label-0"/>
          <p:cNvSpPr txBox="1"/>
          <p:nvPr/>
        </p:nvSpPr>
        <p:spPr>
          <a:xfrm>
            <a:off x="685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9B86B5"/>
                </a:solidFill>
                <a:latin typeface="Noto Sans CJK SC"/>
                <a:ea typeface="Noto Sans SC"/>
              </a:rPr>
              <a:t>看见并点了一下</a:t>
            </a:r>
          </a:p>
        </p:txBody>
      </p:sp>
      <p:sp>
        <p:nvSpPr>
          <p:cNvPr id="6" name="kpi-card-1"/>
          <p:cNvSpPr/>
          <p:nvPr/>
        </p:nvSpPr>
        <p:spPr>
          <a:xfrm>
            <a:off x="3479800" y="2000000"/>
            <a:ext cx="2438400" cy="1900000"/>
          </a:xfrm>
          <a:prstGeom prst="rect">
            <a:avLst/>
          </a:prstGeom>
          <a:solidFill>
            <a:srgbClr val="120B1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kpi-value-1"/>
          <p:cNvSpPr txBox="1"/>
          <p:nvPr/>
        </p:nvSpPr>
        <p:spPr>
          <a:xfrm>
            <a:off x="3479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A855F7"/>
                </a:solidFill>
                <a:latin typeface="Noto Sans CJK SC"/>
                <a:ea typeface="Noto Sans SC"/>
              </a:rPr>
              <a:t>2,180</a:t>
            </a:r>
          </a:p>
        </p:txBody>
      </p:sp>
      <p:sp>
        <p:nvSpPr>
          <p:cNvPr id="8" name="kpi-label-1"/>
          <p:cNvSpPr txBox="1"/>
          <p:nvPr/>
        </p:nvSpPr>
        <p:spPr>
          <a:xfrm>
            <a:off x="3479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9B86B5"/>
                </a:solidFill>
                <a:latin typeface="Noto Sans CJK SC"/>
                <a:ea typeface="Noto Sans SC"/>
              </a:rPr>
              <a:t>装完并打开</a:t>
            </a:r>
          </a:p>
        </p:txBody>
      </p:sp>
      <p:sp>
        <p:nvSpPr>
          <p:cNvPr id="9" name="kpi-card-2"/>
          <p:cNvSpPr/>
          <p:nvPr/>
        </p:nvSpPr>
        <p:spPr>
          <a:xfrm>
            <a:off x="6273800" y="2000000"/>
            <a:ext cx="2438400" cy="1900000"/>
          </a:xfrm>
          <a:prstGeom prst="rect">
            <a:avLst/>
          </a:prstGeom>
          <a:solidFill>
            <a:srgbClr val="120B1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kpi-value-2"/>
          <p:cNvSpPr txBox="1"/>
          <p:nvPr/>
        </p:nvSpPr>
        <p:spPr>
          <a:xfrm>
            <a:off x="6273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A855F7"/>
                </a:solidFill>
                <a:latin typeface="Noto Sans CJK SC"/>
                <a:ea typeface="Noto Sans SC"/>
              </a:rPr>
              <a:t>1,109</a:t>
            </a:r>
          </a:p>
        </p:txBody>
      </p:sp>
      <p:sp>
        <p:nvSpPr>
          <p:cNvPr id="11" name="kpi-label-2"/>
          <p:cNvSpPr txBox="1"/>
          <p:nvPr/>
        </p:nvSpPr>
        <p:spPr>
          <a:xfrm>
            <a:off x="6273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9B86B5"/>
                </a:solidFill>
                <a:latin typeface="Noto Sans CJK SC"/>
                <a:ea typeface="Noto Sans SC"/>
              </a:rPr>
              <a:t>完成注册</a:t>
            </a:r>
          </a:p>
        </p:txBody>
      </p:sp>
      <p:sp>
        <p:nvSpPr>
          <p:cNvPr id="12" name="kpi-card-3"/>
          <p:cNvSpPr/>
          <p:nvPr/>
        </p:nvSpPr>
        <p:spPr>
          <a:xfrm>
            <a:off x="9067800" y="2000000"/>
            <a:ext cx="2438400" cy="1900000"/>
          </a:xfrm>
          <a:prstGeom prst="rect">
            <a:avLst/>
          </a:prstGeom>
          <a:solidFill>
            <a:srgbClr val="120B1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kpi-value-3"/>
          <p:cNvSpPr txBox="1"/>
          <p:nvPr/>
        </p:nvSpPr>
        <p:spPr>
          <a:xfrm>
            <a:off x="9067800" y="2000000"/>
            <a:ext cx="2438400" cy="1178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5400" b="1" dirty="0">
                <a:solidFill>
                  <a:srgbClr val="A855F7"/>
                </a:solidFill>
                <a:latin typeface="Noto Sans CJK SC"/>
                <a:ea typeface="Noto Sans SC"/>
              </a:rPr>
              <a:t>620</a:t>
            </a:r>
          </a:p>
        </p:txBody>
      </p:sp>
      <p:sp>
        <p:nvSpPr>
          <p:cNvPr id="14" name="kpi-label-3"/>
          <p:cNvSpPr txBox="1"/>
          <p:nvPr/>
        </p:nvSpPr>
        <p:spPr>
          <a:xfrm>
            <a:off x="9067800" y="3178000"/>
            <a:ext cx="2438400" cy="722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9B86B5"/>
                </a:solidFill>
                <a:latin typeface="Noto Sans CJK SC"/>
                <a:ea typeface="Noto Sans SC"/>
              </a:rPr>
              <a:t>第七天还在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F0E7FF"/>
                </a:solidFill>
                <a:latin typeface="Noto Sans CJK SC"/>
                <a:ea typeface="Noto Sans SC"/>
              </a:rPr>
              <a:t>五步之间，人是怎么少的</a:t>
            </a:r>
          </a:p>
        </p:txBody>
      </p:sp>
      <p:graphicFrame>
        <p:nvGraphicFramePr>
          <p:cNvPr id="3" name="c3"/>
          <p:cNvGraphicFramePr/>
          <p:nvPr/>
        </p:nvGraphicFramePr>
        <p:xfrm>
          <a:off x="685800" y="1700000"/>
          <a:ext cx="10820400" cy="3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clusion-bar"/>
          <p:cNvSpPr/>
          <p:nvPr/>
        </p:nvSpPr>
        <p:spPr>
          <a:xfrm>
            <a:off x="685800" y="5600000"/>
            <a:ext cx="10820400" cy="480000"/>
          </a:xfrm>
          <a:prstGeom prst="rect">
            <a:avLst/>
          </a:prstGeom>
          <a:solidFill>
            <a:srgbClr val="120B1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conclusion"/>
          <p:cNvSpPr txBox="1"/>
          <p:nvPr/>
        </p:nvSpPr>
        <p:spPr>
          <a:xfrm>
            <a:off x="685800" y="5600000"/>
            <a:ext cx="10820400" cy="4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600" b="0" dirty="0">
                <a:solidFill>
                  <a:srgbClr val="F0E7FF"/>
                </a:solidFill>
                <a:latin typeface="Noto Sans CJK SC"/>
                <a:ea typeface="Noto Sans SC"/>
              </a:rPr>
              <a:t>看见 → 商店页那一段掉得最狠，而它是我们唯一没做过设计的一段。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7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F0E7FF"/>
                </a:solidFill>
                <a:latin typeface="Noto Sans CJK SC"/>
                <a:ea typeface="Noto Sans SC"/>
              </a:rPr>
              <a:t>用户走过的四个屏</a:t>
            </a:r>
          </a:p>
        </p:txBody>
      </p:sp>
      <p:pic>
        <p:nvPicPr>
          <p:cNvPr id="3" name="p3" descr="手机上的社交信息流，内容一条接一条向下滚动"/>
          <p:cNvPicPr>
            <a:picLocks noChangeAspect="1"/>
          </p:cNvPicPr>
          <p:nvPr/>
        </p:nvPicPr>
        <p:blipFill>
          <a:blip r:embed="rId2"/>
          <a:srcRect t="6609" b="6609"/>
          <a:stretch>
            <a:fillRect/>
          </a:stretch>
        </p:blipFill>
        <p:spPr>
          <a:xfrm>
            <a:off x="685800" y="1700000"/>
            <a:ext cx="3505200" cy="2020000"/>
          </a:xfrm>
          <a:prstGeom prst="rect">
            <a:avLst/>
          </a:prstGeom>
        </p:spPr>
      </p:pic>
      <p:sp>
        <p:nvSpPr>
          <p:cNvPr id="4" name="caption-0"/>
          <p:cNvSpPr txBox="1"/>
          <p:nvPr/>
        </p:nvSpPr>
        <p:spPr>
          <a:xfrm>
            <a:off x="685800" y="3420000"/>
            <a:ext cx="3505200" cy="300000"/>
          </a:xfrm>
          <a:prstGeom prst="rect">
            <a:avLst/>
          </a:prstGeom>
          <a:solidFill>
            <a:srgbClr val="F0E7FF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F0E7FF"/>
                </a:solidFill>
                <a:latin typeface="Noto Sans CJK SC"/>
                <a:ea typeface="Noto Sans SC"/>
              </a:rPr>
              <a:t>第一步：信息流里两秒钟</a:t>
            </a:r>
          </a:p>
        </p:txBody>
      </p:sp>
      <p:pic>
        <p:nvPicPr>
          <p:cNvPr id="5" name="p5" descr="平铺摆放的手机与配件，屏幕朝上"/>
          <p:cNvPicPr>
            <a:picLocks noChangeAspect="1"/>
          </p:cNvPicPr>
          <p:nvPr/>
        </p:nvPicPr>
        <p:blipFill>
          <a:blip r:embed="rId3"/>
          <a:srcRect t="26949" b="26949"/>
          <a:stretch>
            <a:fillRect/>
          </a:stretch>
        </p:blipFill>
        <p:spPr>
          <a:xfrm>
            <a:off x="4343400" y="1700000"/>
            <a:ext cx="3505200" cy="2020000"/>
          </a:xfrm>
          <a:prstGeom prst="rect">
            <a:avLst/>
          </a:prstGeom>
        </p:spPr>
      </p:pic>
      <p:sp>
        <p:nvSpPr>
          <p:cNvPr id="6" name="caption-1"/>
          <p:cNvSpPr txBox="1"/>
          <p:nvPr/>
        </p:nvSpPr>
        <p:spPr>
          <a:xfrm>
            <a:off x="4343400" y="3420000"/>
            <a:ext cx="3505200" cy="300000"/>
          </a:xfrm>
          <a:prstGeom prst="rect">
            <a:avLst/>
          </a:prstGeom>
          <a:solidFill>
            <a:srgbClr val="F0E7FF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F0E7FF"/>
                </a:solidFill>
                <a:latin typeface="Noto Sans CJK SC"/>
                <a:ea typeface="Noto Sans SC"/>
              </a:rPr>
              <a:t>第二步：商店页——七成八在这里走掉</a:t>
            </a:r>
          </a:p>
        </p:txBody>
      </p:sp>
      <p:pic>
        <p:nvPicPr>
          <p:cNvPr id="7" name="p7" descr="手持手机正在操作屏幕"/>
          <p:cNvPicPr>
            <a:picLocks noChangeAspect="1"/>
          </p:cNvPicPr>
          <p:nvPr/>
        </p:nvPicPr>
        <p:blipFill>
          <a:blip r:embed="rId4"/>
          <a:srcRect t="6762" b="6762"/>
          <a:stretch>
            <a:fillRect/>
          </a:stretch>
        </p:blipFill>
        <p:spPr>
          <a:xfrm>
            <a:off x="8001000" y="1700000"/>
            <a:ext cx="3505200" cy="2020000"/>
          </a:xfrm>
          <a:prstGeom prst="rect">
            <a:avLst/>
          </a:prstGeom>
        </p:spPr>
      </p:pic>
      <p:sp>
        <p:nvSpPr>
          <p:cNvPr id="8" name="caption-2"/>
          <p:cNvSpPr txBox="1"/>
          <p:nvPr/>
        </p:nvSpPr>
        <p:spPr>
          <a:xfrm>
            <a:off x="8001000" y="3420000"/>
            <a:ext cx="3505200" cy="300000"/>
          </a:xfrm>
          <a:prstGeom prst="rect">
            <a:avLst/>
          </a:prstGeom>
          <a:solidFill>
            <a:srgbClr val="F0E7FF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F0E7FF"/>
                </a:solidFill>
                <a:latin typeface="Noto Sans CJK SC"/>
                <a:ea typeface="Noto Sans SC"/>
              </a:rPr>
              <a:t>第三步：装完的第一分钟</a:t>
            </a:r>
          </a:p>
        </p:txBody>
      </p:sp>
      <p:pic>
        <p:nvPicPr>
          <p:cNvPr id="9" name="p9" descr="笔记本屏幕上的网页界面"/>
          <p:cNvPicPr>
            <a:picLocks noChangeAspect="1"/>
          </p:cNvPicPr>
          <p:nvPr/>
        </p:nvPicPr>
        <p:blipFill>
          <a:blip r:embed="rId5"/>
          <a:srcRect t="6762" b="6762"/>
          <a:stretch>
            <a:fillRect/>
          </a:stretch>
        </p:blipFill>
        <p:spPr>
          <a:xfrm>
            <a:off x="685800" y="3920000"/>
            <a:ext cx="3505200" cy="2020000"/>
          </a:xfrm>
          <a:prstGeom prst="rect">
            <a:avLst/>
          </a:prstGeom>
        </p:spPr>
      </p:pic>
      <p:sp>
        <p:nvSpPr>
          <p:cNvPr id="10" name="caption-3"/>
          <p:cNvSpPr txBox="1"/>
          <p:nvPr/>
        </p:nvSpPr>
        <p:spPr>
          <a:xfrm>
            <a:off x="685800" y="5640000"/>
            <a:ext cx="3505200" cy="300000"/>
          </a:xfrm>
          <a:prstGeom prst="rect">
            <a:avLst/>
          </a:prstGeom>
          <a:solidFill>
            <a:srgbClr val="F0E7FF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F0E7FF"/>
                </a:solidFill>
                <a:latin typeface="Noto Sans CJK SC"/>
                <a:ea typeface="Noto Sans SC"/>
              </a:rPr>
              <a:t>第四步：第二天从网页回来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12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dot"/>
          <p:cNvSpPr/>
          <p:nvPr/>
        </p:nvSpPr>
        <p:spPr>
          <a:xfrm>
            <a:off x="685800" y="620000"/>
            <a:ext cx="200000" cy="7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itle-6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F0E7FF"/>
                </a:solidFill>
                <a:latin typeface="Noto Sans CJK SC"/>
                <a:ea typeface="Noto Sans SC"/>
              </a:rPr>
              <a:t>为什么是那一步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10820400" cy="45484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F0E7FF"/>
                </a:solidFill>
                <a:latin typeface="Noto Sans CJK SC"/>
                <a:ea typeface="Noto Sans SC"/>
              </a:rPr>
              <a:t>商店页的首屏截图，是三个月前为另一个版本做的。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F0E7FF"/>
                </a:solidFill>
                <a:latin typeface="Noto Sans CJK SC"/>
                <a:ea typeface="Noto Sans SC"/>
              </a:rPr>
              <a:t>标题里写的是功能名，不是用户要解决的事。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F0E7FF"/>
                </a:solidFill>
                <a:latin typeface="Noto Sans CJK SC"/>
                <a:ea typeface="Noto Sans SC"/>
              </a:rPr>
              <a:t>加载中位 4.1 秒——在信息流跳出来的人，不会等。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桌面上的手机与笔记本，屏幕显示应用界面"/>
          <p:cNvPicPr>
            <a:picLocks noChangeAspect="1"/>
          </p:cNvPicPr>
          <p:nvPr/>
        </p:nvPicPr>
        <p:blipFill>
          <a:blip r:embed="rId2"/>
          <a:srcRect l="13325" r="13325"/>
          <a:stretch>
            <a:fillRect/>
          </a:stretch>
        </p:blipFill>
        <p:spPr>
          <a:xfrm>
            <a:off x="685800" y="1700000"/>
            <a:ext cx="3962400" cy="3600000"/>
          </a:xfrm>
          <a:prstGeom prst="rect">
            <a:avLst/>
          </a:prstGeom>
        </p:spPr>
      </p:pic>
      <p:sp>
        <p:nvSpPr>
          <p:cNvPr id="3" name="title-7"/>
          <p:cNvSpPr txBox="1"/>
          <p:nvPr/>
        </p:nvSpPr>
        <p:spPr>
          <a:xfrm>
            <a:off x="55626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F0E7FF"/>
                </a:solidFill>
                <a:latin typeface="Noto Sans CJK SC"/>
                <a:ea typeface="Noto Sans SC"/>
              </a:rPr>
              <a:t>那一屏长什么样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5626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endParaRPr lang="zh-CN"/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F0E7FF"/>
                </a:solidFill>
                <a:latin typeface="Noto Sans CJK SC"/>
                <a:ea typeface="Noto Sans SC"/>
              </a:rPr>
              <a:t>改一版，和不改</a:t>
            </a:r>
          </a:p>
        </p:txBody>
      </p:sp>
      <p:sp>
        <p:nvSpPr>
          <p:cNvPr id="3" name="left-header"/>
          <p:cNvSpPr/>
          <p:nvPr/>
        </p:nvSpPr>
        <p:spPr>
          <a:xfrm>
            <a:off x="685800" y="1700000"/>
            <a:ext cx="4724400" cy="42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left-header-text"/>
          <p:cNvSpPr txBox="1"/>
          <p:nvPr/>
        </p:nvSpPr>
        <p:spPr>
          <a:xfrm>
            <a:off x="685800" y="1700000"/>
            <a:ext cx="4724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1" dirty="0">
                <a:solidFill>
                  <a:srgbClr val="F0E7FF"/>
                </a:solidFill>
                <a:latin typeface="Noto Sans CJK SC"/>
                <a:ea typeface="Noto Sans SC"/>
              </a:rPr>
              <a:t>A</a:t>
            </a:r>
          </a:p>
        </p:txBody>
      </p:sp>
      <p:sp>
        <p:nvSpPr>
          <p:cNvPr id="5" name="left-items"/>
          <p:cNvSpPr txBox="1"/>
          <p:nvPr/>
        </p:nvSpPr>
        <p:spPr>
          <a:xfrm>
            <a:off x="685800" y="2120000"/>
            <a:ext cx="4724400" cy="276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F0E7FF"/>
                </a:solidFill>
                <a:latin typeface="Noto Sans CJK SC"/>
                <a:ea typeface="Noto Sans SC"/>
              </a:rPr>
              <a:t>旧版：功能名做标题，三个月前的截图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F0E7FF"/>
                </a:solidFill>
                <a:latin typeface="Noto Sans CJK SC"/>
                <a:ea typeface="Noto Sans SC"/>
              </a:rPr>
              <a:t>商店页停留中位 6 秒</a:t>
            </a:r>
          </a:p>
        </p:txBody>
      </p:sp>
      <p:sp>
        <p:nvSpPr>
          <p:cNvPr id="6" name="right-header"/>
          <p:cNvSpPr/>
          <p:nvPr/>
        </p:nvSpPr>
        <p:spPr>
          <a:xfrm>
            <a:off x="5810200" y="1700000"/>
            <a:ext cx="4724400" cy="420000"/>
          </a:xfrm>
          <a:prstGeom prst="rect">
            <a:avLst/>
          </a:prstGeom>
          <a:solidFill>
            <a:srgbClr val="9B86B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right-header-text"/>
          <p:cNvSpPr txBox="1"/>
          <p:nvPr/>
        </p:nvSpPr>
        <p:spPr>
          <a:xfrm>
            <a:off x="5810200" y="1700000"/>
            <a:ext cx="4724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1" dirty="0">
                <a:solidFill>
                  <a:srgbClr val="F0E7FF"/>
                </a:solidFill>
                <a:latin typeface="Noto Sans CJK SC"/>
                <a:ea typeface="Noto Sans SC"/>
              </a:rPr>
              <a:t>只改了标题与首屏两张图，没动产品。新版是上线第 4 天开始的，样本 3,100。</a:t>
            </a:r>
          </a:p>
        </p:txBody>
      </p:sp>
      <p:sp>
        <p:nvSpPr>
          <p:cNvPr id="8" name="right-items"/>
          <p:cNvSpPr txBox="1"/>
          <p:nvPr/>
        </p:nvSpPr>
        <p:spPr>
          <a:xfrm>
            <a:off x="5810200" y="2120000"/>
            <a:ext cx="4724400" cy="276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F0E7FF"/>
                </a:solidFill>
                <a:latin typeface="Noto Sans CJK SC"/>
                <a:ea typeface="Noto Sans SC"/>
              </a:rPr>
              <a:t>新版：用一句用户原话做标题，截图当天重拍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F0E7FF"/>
                </a:solidFill>
                <a:latin typeface="Noto Sans CJK SC"/>
                <a:ea typeface="Noto Sans SC"/>
              </a:rPr>
              <a:t>商店页停留中位 14 秒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10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F0E7FF"/>
                </a:solidFill>
                <a:latin typeface="Noto Sans CJK SC"/>
                <a:ea typeface="Noto Sans SC"/>
              </a:rPr>
              <a:t>分渠道看，差别更大</a:t>
            </a:r>
          </a:p>
        </p:txBody>
      </p:sp>
      <p:graphicFrame>
        <p:nvGraphicFramePr>
          <p:cNvPr id="3" name="c3"/>
          <p:cNvGraphicFramePr/>
          <p:nvPr/>
        </p:nvGraphicFramePr>
        <p:xfrm>
          <a:off x="685800" y="1700000"/>
          <a:ext cx="5943600" cy="3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notes"/>
          <p:cNvSpPr txBox="1"/>
          <p:nvPr/>
        </p:nvSpPr>
        <p:spPr>
          <a:xfrm>
            <a:off x="6934200" y="1700000"/>
            <a:ext cx="3962400" cy="3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endParaRPr lang="zh-CN"/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桌前的人正在使用电脑与手机工作"/>
          <p:cNvPicPr>
            <a:picLocks noChangeAspect="1"/>
          </p:cNvPicPr>
          <p:nvPr/>
        </p:nvPicPr>
        <p:blipFill>
          <a:blip r:embed="rId2"/>
          <a:srcRect l="13325" r="13325"/>
          <a:stretch>
            <a:fillRect/>
          </a:stretch>
        </p:blipFill>
        <p:spPr>
          <a:xfrm>
            <a:off x="7543800" y="1700000"/>
            <a:ext cx="3962400" cy="3600000"/>
          </a:xfrm>
          <a:prstGeom prst="rect">
            <a:avLst/>
          </a:prstGeom>
        </p:spPr>
      </p:pic>
      <p:sp>
        <p:nvSpPr>
          <p:cNvPr id="3" name="title-10"/>
          <p:cNvSpPr txBox="1"/>
          <p:nvPr/>
        </p:nvSpPr>
        <p:spPr>
          <a:xfrm>
            <a:off x="6858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F0E7FF"/>
                </a:solidFill>
                <a:latin typeface="Noto Sans CJK SC"/>
                <a:ea typeface="Noto Sans SC"/>
              </a:rPr>
              <a:t>第七天还在的那 620 个人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endParaRPr lang="zh-CN"/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1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F0E7FF"/>
                </a:solidFill>
                <a:latin typeface="Noto Sans CJK SC"/>
                <a:ea typeface="Noto Sans SC"/>
              </a:rPr>
              <a:t>那一夜发生了什么</a:t>
            </a:r>
          </a:p>
        </p:txBody>
      </p:sp>
      <p:sp>
        <p:nvSpPr>
          <p:cNvPr id="3" name="axis"/>
          <p:cNvSpPr/>
          <p:nvPr/>
        </p:nvSpPr>
        <p:spPr>
          <a:xfrm>
            <a:off x="685800" y="3400000"/>
            <a:ext cx="10820400" cy="4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node-0"/>
          <p:cNvSpPr/>
          <p:nvPr/>
        </p:nvSpPr>
        <p:spPr>
          <a:xfrm>
            <a:off x="685800" y="3310000"/>
            <a:ext cx="180000" cy="1800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at-0"/>
          <p:cNvSpPr txBox="1"/>
          <p:nvPr/>
        </p:nvSpPr>
        <p:spPr>
          <a:xfrm>
            <a:off x="-576750" y="3000000"/>
            <a:ext cx="27051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F0E7FF"/>
                </a:solidFill>
                <a:latin typeface="Noto Sans CJK SC"/>
                <a:ea typeface="Noto Sans SC"/>
              </a:rPr>
              <a:t>20:00</a:t>
            </a:r>
          </a:p>
        </p:txBody>
      </p:sp>
      <p:sp>
        <p:nvSpPr>
          <p:cNvPr id="6" name="label-0"/>
          <p:cNvSpPr txBox="1"/>
          <p:nvPr/>
        </p:nvSpPr>
        <p:spPr>
          <a:xfrm>
            <a:off x="-576750" y="370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F0E7FF"/>
                </a:solidFill>
                <a:latin typeface="Noto Sans CJK SC"/>
                <a:ea typeface="Noto Sans SC"/>
              </a:rPr>
              <a:t>推文发出</a:t>
            </a:r>
          </a:p>
        </p:txBody>
      </p:sp>
      <p:sp>
        <p:nvSpPr>
          <p:cNvPr id="7" name="detail-0"/>
          <p:cNvSpPr txBox="1"/>
          <p:nvPr/>
        </p:nvSpPr>
        <p:spPr>
          <a:xfrm>
            <a:off x="-576750" y="402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9B86B5"/>
                </a:solidFill>
                <a:latin typeface="Noto Sans CJK SC"/>
                <a:ea typeface="Noto Sans SC"/>
              </a:rPr>
              <a:t>前 30 分钟点击占全天的四成</a:t>
            </a:r>
          </a:p>
        </p:txBody>
      </p:sp>
      <p:sp>
        <p:nvSpPr>
          <p:cNvPr id="8" name="node-1"/>
          <p:cNvSpPr/>
          <p:nvPr/>
        </p:nvSpPr>
        <p:spPr>
          <a:xfrm>
            <a:off x="4232600" y="3310000"/>
            <a:ext cx="180000" cy="1800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" name="at-1"/>
          <p:cNvSpPr txBox="1"/>
          <p:nvPr/>
        </p:nvSpPr>
        <p:spPr>
          <a:xfrm>
            <a:off x="2970050" y="3000000"/>
            <a:ext cx="27051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F0E7FF"/>
                </a:solidFill>
                <a:latin typeface="Noto Sans CJK SC"/>
                <a:ea typeface="Noto Sans SC"/>
              </a:rPr>
              <a:t>20:40</a:t>
            </a:r>
          </a:p>
        </p:txBody>
      </p:sp>
      <p:sp>
        <p:nvSpPr>
          <p:cNvPr id="10" name="label-1"/>
          <p:cNvSpPr txBox="1"/>
          <p:nvPr/>
        </p:nvSpPr>
        <p:spPr>
          <a:xfrm>
            <a:off x="2970050" y="370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F0E7FF"/>
                </a:solidFill>
                <a:latin typeface="Noto Sans CJK SC"/>
                <a:ea typeface="Noto Sans SC"/>
              </a:rPr>
              <a:t>商店页排队</a:t>
            </a:r>
          </a:p>
        </p:txBody>
      </p:sp>
      <p:sp>
        <p:nvSpPr>
          <p:cNvPr id="11" name="detail-1"/>
          <p:cNvSpPr txBox="1"/>
          <p:nvPr/>
        </p:nvSpPr>
        <p:spPr>
          <a:xfrm>
            <a:off x="2970050" y="402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9B86B5"/>
                </a:solidFill>
                <a:latin typeface="Noto Sans CJK SC"/>
                <a:ea typeface="Noto Sans SC"/>
              </a:rPr>
              <a:t>加载中位从 2.2 秒升到 4.1 秒</a:t>
            </a:r>
          </a:p>
        </p:txBody>
      </p:sp>
      <p:sp>
        <p:nvSpPr>
          <p:cNvPr id="12" name="node-2"/>
          <p:cNvSpPr/>
          <p:nvPr/>
        </p:nvSpPr>
        <p:spPr>
          <a:xfrm>
            <a:off x="7779400" y="3310000"/>
            <a:ext cx="180000" cy="1800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at-2"/>
          <p:cNvSpPr txBox="1"/>
          <p:nvPr/>
        </p:nvSpPr>
        <p:spPr>
          <a:xfrm>
            <a:off x="6516850" y="3000000"/>
            <a:ext cx="27051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F0E7FF"/>
                </a:solidFill>
                <a:latin typeface="Noto Sans CJK SC"/>
                <a:ea typeface="Noto Sans SC"/>
              </a:rPr>
              <a:t>22:15</a:t>
            </a:r>
          </a:p>
        </p:txBody>
      </p:sp>
      <p:sp>
        <p:nvSpPr>
          <p:cNvPr id="14" name="label-2"/>
          <p:cNvSpPr txBox="1"/>
          <p:nvPr/>
        </p:nvSpPr>
        <p:spPr>
          <a:xfrm>
            <a:off x="6516850" y="370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F0E7FF"/>
                </a:solidFill>
                <a:latin typeface="Noto Sans CJK SC"/>
                <a:ea typeface="Noto Sans SC"/>
              </a:rPr>
              <a:t>临时换了首屏截图</a:t>
            </a:r>
          </a:p>
        </p:txBody>
      </p:sp>
      <p:sp>
        <p:nvSpPr>
          <p:cNvPr id="15" name="detail-2"/>
          <p:cNvSpPr txBox="1"/>
          <p:nvPr/>
        </p:nvSpPr>
        <p:spPr>
          <a:xfrm>
            <a:off x="6516850" y="402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9B86B5"/>
                </a:solidFill>
                <a:latin typeface="Noto Sans CJK SC"/>
                <a:ea typeface="Noto Sans SC"/>
              </a:rPr>
              <a:t>换图后一小时转化回到 24%</a:t>
            </a:r>
          </a:p>
        </p:txBody>
      </p:sp>
      <p:sp>
        <p:nvSpPr>
          <p:cNvPr id="16" name="node-3"/>
          <p:cNvSpPr/>
          <p:nvPr/>
        </p:nvSpPr>
        <p:spPr>
          <a:xfrm>
            <a:off x="11326200" y="3310000"/>
            <a:ext cx="180000" cy="1800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at-3"/>
          <p:cNvSpPr txBox="1"/>
          <p:nvPr/>
        </p:nvSpPr>
        <p:spPr>
          <a:xfrm>
            <a:off x="10063650" y="3000000"/>
            <a:ext cx="27051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F0E7FF"/>
                </a:solidFill>
                <a:latin typeface="Noto Sans CJK SC"/>
                <a:ea typeface="Noto Sans SC"/>
              </a:rPr>
              <a:t>次日 09:00</a:t>
            </a:r>
          </a:p>
        </p:txBody>
      </p:sp>
      <p:sp>
        <p:nvSpPr>
          <p:cNvPr id="18" name="label-3"/>
          <p:cNvSpPr txBox="1"/>
          <p:nvPr/>
        </p:nvSpPr>
        <p:spPr>
          <a:xfrm>
            <a:off x="10063650" y="370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F0E7FF"/>
                </a:solidFill>
                <a:latin typeface="Noto Sans CJK SC"/>
                <a:ea typeface="Noto Sans SC"/>
              </a:rPr>
              <a:t>搜索流量接管</a:t>
            </a:r>
          </a:p>
        </p:txBody>
      </p:sp>
      <p:sp>
        <p:nvSpPr>
          <p:cNvPr id="19" name="detail-3"/>
          <p:cNvSpPr txBox="1"/>
          <p:nvPr/>
        </p:nvSpPr>
        <p:spPr>
          <a:xfrm>
            <a:off x="10063650" y="4020000"/>
            <a:ext cx="27051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9B86B5"/>
                </a:solidFill>
                <a:latin typeface="Noto Sans CJK SC"/>
                <a:ea typeface="Noto Sans SC"/>
              </a:rPr>
              <a:t>从这里开始，留存曲线换了一条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21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2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F0E7FF"/>
                </a:solidFill>
                <a:latin typeface="Noto Sans CJK SC"/>
                <a:ea typeface="Noto Sans SC"/>
              </a:rPr>
              <a:t>明天改哪两件</a:t>
            </a:r>
          </a:p>
        </p:txBody>
      </p:sp>
      <p:pic>
        <p:nvPicPr>
          <p:cNvPr id="3" name="p3" descr="手中的智能手机，屏幕亮着"/>
          <p:cNvPicPr>
            <a:picLocks noChangeAspect="1"/>
          </p:cNvPicPr>
          <p:nvPr/>
        </p:nvPicPr>
        <p:blipFill>
          <a:blip r:embed="rId2"/>
          <a:srcRect l="2705" r="2705"/>
          <a:stretch>
            <a:fillRect/>
          </a:stretch>
        </p:blipFill>
        <p:spPr>
          <a:xfrm>
            <a:off x="685800" y="1700000"/>
            <a:ext cx="3505200" cy="2400000"/>
          </a:xfrm>
          <a:prstGeom prst="rect">
            <a:avLst/>
          </a:prstGeom>
        </p:spPr>
      </p:pic>
      <p:graphicFrame>
        <p:nvGraphicFramePr>
          <p:cNvPr id="4" name="c4"/>
          <p:cNvGraphicFramePr/>
          <p:nvPr/>
        </p:nvGraphicFramePr>
        <p:xfrm>
          <a:off x="4343400" y="1700000"/>
          <a:ext cx="3505200" cy="2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bullets"/>
          <p:cNvSpPr txBox="1"/>
          <p:nvPr/>
        </p:nvSpPr>
        <p:spPr>
          <a:xfrm>
            <a:off x="8001000" y="1700000"/>
            <a:ext cx="3505200" cy="24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F0E7FF"/>
                </a:solidFill>
                <a:latin typeface="Noto Sans CJK SC"/>
                <a:ea typeface="Noto Sans SC"/>
              </a:rPr>
              <a:t>商店页首屏与标题：本周内重做，归属写进产品看板。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F0E7FF"/>
                </a:solidFill>
                <a:latin typeface="Noto Sans CJK SC"/>
                <a:ea typeface="Noto Sans SC"/>
              </a:rPr>
              <a:t>第一次成功的路径：砍掉注册前的两步，下个版本。</a:t>
            </a:r>
          </a:p>
        </p:txBody>
      </p:sp>
      <p:sp>
        <p:nvSpPr>
          <p:cNvPr id="6" name="conclusion-bar"/>
          <p:cNvSpPr/>
          <p:nvPr/>
        </p:nvSpPr>
        <p:spPr>
          <a:xfrm>
            <a:off x="685800" y="4400000"/>
            <a:ext cx="10820400" cy="700000"/>
          </a:xfrm>
          <a:prstGeom prst="rect">
            <a:avLst/>
          </a:prstGeom>
          <a:solidFill>
            <a:srgbClr val="120B1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conclusion"/>
          <p:cNvSpPr txBox="1"/>
          <p:nvPr/>
        </p:nvSpPr>
        <p:spPr>
          <a:xfrm>
            <a:off x="685800" y="4400000"/>
            <a:ext cx="10820400" cy="7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600" b="0" dirty="0">
                <a:solidFill>
                  <a:srgbClr val="F0E7FF"/>
                </a:solidFill>
                <a:latin typeface="Noto Sans CJK SC"/>
                <a:ea typeface="Noto Sans SC"/>
              </a:rPr>
              <a:t>预计值按本次实测的分段转化推的，不是目标值。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/>
          <p:nvPr/>
        </p:nvSpPr>
        <p:spPr>
          <a:xfrm>
            <a:off x="1609800" y="2200000"/>
            <a:ext cx="300000" cy="30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quote"/>
          <p:cNvSpPr txBox="1"/>
          <p:nvPr/>
        </p:nvSpPr>
        <p:spPr>
          <a:xfrm>
            <a:off x="2209800" y="2200000"/>
            <a:ext cx="7163400" cy="14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4000" b="0" dirty="0">
                <a:solidFill>
                  <a:srgbClr val="F0E7FF"/>
                </a:solidFill>
                <a:latin typeface="Noto Sans CJK SC"/>
                <a:ea typeface="Noto Sans SC"/>
              </a:rPr>
              <a:t>我不是不想用，我是没搞清楚它是干什么的就退出去了。</a:t>
            </a:r>
          </a:p>
        </p:txBody>
      </p:sp>
      <p:sp>
        <p:nvSpPr>
          <p:cNvPr id="4" name="quote-attribution"/>
          <p:cNvSpPr txBox="1"/>
          <p:nvPr/>
        </p:nvSpPr>
        <p:spPr>
          <a:xfrm>
            <a:off x="2209800" y="4000000"/>
            <a:ext cx="7163400" cy="4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800" b="0" dirty="0">
                <a:solidFill>
                  <a:srgbClr val="9B86B5"/>
                </a:solidFill>
                <a:latin typeface="Noto Sans CJK SC"/>
                <a:ea typeface="Noto Sans SC"/>
              </a:rPr>
              <a:t>第 4 天回访，信息流渠道用户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首发复盘 · 2026-03 · 示例材料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13 / 13</a:t>
            </a:r>
          </a:p>
        </p:txBody>
      </p:sp>
      <p:sp>
        <p:nvSpPr>
          <p:cNvPr id="7" name="oceanleo-credits"/>
          <p:cNvSpPr txBox="1"/>
          <p:nvPr/>
        </p:nvSpPr>
        <p:spPr>
          <a:xfrm>
            <a:off x="685800" y="6060800"/>
            <a:ext cx="10820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9B86B5"/>
                </a:solidFill>
                <a:latin typeface="Noto Sans CJK SC"/>
                <a:ea typeface="Noto Sans SC"/>
              </a:rPr>
              <a:t>6 张场景照片取自 OceanLeo 图池的 Pixabay 来源（usage_scope=component-only，仅作复合成品内的像素成分） (PIXABAY); 1 张场景照片取自 OceanLeo 图池的 Pexels 来源（usage_scope=component-only，仅作复合成品内的像素成分） (PEXELS); 正文、数据与结论均为 OceanLeo 第一方原创示例，不对应任何真实产品 (CC0-1.0)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Leo Deck">
  <a:themeElements>
    <a:clrScheme name="OceanLeo">
      <a:dk1>
        <a:srgbClr val="F0E7FF"/>
      </a:dk1>
      <a:lt1>
        <a:srgbClr val="F0E7FF"/>
      </a:lt1>
      <a:dk2>
        <a:srgbClr val="9B86B5"/>
      </a:dk2>
      <a:lt2>
        <a:srgbClr val="120B1F"/>
      </a:lt2>
      <a:accent1>
        <a:srgbClr val="A855F7"/>
      </a:accent1>
      <a:accent2>
        <a:srgbClr val="9333EA"/>
      </a:accent2>
      <a:accent3>
        <a:srgbClr val="6D28D9"/>
      </a:accent3>
      <a:accent4>
        <a:srgbClr val="C084FC"/>
      </a:accent4>
      <a:accent5>
        <a:srgbClr val="D8B4FE"/>
      </a:accent5>
      <a:accent6>
        <a:srgbClr val="9B86B5"/>
      </a:accent6>
      <a:hlink>
        <a:srgbClr val="0969DA"/>
      </a:hlink>
      <a:folHlink>
        <a:srgbClr val="8250DF"/>
      </a:folHlink>
    </a:clrScheme>
    <a:fontScheme name="OceanLeo">
      <a:majorFont>
        <a:latin typeface="Noto Sans CJK SC"/>
        <a:ea typeface="Noto Sans SC"/>
        <a:cs typeface=""/>
      </a:majorFont>
      <a:minorFont>
        <a:latin typeface="Noto Sans CJK SC"/>
        <a:ea typeface="Noto Sans SC"/>
        <a:cs typeface=""/>
      </a:minorFont>
    </a:fontScheme>
    <a:fmtScheme name="OceanLeo">
      <a:fillStyleLst>
        <a:solidFill>
          <a:schemeClr val="phClr">
            <a:lumMod val="100000"/>
          </a:schemeClr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>
            <a:lumMod val="100000"/>
          </a:schemeClr>
        </a:solidFill>
        <a:solidFill>
          <a:schemeClr val="phClr">
            <a:lumMod val="95000"/>
          </a:schemeClr>
        </a:solidFill>
        <a:solidFill>
          <a:schemeClr val="phClr">
            <a:lumMod val="85000"/>
          </a:schemeClr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首发那一夜：10,412 次点击，第七天还剩 620 个人</dc:title>
  <dc:subject>首发那一夜：10,412 次点击，第七天还剩 620 个人</dc:subject>
  <dc:creator>OceanLeo</dc:creator>
  <cp:lastModifiedBy>OceanLeo</cp:lastModifiedBy>
  <cp:revision>1</cp:revision>
  <dcterms:created xsi:type="dcterms:W3CDTF">2026-07-29T00:00:00Z</dcterms:created>
  <dcterms:modified xsi:type="dcterms:W3CDTF">2026-07-29T00:00:00Z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ceanLeoCredits">
    <vt:lpwstr>6 张场景照片取自 OceanLeo 图池的 Pixabay 来源（usage_scope=component-only，仅作复合成品内的像素成分） (PIXABAY); 1 张场景照片取自 OceanLeo 图池的 Pexels 来源（usage_scope=component-only，仅作复合成品内的像素成分） (PEXELS); 正文、数据与结论均为 OceanLeo 第一方原创示例，不对应任何真实产品 (CC0-1.0)</vt:lpwstr>
  </property>
</Properties>
</file>