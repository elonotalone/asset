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theme" Target="theme/theme1.xml"/><Relationship Id="rId12" Type="http://schemas.openxmlformats.org/officeDocument/2006/relationships/notesMaster" Target="notesMasters/notesMaster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先说清楚这节课不教画画，教的是从版画里拆出来的构图规则，今天下课前每人交一版草图。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让大家先看 20 秒再讲。看的时候问一句：这张画里最远的东西是什么颜色？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念到哪一格就指哪一格，不要按顺序念完再讲。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现场提问：你们上一版海报里，最大的一块空白在哪？多半在最下面，那是版式剩下的，不是设计出来的。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这一步做完再看一眼第 2 页那张浪，它的前景也是被裁断的。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给 15 分钟，不许打开素材网站，先用铅笔。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指给他们看被裁断的那条岸线。这是全课最容易被忽略的一笔。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8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错误二最常见，也最难劝——它看起来最省事。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9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强调那张失败稿。上一期只有三个人带了，讲得最透的就是那三张。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title"/>
          <p:cNvSpPr>
            <a:spLocks noGrp="1"/>
          </p:cNvSpPr>
          <p:nvPr>
            <p:ph type="title"/>
          </p:nvPr>
        </p:nvSpPr>
        <p:spPr>
          <a:xfrm>
            <a:off x="685800" y="1500000"/>
            <a:ext cx="10820400" cy="9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title-accentBar"/>
          <p:cNvSpPr>
            <a:spLocks noGrp="1"/>
          </p:cNvSpPr>
          <p:nvPr>
            <p:ph type="body" idx="1"/>
          </p:nvPr>
        </p:nvSpPr>
        <p:spPr>
          <a:xfrm>
            <a:off x="685800" y="2400000"/>
            <a:ext cx="10820400" cy="9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title-subtitle"/>
          <p:cNvSpPr>
            <a:spLocks noGrp="1"/>
          </p:cNvSpPr>
          <p:nvPr>
            <p:ph type="body" idx="2"/>
          </p:nvPr>
        </p:nvSpPr>
        <p:spPr>
          <a:xfrm>
            <a:off x="685800" y="2700000"/>
            <a:ext cx="10820400" cy="6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accentBar"/>
          <p:cNvSpPr>
            <a:spLocks noGrp="1"/>
          </p:cNvSpPr>
          <p:nvPr>
            <p:ph type="title"/>
          </p:nvPr>
        </p:nvSpPr>
        <p:spPr>
          <a:xfrm>
            <a:off x="0" y="0"/>
            <a:ext cx="460000" cy="6858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section-title"/>
          <p:cNvSpPr>
            <a:spLocks noGrp="1"/>
          </p:cNvSpPr>
          <p:nvPr>
            <p:ph type="body" idx="1"/>
          </p:nvPr>
        </p:nvSpPr>
        <p:spPr>
          <a:xfrm>
            <a:off x="1000000" y="2600000"/>
            <a:ext cx="10506200" cy="9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section-subtitle"/>
          <p:cNvSpPr>
            <a:spLocks noGrp="1"/>
          </p:cNvSpPr>
          <p:nvPr>
            <p:ph type="body" idx="2"/>
          </p:nvPr>
        </p:nvSpPr>
        <p:spPr>
          <a:xfrm>
            <a:off x="1000000" y="3600000"/>
            <a:ext cx="10506200" cy="6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ullets-accentDot"/>
          <p:cNvSpPr>
            <a:spLocks noGrp="1"/>
          </p:cNvSpPr>
          <p:nvPr>
            <p:ph type="title"/>
          </p:nvPr>
        </p:nvSpPr>
        <p:spPr>
          <a:xfrm>
            <a:off x="685800" y="620000"/>
            <a:ext cx="200000" cy="7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bullets-title"/>
          <p:cNvSpPr>
            <a:spLocks noGrp="1"/>
          </p:cNvSpPr>
          <p:nvPr>
            <p:ph type="body" idx="1"/>
          </p:nvPr>
        </p:nvSpPr>
        <p:spPr>
          <a:xfrm>
            <a:off x="685800" y="760000"/>
            <a:ext cx="108204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bullets-bullets"/>
          <p:cNvSpPr>
            <a:spLocks noGrp="1"/>
          </p:cNvSpPr>
          <p:nvPr>
            <p:ph type="body" idx="2"/>
          </p:nvPr>
        </p:nvSpPr>
        <p:spPr>
          <a:xfrm>
            <a:off x="685800" y="1700000"/>
            <a:ext cx="10820400" cy="45484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wo-column-title"/>
          <p:cNvSpPr>
            <a:spLocks noGrp="1"/>
          </p:cNvSpPr>
          <p:nvPr>
            <p:ph type="title"/>
          </p:nvPr>
        </p:nvSpPr>
        <p:spPr>
          <a:xfrm>
            <a:off x="685800" y="760000"/>
            <a:ext cx="108204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two-column-left"/>
          <p:cNvSpPr>
            <a:spLocks noGrp="1"/>
          </p:cNvSpPr>
          <p:nvPr>
            <p:ph type="body" idx="1"/>
          </p:nvPr>
        </p:nvSpPr>
        <p:spPr>
          <a:xfrm>
            <a:off x="685800" y="1700000"/>
            <a:ext cx="4724400" cy="45484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two-column-right"/>
          <p:cNvSpPr>
            <a:spLocks noGrp="1"/>
          </p:cNvSpPr>
          <p:nvPr>
            <p:ph type="body" idx="2"/>
          </p:nvPr>
        </p:nvSpPr>
        <p:spPr>
          <a:xfrm>
            <a:off x="5810200" y="1700000"/>
            <a:ext cx="4724400" cy="45484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data-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a-table-title"/>
          <p:cNvSpPr>
            <a:spLocks noGrp="1"/>
          </p:cNvSpPr>
          <p:nvPr>
            <p:ph type="title"/>
          </p:nvPr>
        </p:nvSpPr>
        <p:spPr>
          <a:xfrm>
            <a:off x="685800" y="760000"/>
            <a:ext cx="108204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data-table-table"/>
          <p:cNvSpPr>
            <a:spLocks noGrp="1"/>
          </p:cNvSpPr>
          <p:nvPr>
            <p:ph type="body" idx="1"/>
          </p:nvPr>
        </p:nvSpPr>
        <p:spPr>
          <a:xfrm>
            <a:off x="685800" y="1700000"/>
            <a:ext cx="10820400" cy="45484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image-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-full-image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image-full-scrim"/>
          <p:cNvSpPr>
            <a:spLocks noGrp="1"/>
          </p:cNvSpPr>
          <p:nvPr>
            <p:ph type="body" idx="1"/>
          </p:nvPr>
        </p:nvSpPr>
        <p:spPr>
          <a:xfrm>
            <a:off x="0" y="5200000"/>
            <a:ext cx="12192000" cy="10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image-full-title"/>
          <p:cNvSpPr>
            <a:spLocks noGrp="1"/>
          </p:cNvSpPr>
          <p:nvPr>
            <p:ph type="body" idx="2"/>
          </p:nvPr>
        </p:nvSpPr>
        <p:spPr>
          <a:xfrm>
            <a:off x="685800" y="5200000"/>
            <a:ext cx="10820400" cy="10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-left-image"/>
          <p:cNvSpPr>
            <a:spLocks noGrp="1"/>
          </p:cNvSpPr>
          <p:nvPr>
            <p:ph type="title"/>
          </p:nvPr>
        </p:nvSpPr>
        <p:spPr>
          <a:xfrm>
            <a:off x="685800" y="1700000"/>
            <a:ext cx="3962400" cy="36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image-left-title"/>
          <p:cNvSpPr>
            <a:spLocks noGrp="1"/>
          </p:cNvSpPr>
          <p:nvPr>
            <p:ph type="body" idx="1"/>
          </p:nvPr>
        </p:nvSpPr>
        <p:spPr>
          <a:xfrm>
            <a:off x="5562600" y="760000"/>
            <a:ext cx="59436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image-left-bullets"/>
          <p:cNvSpPr>
            <a:spLocks noGrp="1"/>
          </p:cNvSpPr>
          <p:nvPr>
            <p:ph type="body" idx="2"/>
          </p:nvPr>
        </p:nvSpPr>
        <p:spPr>
          <a:xfrm>
            <a:off x="5562600" y="1700000"/>
            <a:ext cx="5943600" cy="36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image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-right-image"/>
          <p:cNvSpPr>
            <a:spLocks noGrp="1"/>
          </p:cNvSpPr>
          <p:nvPr>
            <p:ph type="title"/>
          </p:nvPr>
        </p:nvSpPr>
        <p:spPr>
          <a:xfrm>
            <a:off x="7543800" y="1700000"/>
            <a:ext cx="3962400" cy="36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image-right-title"/>
          <p:cNvSpPr>
            <a:spLocks noGrp="1"/>
          </p:cNvSpPr>
          <p:nvPr>
            <p:ph type="body" idx="1"/>
          </p:nvPr>
        </p:nvSpPr>
        <p:spPr>
          <a:xfrm>
            <a:off x="685800" y="760000"/>
            <a:ext cx="59436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image-right-bullets"/>
          <p:cNvSpPr>
            <a:spLocks noGrp="1"/>
          </p:cNvSpPr>
          <p:nvPr>
            <p:ph type="body" idx="2"/>
          </p:nvPr>
        </p:nvSpPr>
        <p:spPr>
          <a:xfrm>
            <a:off x="685800" y="1700000"/>
            <a:ext cx="5943600" cy="36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image-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-grid-title"/>
          <p:cNvSpPr>
            <a:spLocks noGrp="1"/>
          </p:cNvSpPr>
          <p:nvPr>
            <p:ph type="title"/>
          </p:nvPr>
        </p:nvSpPr>
        <p:spPr>
          <a:xfrm>
            <a:off x="685800" y="760000"/>
            <a:ext cx="108204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image-grid-cell"/>
          <p:cNvSpPr>
            <a:spLocks noGrp="1"/>
          </p:cNvSpPr>
          <p:nvPr>
            <p:ph type="body" idx="1"/>
          </p:nvPr>
        </p:nvSpPr>
        <p:spPr>
          <a:xfrm>
            <a:off x="685800" y="1700000"/>
            <a:ext cx="3505200" cy="202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chart-foc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rt-focus-title"/>
          <p:cNvSpPr>
            <a:spLocks noGrp="1"/>
          </p:cNvSpPr>
          <p:nvPr>
            <p:ph type="title"/>
          </p:nvPr>
        </p:nvSpPr>
        <p:spPr>
          <a:xfrm>
            <a:off x="685800" y="760000"/>
            <a:ext cx="108204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chart-focus-chart"/>
          <p:cNvSpPr>
            <a:spLocks noGrp="1"/>
          </p:cNvSpPr>
          <p:nvPr>
            <p:ph type="body" idx="1"/>
          </p:nvPr>
        </p:nvSpPr>
        <p:spPr>
          <a:xfrm>
            <a:off x="685800" y="1700000"/>
            <a:ext cx="10820400" cy="3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chart-focus-conclusion"/>
          <p:cNvSpPr>
            <a:spLocks noGrp="1"/>
          </p:cNvSpPr>
          <p:nvPr>
            <p:ph type="body" idx="2"/>
          </p:nvPr>
        </p:nvSpPr>
        <p:spPr>
          <a:xfrm>
            <a:off x="685800" y="5600000"/>
            <a:ext cx="10820400" cy="48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hart-with-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rt-with-notes-title"/>
          <p:cNvSpPr>
            <a:spLocks noGrp="1"/>
          </p:cNvSpPr>
          <p:nvPr>
            <p:ph type="title"/>
          </p:nvPr>
        </p:nvSpPr>
        <p:spPr>
          <a:xfrm>
            <a:off x="685800" y="760000"/>
            <a:ext cx="108204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chart-with-notes-chart"/>
          <p:cNvSpPr>
            <a:spLocks noGrp="1"/>
          </p:cNvSpPr>
          <p:nvPr>
            <p:ph type="body" idx="1"/>
          </p:nvPr>
        </p:nvSpPr>
        <p:spPr>
          <a:xfrm>
            <a:off x="685800" y="1700000"/>
            <a:ext cx="5943600" cy="3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chart-with-notes-bullets"/>
          <p:cNvSpPr>
            <a:spLocks noGrp="1"/>
          </p:cNvSpPr>
          <p:nvPr>
            <p:ph type="body" idx="2"/>
          </p:nvPr>
        </p:nvSpPr>
        <p:spPr>
          <a:xfrm>
            <a:off x="6934200" y="1700000"/>
            <a:ext cx="3962400" cy="3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kpi-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pi-row-title"/>
          <p:cNvSpPr>
            <a:spLocks noGrp="1"/>
          </p:cNvSpPr>
          <p:nvPr>
            <p:ph type="title"/>
          </p:nvPr>
        </p:nvSpPr>
        <p:spPr>
          <a:xfrm>
            <a:off x="685800" y="760000"/>
            <a:ext cx="108204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kpi-row-card"/>
          <p:cNvSpPr>
            <a:spLocks noGrp="1"/>
          </p:cNvSpPr>
          <p:nvPr>
            <p:ph type="body" idx="1"/>
          </p:nvPr>
        </p:nvSpPr>
        <p:spPr>
          <a:xfrm>
            <a:off x="685800" y="2000000"/>
            <a:ext cx="4724400" cy="19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mparison-title"/>
          <p:cNvSpPr>
            <a:spLocks noGrp="1"/>
          </p:cNvSpPr>
          <p:nvPr>
            <p:ph type="title"/>
          </p:nvPr>
        </p:nvSpPr>
        <p:spPr>
          <a:xfrm>
            <a:off x="685800" y="760000"/>
            <a:ext cx="108204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comparison-leftHeader"/>
          <p:cNvSpPr>
            <a:spLocks noGrp="1"/>
          </p:cNvSpPr>
          <p:nvPr>
            <p:ph type="body" idx="1"/>
          </p:nvPr>
        </p:nvSpPr>
        <p:spPr>
          <a:xfrm>
            <a:off x="685800" y="1700000"/>
            <a:ext cx="4724400" cy="42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comparison-rightHeader"/>
          <p:cNvSpPr>
            <a:spLocks noGrp="1"/>
          </p:cNvSpPr>
          <p:nvPr>
            <p:ph type="body" idx="2"/>
          </p:nvPr>
        </p:nvSpPr>
        <p:spPr>
          <a:xfrm>
            <a:off x="5810200" y="1700000"/>
            <a:ext cx="4724400" cy="42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line-title"/>
          <p:cNvSpPr>
            <a:spLocks noGrp="1"/>
          </p:cNvSpPr>
          <p:nvPr>
            <p:ph type="title"/>
          </p:nvPr>
        </p:nvSpPr>
        <p:spPr>
          <a:xfrm>
            <a:off x="685800" y="760000"/>
            <a:ext cx="108204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timeline-axis"/>
          <p:cNvSpPr>
            <a:spLocks noGrp="1"/>
          </p:cNvSpPr>
          <p:nvPr>
            <p:ph type="body" idx="1"/>
          </p:nvPr>
        </p:nvSpPr>
        <p:spPr>
          <a:xfrm>
            <a:off x="685800" y="3400000"/>
            <a:ext cx="10820400" cy="4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timeline-node"/>
          <p:cNvSpPr>
            <a:spLocks noGrp="1"/>
          </p:cNvSpPr>
          <p:nvPr>
            <p:ph type="body" idx="2"/>
          </p:nvPr>
        </p:nvSpPr>
        <p:spPr>
          <a:xfrm>
            <a:off x="685800" y="3310000"/>
            <a:ext cx="180000" cy="18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-mark"/>
          <p:cNvSpPr>
            <a:spLocks noGrp="1"/>
          </p:cNvSpPr>
          <p:nvPr>
            <p:ph type="title"/>
          </p:nvPr>
        </p:nvSpPr>
        <p:spPr>
          <a:xfrm>
            <a:off x="1609800" y="2200000"/>
            <a:ext cx="300000" cy="3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quote-quote"/>
          <p:cNvSpPr>
            <a:spLocks noGrp="1"/>
          </p:cNvSpPr>
          <p:nvPr>
            <p:ph type="body" idx="1"/>
          </p:nvPr>
        </p:nvSpPr>
        <p:spPr>
          <a:xfrm>
            <a:off x="2209800" y="2200000"/>
            <a:ext cx="7163400" cy="14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quote-attribution"/>
          <p:cNvSpPr>
            <a:spLocks noGrp="1"/>
          </p:cNvSpPr>
          <p:nvPr>
            <p:ph type="body" idx="2"/>
          </p:nvPr>
        </p:nvSpPr>
        <p:spPr>
          <a:xfrm>
            <a:off x="2209800" y="4000000"/>
            <a:ext cx="7163400" cy="4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mixed-tripty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ixed-triptych-title"/>
          <p:cNvSpPr>
            <a:spLocks noGrp="1"/>
          </p:cNvSpPr>
          <p:nvPr>
            <p:ph type="title"/>
          </p:nvPr>
        </p:nvSpPr>
        <p:spPr>
          <a:xfrm>
            <a:off x="685800" y="760000"/>
            <a:ext cx="108204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mixed-triptych-image"/>
          <p:cNvSpPr>
            <a:spLocks noGrp="1"/>
          </p:cNvSpPr>
          <p:nvPr>
            <p:ph type="body" idx="1"/>
          </p:nvPr>
        </p:nvSpPr>
        <p:spPr>
          <a:xfrm>
            <a:off x="685800" y="1700000"/>
            <a:ext cx="3505200" cy="24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mixed-triptych-chart"/>
          <p:cNvSpPr>
            <a:spLocks noGrp="1"/>
          </p:cNvSpPr>
          <p:nvPr>
            <p:ph type="body" idx="2"/>
          </p:nvPr>
        </p:nvSpPr>
        <p:spPr>
          <a:xfrm>
            <a:off x="4343400" y="1700000"/>
            <a:ext cx="3505200" cy="24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685800" y="760000"/>
            <a:ext cx="108204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Body Placeholder"/>
          <p:cNvSpPr>
            <a:spLocks noGrp="1"/>
          </p:cNvSpPr>
          <p:nvPr>
            <p:ph type="body" idx="1"/>
          </p:nvPr>
        </p:nvSpPr>
        <p:spPr>
          <a:xfrm>
            <a:off x="685800" y="1700000"/>
            <a:ext cx="10820400" cy="45484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Slide Number Placeholder"/>
          <p:cNvSpPr>
            <a:spLocks noGrp="1"/>
          </p:cNvSpPr>
          <p:nvPr>
            <p:ph type="sldNum" idx="12"/>
          </p:nvPr>
        </p:nvSpPr>
        <p:spPr>
          <a:xfrm>
            <a:off x="6096000" y="6400800"/>
            <a:ext cx="5410200" cy="3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00" r:id="rId1"/>
    <p:sldLayoutId id="2147483601" r:id="rId2"/>
    <p:sldLayoutId id="2147483602" r:id="rId3"/>
    <p:sldLayoutId id="2147483603" r:id="rId4"/>
    <p:sldLayoutId id="2147483604" r:id="rId5"/>
    <p:sldLayoutId id="2147483605" r:id="rId6"/>
    <p:sldLayoutId id="2147483606" r:id="rId7"/>
    <p:sldLayoutId id="2147483607" r:id="rId8"/>
    <p:sldLayoutId id="2147483608" r:id="rId9"/>
    <p:sldLayoutId id="2147483609" r:id="rId10"/>
    <p:sldLayoutId id="2147483610" r:id="rId11"/>
    <p:sldLayoutId id="2147483611" r:id="rId12"/>
    <p:sldLayoutId id="2147483612" r:id="rId13"/>
    <p:sldLayoutId id="2147483613" r:id="rId14"/>
    <p:sldLayoutId id="2147483614" r:id="rId15"/>
    <p:sldLayoutId id="2147483615" r:id="rId16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1"/>
          <p:cNvSpPr txBox="1"/>
          <p:nvPr/>
        </p:nvSpPr>
        <p:spPr>
          <a:xfrm>
            <a:off x="685800" y="1500000"/>
            <a:ext cx="10820400" cy="9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ctr" marL="0" indent="0">
              <a:buNone/>
            </a:pPr>
            <a:r>
              <a:rPr lang="zh-CN" altLang="en-US" sz="4400" b="1" dirty="0">
                <a:solidFill>
                  <a:srgbClr val="1F1206"/>
                </a:solidFill>
                <a:latin typeface="Caveat"/>
                <a:ea typeface="LXGW WenKai"/>
              </a:rPr>
              <a:t>浪与山</a:t>
            </a:r>
          </a:p>
        </p:txBody>
      </p:sp>
      <p:sp>
        <p:nvSpPr>
          <p:cNvPr id="3" name="accent-bar"/>
          <p:cNvSpPr/>
          <p:nvPr/>
        </p:nvSpPr>
        <p:spPr>
          <a:xfrm>
            <a:off x="685800" y="2400000"/>
            <a:ext cx="10820400" cy="90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" name="subtitle"/>
          <p:cNvSpPr txBox="1"/>
          <p:nvPr/>
        </p:nvSpPr>
        <p:spPr>
          <a:xfrm>
            <a:off x="685800" y="2700000"/>
            <a:ext cx="10820400" cy="6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ctr" marL="0" indent="0">
              <a:buNone/>
            </a:pPr>
            <a:r>
              <a:rPr lang="zh-CN" altLang="en-US" sz="1800" b="0" dirty="0">
                <a:solidFill>
                  <a:srgbClr val="6B5645"/>
                </a:solidFill>
                <a:latin typeface="Caveat"/>
                <a:ea typeface="LXGW WenKai"/>
              </a:rPr>
              <a:t>六个版画语汇，做一张能用的文旅海报 · 90 分钟工作坊 第 2 讲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1200" b="0" dirty="0">
                <a:solidFill>
                  <a:srgbClr val="6B5645"/>
                </a:solidFill>
                <a:latin typeface="Caveat"/>
                <a:ea typeface="LXGW WenKai"/>
              </a:rPr>
              <a:t>浪与山 · 文旅海报工作坊 第 2 讲 · 90 分钟</a:t>
            </a:r>
          </a:p>
        </p:txBody>
      </p:sp>
      <p:sp>
        <p:nvSpPr>
          <p:cNvPr id="6" name="page-number"/>
          <p:cNvSpPr txBox="1"/>
          <p:nvPr/>
        </p:nvSpPr>
        <p:spPr>
          <a:xfrm>
            <a:off x="60960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r" marL="0" indent="0">
              <a:buNone/>
            </a:pPr>
            <a:r>
              <a:rPr lang="zh-CN" altLang="en-US" sz="1200" b="0" dirty="0">
                <a:solidFill>
                  <a:srgbClr val="6B5645"/>
                </a:solidFill>
                <a:latin typeface="Caveat"/>
                <a:ea typeface="LXGW WenKai"/>
              </a:rPr>
              <a:t>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2" descr="宽幅木版画：靛蓝浪头与朱红日轮，纸纹底"/>
          <p:cNvPicPr>
            <a:picLocks noChangeAspect="1"/>
          </p:cNvPicPr>
          <p:nvPr/>
        </p:nvPicPr>
        <p:blipFill>
          <a:blip r:embed="rId2"/>
          <a:srcRect l="16572" r="1657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crim-band-1"/>
          <p:cNvSpPr/>
          <p:nvPr/>
        </p:nvSpPr>
        <p:spPr>
          <a:xfrm>
            <a:off x="0" y="5200000"/>
            <a:ext cx="4064000" cy="1000000"/>
          </a:xfrm>
          <a:prstGeom prst="rect">
            <a:avLst/>
          </a:prstGeom>
          <a:solidFill>
            <a:srgbClr val="37342E">
              <a:alpha val="92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" name="scrim-band-2"/>
          <p:cNvSpPr/>
          <p:nvPr/>
        </p:nvSpPr>
        <p:spPr>
          <a:xfrm>
            <a:off x="4064000" y="5200000"/>
            <a:ext cx="4064000" cy="1000000"/>
          </a:xfrm>
          <a:prstGeom prst="rect">
            <a:avLst/>
          </a:prstGeom>
          <a:solidFill>
            <a:srgbClr val="37342E">
              <a:alpha val="80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" name="scrim-band-3"/>
          <p:cNvSpPr/>
          <p:nvPr/>
        </p:nvSpPr>
        <p:spPr>
          <a:xfrm>
            <a:off x="8128000" y="5200000"/>
            <a:ext cx="4064000" cy="1000000"/>
          </a:xfrm>
          <a:prstGeom prst="rect">
            <a:avLst/>
          </a:prstGeom>
          <a:solidFill>
            <a:srgbClr val="37342E">
              <a:alpha val="66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6" name="title"/>
          <p:cNvSpPr txBox="1"/>
          <p:nvPr/>
        </p:nvSpPr>
        <p:spPr>
          <a:xfrm>
            <a:off x="685800" y="5200000"/>
            <a:ext cx="10820400" cy="100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4000" b="1" dirty="0">
                <a:solidFill>
                  <a:srgbClr val="FFF7ED"/>
                </a:solidFill>
                <a:latin typeface="Caveat"/>
                <a:ea typeface="LXGW WenKai"/>
              </a:rPr>
              <a:t>三百年前就有一套设计系统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6858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1200" b="0" dirty="0">
                <a:solidFill>
                  <a:srgbClr val="6B5645"/>
                </a:solidFill>
                <a:latin typeface="Caveat"/>
                <a:ea typeface="LXGW WenKai"/>
              </a:rPr>
              <a:t>浪与山 · 文旅海报工作坊 第 2 讲 · 90 分钟</a:t>
            </a:r>
          </a:p>
        </p:txBody>
      </p:sp>
      <p:sp>
        <p:nvSpPr>
          <p:cNvPr id="8" name="page-number"/>
          <p:cNvSpPr txBox="1"/>
          <p:nvPr/>
        </p:nvSpPr>
        <p:spPr>
          <a:xfrm>
            <a:off x="60960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r" marL="0" indent="0">
              <a:buNone/>
            </a:pPr>
            <a:r>
              <a:rPr lang="zh-CN" altLang="en-US" sz="1200" b="0" dirty="0">
                <a:solidFill>
                  <a:srgbClr val="6B5645"/>
                </a:solidFill>
                <a:latin typeface="Caveat"/>
                <a:ea typeface="LXGW WenKai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3"/>
          <p:cNvSpPr txBox="1"/>
          <p:nvPr/>
        </p:nvSpPr>
        <p:spPr>
          <a:xfrm>
            <a:off x="685800" y="760000"/>
            <a:ext cx="10820400" cy="8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2800" b="1" dirty="0">
                <a:solidFill>
                  <a:srgbClr val="1F1206"/>
                </a:solidFill>
                <a:latin typeface="Caveat"/>
                <a:ea typeface="LXGW WenKai"/>
              </a:rPr>
              <a:t>六个语汇，今天只用前两个</a:t>
            </a:r>
          </a:p>
        </p:txBody>
      </p:sp>
      <p:pic>
        <p:nvPicPr>
          <p:cNvPr id="3" name="p3" descr="浪：卷曲的浪头与细密浪花"/>
          <p:cNvPicPr>
            <a:picLocks noChangeAspect="1"/>
          </p:cNvPicPr>
          <p:nvPr/>
        </p:nvPicPr>
        <p:blipFill>
          <a:blip r:embed="rId2"/>
          <a:srcRect l="1426" r="1426"/>
          <a:stretch>
            <a:fillRect/>
          </a:stretch>
        </p:blipFill>
        <p:spPr>
          <a:xfrm>
            <a:off x="685800" y="1700000"/>
            <a:ext cx="3505200" cy="2020000"/>
          </a:xfrm>
          <a:prstGeom prst="rect">
            <a:avLst/>
          </a:prstGeom>
        </p:spPr>
      </p:pic>
      <p:sp>
        <p:nvSpPr>
          <p:cNvPr id="4" name="caption-0"/>
          <p:cNvSpPr txBox="1"/>
          <p:nvPr/>
        </p:nvSpPr>
        <p:spPr>
          <a:xfrm>
            <a:off x="685800" y="3420000"/>
            <a:ext cx="3505200" cy="300000"/>
          </a:xfrm>
          <a:prstGeom prst="rect">
            <a:avLst/>
          </a:prstGeom>
          <a:solidFill>
            <a:srgbClr val="1F1206">
              <a:alpha val="60000"/>
            </a:srgbClr>
          </a:solidFill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400" b="0" dirty="0">
                <a:solidFill>
                  <a:srgbClr val="FFF7ED"/>
                </a:solidFill>
                <a:latin typeface="Caveat"/>
                <a:ea typeface="LXGW WenKai"/>
              </a:rPr>
              <a:t>波 · 把动势刻进定格</a:t>
            </a:r>
          </a:p>
        </p:txBody>
      </p:sp>
      <p:pic>
        <p:nvPicPr>
          <p:cNvPr id="5" name="p5" descr="山：远处雪顶富士与前景浪"/>
          <p:cNvPicPr>
            <a:picLocks noChangeAspect="1"/>
          </p:cNvPicPr>
          <p:nvPr/>
        </p:nvPicPr>
        <p:blipFill>
          <a:blip r:embed="rId3"/>
          <a:srcRect l="1426" r="1426"/>
          <a:stretch>
            <a:fillRect/>
          </a:stretch>
        </p:blipFill>
        <p:spPr>
          <a:xfrm>
            <a:off x="4343400" y="1700000"/>
            <a:ext cx="3505200" cy="2020000"/>
          </a:xfrm>
          <a:prstGeom prst="rect">
            <a:avLst/>
          </a:prstGeom>
        </p:spPr>
      </p:pic>
      <p:sp>
        <p:nvSpPr>
          <p:cNvPr id="6" name="caption-1"/>
          <p:cNvSpPr txBox="1"/>
          <p:nvPr/>
        </p:nvSpPr>
        <p:spPr>
          <a:xfrm>
            <a:off x="4343400" y="3420000"/>
            <a:ext cx="3505200" cy="300000"/>
          </a:xfrm>
          <a:prstGeom prst="rect">
            <a:avLst/>
          </a:prstGeom>
          <a:solidFill>
            <a:srgbClr val="1F1206">
              <a:alpha val="60000"/>
            </a:srgbClr>
          </a:solidFill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400" b="0" dirty="0">
                <a:solidFill>
                  <a:srgbClr val="FFF7ED"/>
                </a:solidFill>
                <a:latin typeface="Caveat"/>
                <a:ea typeface="LXGW WenKai"/>
              </a:rPr>
              <a:t>山 · 远景只需一个三角</a:t>
            </a:r>
          </a:p>
        </p:txBody>
      </p:sp>
      <p:pic>
        <p:nvPicPr>
          <p:cNvPr id="7" name="p7" descr="桥：拱桥与桥上行人"/>
          <p:cNvPicPr>
            <a:picLocks noChangeAspect="1"/>
          </p:cNvPicPr>
          <p:nvPr/>
        </p:nvPicPr>
        <p:blipFill>
          <a:blip r:embed="rId4"/>
          <a:srcRect l="1426" r="1426"/>
          <a:stretch>
            <a:fillRect/>
          </a:stretch>
        </p:blipFill>
        <p:spPr>
          <a:xfrm>
            <a:off x="8001000" y="1700000"/>
            <a:ext cx="3505200" cy="2020000"/>
          </a:xfrm>
          <a:prstGeom prst="rect">
            <a:avLst/>
          </a:prstGeom>
        </p:spPr>
      </p:pic>
      <p:sp>
        <p:nvSpPr>
          <p:cNvPr id="8" name="caption-2"/>
          <p:cNvSpPr txBox="1"/>
          <p:nvPr/>
        </p:nvSpPr>
        <p:spPr>
          <a:xfrm>
            <a:off x="8001000" y="3420000"/>
            <a:ext cx="3505200" cy="300000"/>
          </a:xfrm>
          <a:prstGeom prst="rect">
            <a:avLst/>
          </a:prstGeom>
          <a:solidFill>
            <a:srgbClr val="1F1206">
              <a:alpha val="60000"/>
            </a:srgbClr>
          </a:solidFill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400" b="0" dirty="0">
                <a:solidFill>
                  <a:srgbClr val="FFF7ED"/>
                </a:solidFill>
                <a:latin typeface="Caveat"/>
                <a:ea typeface="LXGW WenKai"/>
              </a:rPr>
              <a:t>桥 · 让人出现在结构里</a:t>
            </a:r>
          </a:p>
        </p:txBody>
      </p:sp>
      <p:pic>
        <p:nvPicPr>
          <p:cNvPr id="9" name="p9" descr="月：夜色屋檐与塔影"/>
          <p:cNvPicPr>
            <a:picLocks noChangeAspect="1"/>
          </p:cNvPicPr>
          <p:nvPr/>
        </p:nvPicPr>
        <p:blipFill>
          <a:blip r:embed="rId5"/>
          <a:srcRect l="1426" r="1426"/>
          <a:stretch>
            <a:fillRect/>
          </a:stretch>
        </p:blipFill>
        <p:spPr>
          <a:xfrm>
            <a:off x="685800" y="3920000"/>
            <a:ext cx="3505200" cy="2020000"/>
          </a:xfrm>
          <a:prstGeom prst="rect">
            <a:avLst/>
          </a:prstGeom>
        </p:spPr>
      </p:pic>
      <p:sp>
        <p:nvSpPr>
          <p:cNvPr id="10" name="caption-3"/>
          <p:cNvSpPr txBox="1"/>
          <p:nvPr/>
        </p:nvSpPr>
        <p:spPr>
          <a:xfrm>
            <a:off x="685800" y="5640000"/>
            <a:ext cx="3505200" cy="300000"/>
          </a:xfrm>
          <a:prstGeom prst="rect">
            <a:avLst/>
          </a:prstGeom>
          <a:solidFill>
            <a:srgbClr val="1F1206">
              <a:alpha val="60000"/>
            </a:srgbClr>
          </a:solidFill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400" b="0" dirty="0">
                <a:solidFill>
                  <a:srgbClr val="FFF7ED"/>
                </a:solidFill>
                <a:latin typeface="Caveat"/>
                <a:ea typeface="LXGW WenKai"/>
              </a:rPr>
              <a:t>月 · 夜色只用三种蓝</a:t>
            </a:r>
          </a:p>
        </p:txBody>
      </p:sp>
      <p:pic>
        <p:nvPicPr>
          <p:cNvPr id="11" name="p11" descr="松：松枝斜出，远处红日与浪"/>
          <p:cNvPicPr>
            <a:picLocks noChangeAspect="1"/>
          </p:cNvPicPr>
          <p:nvPr/>
        </p:nvPicPr>
        <p:blipFill>
          <a:blip r:embed="rId6"/>
          <a:srcRect l="1426" r="1426"/>
          <a:stretch>
            <a:fillRect/>
          </a:stretch>
        </p:blipFill>
        <p:spPr>
          <a:xfrm>
            <a:off x="4343400" y="3920000"/>
            <a:ext cx="3505200" cy="2020000"/>
          </a:xfrm>
          <a:prstGeom prst="rect">
            <a:avLst/>
          </a:prstGeom>
        </p:spPr>
      </p:pic>
      <p:sp>
        <p:nvSpPr>
          <p:cNvPr id="12" name="caption-4"/>
          <p:cNvSpPr txBox="1"/>
          <p:nvPr/>
        </p:nvSpPr>
        <p:spPr>
          <a:xfrm>
            <a:off x="4343400" y="5640000"/>
            <a:ext cx="3505200" cy="300000"/>
          </a:xfrm>
          <a:prstGeom prst="rect">
            <a:avLst/>
          </a:prstGeom>
          <a:solidFill>
            <a:srgbClr val="1F1206">
              <a:alpha val="60000"/>
            </a:srgbClr>
          </a:solidFill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400" b="0" dirty="0">
                <a:solidFill>
                  <a:srgbClr val="FFF7ED"/>
                </a:solidFill>
                <a:latin typeface="Caveat"/>
                <a:ea typeface="LXGW WenKai"/>
              </a:rPr>
              <a:t>松 · 一棵树撑起前景</a:t>
            </a:r>
          </a:p>
        </p:txBody>
      </p:sp>
      <p:pic>
        <p:nvPicPr>
          <p:cNvPr id="13" name="p13" descr="雨：斜线雨脚与屋顶"/>
          <p:cNvPicPr>
            <a:picLocks noChangeAspect="1"/>
          </p:cNvPicPr>
          <p:nvPr/>
        </p:nvPicPr>
        <p:blipFill>
          <a:blip r:embed="rId7"/>
          <a:srcRect l="1574" r="1574"/>
          <a:stretch>
            <a:fillRect/>
          </a:stretch>
        </p:blipFill>
        <p:spPr>
          <a:xfrm>
            <a:off x="8001000" y="3920000"/>
            <a:ext cx="3505200" cy="2020000"/>
          </a:xfrm>
          <a:prstGeom prst="rect">
            <a:avLst/>
          </a:prstGeom>
        </p:spPr>
      </p:pic>
      <p:sp>
        <p:nvSpPr>
          <p:cNvPr id="14" name="caption-5"/>
          <p:cNvSpPr txBox="1"/>
          <p:nvPr/>
        </p:nvSpPr>
        <p:spPr>
          <a:xfrm>
            <a:off x="8001000" y="5640000"/>
            <a:ext cx="3505200" cy="300000"/>
          </a:xfrm>
          <a:prstGeom prst="rect">
            <a:avLst/>
          </a:prstGeom>
          <a:solidFill>
            <a:srgbClr val="1F1206">
              <a:alpha val="60000"/>
            </a:srgbClr>
          </a:solidFill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400" b="0" dirty="0">
                <a:solidFill>
                  <a:srgbClr val="FFF7ED"/>
                </a:solidFill>
                <a:latin typeface="Caveat"/>
                <a:ea typeface="LXGW WenKai"/>
              </a:rPr>
              <a:t>雨 · 斜线就是暴雨</a:t>
            </a:r>
          </a:p>
        </p:txBody>
      </p:sp>
      <p:sp>
        <p:nvSpPr>
          <p:cNvPr id="15" name="footer"/>
          <p:cNvSpPr txBox="1"/>
          <p:nvPr/>
        </p:nvSpPr>
        <p:spPr>
          <a:xfrm>
            <a:off x="6858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1200" b="0" dirty="0">
                <a:solidFill>
                  <a:srgbClr val="6B5645"/>
                </a:solidFill>
                <a:latin typeface="Caveat"/>
                <a:ea typeface="LXGW WenKai"/>
              </a:rPr>
              <a:t>浪与山 · 文旅海报工作坊 第 2 讲 · 90 分钟</a:t>
            </a:r>
          </a:p>
        </p:txBody>
      </p:sp>
      <p:sp>
        <p:nvSpPr>
          <p:cNvPr id="16" name="page-number"/>
          <p:cNvSpPr txBox="1"/>
          <p:nvPr/>
        </p:nvSpPr>
        <p:spPr>
          <a:xfrm>
            <a:off x="60960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r" marL="0" indent="0">
              <a:buNone/>
            </a:pPr>
            <a:r>
              <a:rPr lang="zh-CN" altLang="en-US" sz="1200" b="0" dirty="0">
                <a:solidFill>
                  <a:srgbClr val="6B5645"/>
                </a:solidFill>
                <a:latin typeface="Caveat"/>
                <a:ea typeface="LXGW WenKai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2" descr="大片留白的水面与一叶小舟，纸纹清晰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85800" y="1700000"/>
            <a:ext cx="3962400" cy="3600000"/>
          </a:xfrm>
          <a:prstGeom prst="rect">
            <a:avLst/>
          </a:prstGeom>
        </p:spPr>
      </p:pic>
      <p:sp>
        <p:nvSpPr>
          <p:cNvPr id="3" name="title-4"/>
          <p:cNvSpPr txBox="1"/>
          <p:nvPr/>
        </p:nvSpPr>
        <p:spPr>
          <a:xfrm>
            <a:off x="5562600" y="760000"/>
            <a:ext cx="5943600" cy="8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2800" b="1" dirty="0">
                <a:solidFill>
                  <a:srgbClr val="1F1206"/>
                </a:solidFill>
                <a:latin typeface="Caveat"/>
                <a:ea typeface="LXGW WenKai"/>
              </a:rPr>
              <a:t>语汇一 · 空处是主体，不是背景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5562600" y="1700000"/>
            <a:ext cx="5943600" cy="36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228600" indent="-228600">
              <a:lnSpc>
                <a:spcPts val="4094"/>
              </a:lnSpc>
              <a:buFont typeface="Arial"/>
              <a:buChar char="•"/>
            </a:pPr>
            <a:r>
              <a:rPr lang="zh-CN" altLang="en-US" sz="1800" b="0" dirty="0">
                <a:solidFill>
                  <a:srgbClr val="1F1206"/>
                </a:solidFill>
                <a:latin typeface="Caveat"/>
                <a:ea typeface="LXGW WenKai"/>
              </a:rPr>
              <a:t>先定「空」的位置和大小，再把物件摆进剩下的地方——顺序反过来就会画满。</a:t>
            </a:r>
          </a:p>
          <a:p>
            <a:pPr algn="l" marL="228600" indent="-228600">
              <a:lnSpc>
                <a:spcPts val="4094"/>
              </a:lnSpc>
              <a:buFont typeface="Arial"/>
              <a:buChar char="•"/>
            </a:pPr>
            <a:r>
              <a:rPr lang="zh-CN" altLang="en-US" sz="1800" b="0" dirty="0">
                <a:solidFill>
                  <a:srgbClr val="1F1206"/>
                </a:solidFill>
                <a:latin typeface="Caveat"/>
                <a:ea typeface="LXGW WenKai"/>
              </a:rPr>
              <a:t>空的地方不要平涂：留纸纹、留一点晕，它得像纸，不能像色块。</a:t>
            </a:r>
          </a:p>
          <a:p>
            <a:pPr algn="l" marL="228600" indent="-228600">
              <a:lnSpc>
                <a:spcPts val="4094"/>
              </a:lnSpc>
              <a:buFont typeface="Arial"/>
              <a:buChar char="•"/>
            </a:pPr>
            <a:r>
              <a:rPr lang="zh-CN" altLang="en-US" sz="1800" b="0" dirty="0">
                <a:solidFill>
                  <a:srgbClr val="1F1206"/>
                </a:solidFill>
                <a:latin typeface="Caveat"/>
                <a:ea typeface="LXGW WenKai"/>
              </a:rPr>
              <a:t>文旅海报的落款、二维码、活动信息，全部放进这块空里，别压在画上。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1200" b="0" dirty="0">
                <a:solidFill>
                  <a:srgbClr val="6B5645"/>
                </a:solidFill>
                <a:latin typeface="Caveat"/>
                <a:ea typeface="LXGW WenKai"/>
              </a:rPr>
              <a:t>浪与山 · 文旅海报工作坊 第 2 讲 · 90 分钟</a:t>
            </a:r>
          </a:p>
        </p:txBody>
      </p:sp>
      <p:sp>
        <p:nvSpPr>
          <p:cNvPr id="6" name="page-number"/>
          <p:cNvSpPr txBox="1"/>
          <p:nvPr/>
        </p:nvSpPr>
        <p:spPr>
          <a:xfrm>
            <a:off x="60960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r" marL="0" indent="0">
              <a:buNone/>
            </a:pPr>
            <a:r>
              <a:rPr lang="zh-CN" altLang="en-US" sz="1200" b="0" dirty="0">
                <a:solidFill>
                  <a:srgbClr val="6B5645"/>
                </a:solidFill>
                <a:latin typeface="Caveat"/>
                <a:ea typeface="LXGW WenKai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2" descr="竖构图木版画：近景枝叶压边，远处山与云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543800" y="1700000"/>
            <a:ext cx="3962400" cy="3600000"/>
          </a:xfrm>
          <a:prstGeom prst="rect">
            <a:avLst/>
          </a:prstGeom>
        </p:spPr>
      </p:pic>
      <p:sp>
        <p:nvSpPr>
          <p:cNvPr id="3" name="title-5"/>
          <p:cNvSpPr txBox="1"/>
          <p:nvPr/>
        </p:nvSpPr>
        <p:spPr>
          <a:xfrm>
            <a:off x="685800" y="760000"/>
            <a:ext cx="5943600" cy="8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2800" b="1" dirty="0">
                <a:solidFill>
                  <a:srgbClr val="1F1206"/>
                </a:solidFill>
                <a:latin typeface="Caveat"/>
                <a:ea typeface="LXGW WenKai"/>
              </a:rPr>
              <a:t>语汇二 · 前景压边，画面才有远近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685800" y="1700000"/>
            <a:ext cx="5943600" cy="36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228600" indent="-228600">
              <a:lnSpc>
                <a:spcPts val="4094"/>
              </a:lnSpc>
              <a:buFont typeface="Arial"/>
              <a:buChar char="•"/>
            </a:pPr>
            <a:r>
              <a:rPr lang="zh-CN" altLang="en-US" sz="1800" b="0" dirty="0">
                <a:solidFill>
                  <a:srgbClr val="1F1206"/>
                </a:solidFill>
                <a:latin typeface="Caveat"/>
                <a:ea typeface="LXGW WenKai"/>
              </a:rPr>
              <a:t>让一样近处的东西（树枝、屋檐、栏杆）压住画面边缘，并且允许它被裁断。</a:t>
            </a:r>
          </a:p>
          <a:p>
            <a:pPr algn="l" marL="228600" indent="-228600">
              <a:lnSpc>
                <a:spcPts val="4094"/>
              </a:lnSpc>
              <a:buFont typeface="Arial"/>
              <a:buChar char="•"/>
            </a:pPr>
            <a:r>
              <a:rPr lang="zh-CN" altLang="en-US" sz="1800" b="0" dirty="0">
                <a:solidFill>
                  <a:srgbClr val="1F1206"/>
                </a:solidFill>
                <a:latin typeface="Caveat"/>
                <a:ea typeface="LXGW WenKai"/>
              </a:rPr>
              <a:t>前景只用最深的那一档颜色，中景次之，远景最淡——三层，不要第四层。</a:t>
            </a:r>
          </a:p>
          <a:p>
            <a:pPr algn="l" marL="228600" indent="-228600">
              <a:lnSpc>
                <a:spcPts val="4094"/>
              </a:lnSpc>
              <a:buFont typeface="Arial"/>
              <a:buChar char="•"/>
            </a:pPr>
            <a:r>
              <a:rPr lang="zh-CN" altLang="en-US" sz="1800" b="0" dirty="0">
                <a:solidFill>
                  <a:srgbClr val="1F1206"/>
                </a:solidFill>
                <a:latin typeface="Caveat"/>
                <a:ea typeface="LXGW WenKai"/>
              </a:rPr>
              <a:t>竖构图尤其吃这一招：上下各压一点，中间那块才站得住。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1200" b="0" dirty="0">
                <a:solidFill>
                  <a:srgbClr val="6B5645"/>
                </a:solidFill>
                <a:latin typeface="Caveat"/>
                <a:ea typeface="LXGW WenKai"/>
              </a:rPr>
              <a:t>浪与山 · 文旅海报工作坊 第 2 讲 · 90 分钟</a:t>
            </a:r>
          </a:p>
        </p:txBody>
      </p:sp>
      <p:sp>
        <p:nvSpPr>
          <p:cNvPr id="6" name="page-number"/>
          <p:cNvSpPr txBox="1"/>
          <p:nvPr/>
        </p:nvSpPr>
        <p:spPr>
          <a:xfrm>
            <a:off x="60960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r" marL="0" indent="0">
              <a:buNone/>
            </a:pPr>
            <a:r>
              <a:rPr lang="zh-CN" altLang="en-US" sz="1200" b="0" dirty="0">
                <a:solidFill>
                  <a:srgbClr val="6B5645"/>
                </a:solidFill>
                <a:latin typeface="Caveat"/>
                <a:ea typeface="LXGW WenKai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6"/>
          <p:cNvSpPr txBox="1"/>
          <p:nvPr/>
        </p:nvSpPr>
        <p:spPr>
          <a:xfrm>
            <a:off x="685800" y="760000"/>
            <a:ext cx="10820400" cy="8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2800" b="1" dirty="0">
                <a:solidFill>
                  <a:srgbClr val="1F1206"/>
                </a:solidFill>
                <a:latin typeface="Caveat"/>
                <a:ea typeface="LXGW WenKai"/>
              </a:rPr>
              <a:t>课堂练习 · 把你的目的地拆成三层</a:t>
            </a:r>
          </a:p>
        </p:txBody>
      </p:sp>
      <p:sp>
        <p:nvSpPr>
          <p:cNvPr id="3" name="left"/>
          <p:cNvSpPr txBox="1"/>
          <p:nvPr/>
        </p:nvSpPr>
        <p:spPr>
          <a:xfrm>
            <a:off x="685800" y="1700000"/>
            <a:ext cx="4724400" cy="45484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228600" indent="-228600">
              <a:lnSpc>
                <a:spcPts val="3937"/>
              </a:lnSpc>
              <a:buFont typeface="Arial"/>
              <a:buChar char="•"/>
            </a:pPr>
            <a:r>
              <a:rPr lang="zh-CN" altLang="en-US" sz="1600" b="0" dirty="0">
                <a:solidFill>
                  <a:srgbClr val="1F1206"/>
                </a:solidFill>
                <a:latin typeface="Caveat"/>
                <a:ea typeface="LXGW WenKai"/>
              </a:rPr>
              <a:t>第一步：写下三个词——最远、最近、最要人记住的。</a:t>
            </a:r>
          </a:p>
          <a:p>
            <a:pPr algn="l" marL="228600" indent="-228600">
              <a:lnSpc>
                <a:spcPts val="3937"/>
              </a:lnSpc>
              <a:buFont typeface="Arial"/>
              <a:buChar char="•"/>
            </a:pPr>
            <a:r>
              <a:rPr lang="zh-CN" altLang="en-US" sz="1600" b="0" dirty="0">
                <a:solidFill>
                  <a:srgbClr val="1F1206"/>
                </a:solidFill>
                <a:latin typeface="Caveat"/>
                <a:ea typeface="LXGW WenKai"/>
              </a:rPr>
              <a:t>第二步：给最远的那样东西挑一个三角或弧线的外形。</a:t>
            </a:r>
          </a:p>
          <a:p>
            <a:pPr algn="l" marL="228600" indent="-228600">
              <a:lnSpc>
                <a:spcPts val="3937"/>
              </a:lnSpc>
              <a:buFont typeface="Arial"/>
              <a:buChar char="•"/>
            </a:pPr>
            <a:r>
              <a:rPr lang="zh-CN" altLang="en-US" sz="1600" b="0" dirty="0">
                <a:solidFill>
                  <a:srgbClr val="1F1206"/>
                </a:solidFill>
                <a:latin typeface="Caveat"/>
                <a:ea typeface="LXGW WenKai"/>
              </a:rPr>
              <a:t>第三步：给最近的那样东西挑一个能被裁断的形状。</a:t>
            </a:r>
          </a:p>
          <a:p>
            <a:pPr algn="l" marL="228600" indent="-228600">
              <a:lnSpc>
                <a:spcPts val="3937"/>
              </a:lnSpc>
              <a:buFont typeface="Arial"/>
              <a:buChar char="•"/>
            </a:pPr>
            <a:r>
              <a:rPr lang="zh-CN" altLang="en-US" sz="1600" b="0" dirty="0">
                <a:solidFill>
                  <a:srgbClr val="1F1206"/>
                </a:solidFill>
                <a:latin typeface="Caveat"/>
                <a:ea typeface="LXGW WenKai"/>
              </a:rPr>
              <a:t>第四步：把活动信息塞进空处，不许压到画上。</a:t>
            </a:r>
          </a:p>
        </p:txBody>
      </p:sp>
      <p:sp>
        <p:nvSpPr>
          <p:cNvPr id="4" name="right"/>
          <p:cNvSpPr txBox="1"/>
          <p:nvPr/>
        </p:nvSpPr>
        <p:spPr>
          <a:xfrm>
            <a:off x="5810200" y="1700000"/>
            <a:ext cx="4724400" cy="45484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228600" indent="-228600">
              <a:lnSpc>
                <a:spcPts val="3937"/>
              </a:lnSpc>
              <a:buFont typeface="Arial"/>
              <a:buChar char="•"/>
            </a:pPr>
            <a:r>
              <a:rPr lang="zh-CN" altLang="en-US" sz="1600" b="0" dirty="0">
                <a:solidFill>
                  <a:srgbClr val="1F1206"/>
                </a:solidFill>
                <a:latin typeface="Caveat"/>
                <a:ea typeface="LXGW WenKai"/>
              </a:rPr>
              <a:t>判断标准一：眯眼看，三层的深浅能不能分出来。</a:t>
            </a:r>
          </a:p>
          <a:p>
            <a:pPr algn="l" marL="228600" indent="-228600">
              <a:lnSpc>
                <a:spcPts val="3937"/>
              </a:lnSpc>
              <a:buFont typeface="Arial"/>
              <a:buChar char="•"/>
            </a:pPr>
            <a:r>
              <a:rPr lang="zh-CN" altLang="en-US" sz="1600" b="0" dirty="0">
                <a:solidFill>
                  <a:srgbClr val="1F1206"/>
                </a:solidFill>
                <a:latin typeface="Caveat"/>
                <a:ea typeface="LXGW WenKai"/>
              </a:rPr>
              <a:t>判断标准二：把文字全部盖住，画面还看得出讲的是哪个地方吗。</a:t>
            </a:r>
          </a:p>
          <a:p>
            <a:pPr algn="l" marL="228600" indent="-228600">
              <a:lnSpc>
                <a:spcPts val="3937"/>
              </a:lnSpc>
              <a:buFont typeface="Arial"/>
              <a:buChar char="•"/>
            </a:pPr>
            <a:r>
              <a:rPr lang="zh-CN" altLang="en-US" sz="1600" b="0" dirty="0">
                <a:solidFill>
                  <a:srgbClr val="1F1206"/>
                </a:solidFill>
                <a:latin typeface="Caveat"/>
                <a:ea typeface="LXGW WenKai"/>
              </a:rPr>
              <a:t>判断标准三：颜色是不是超过四种（纸底不算）。</a:t>
            </a:r>
          </a:p>
          <a:p>
            <a:pPr algn="l" marL="228600" indent="-228600">
              <a:lnSpc>
                <a:spcPts val="3937"/>
              </a:lnSpc>
              <a:buFont typeface="Arial"/>
              <a:buChar char="•"/>
            </a:pPr>
            <a:r>
              <a:rPr lang="zh-CN" altLang="en-US" sz="1600" b="0" dirty="0">
                <a:solidFill>
                  <a:srgbClr val="1F1206"/>
                </a:solidFill>
                <a:latin typeface="Caveat"/>
                <a:ea typeface="LXGW WenKai"/>
              </a:rPr>
              <a:t>三条都过了才叫完成，过两条的回去改。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1200" b="0" dirty="0">
                <a:solidFill>
                  <a:srgbClr val="6B5645"/>
                </a:solidFill>
                <a:latin typeface="Caveat"/>
                <a:ea typeface="LXGW WenKai"/>
              </a:rPr>
              <a:t>浪与山 · 文旅海报工作坊 第 2 讲 · 90 分钟</a:t>
            </a:r>
          </a:p>
        </p:txBody>
      </p:sp>
      <p:sp>
        <p:nvSpPr>
          <p:cNvPr id="6" name="page-number"/>
          <p:cNvSpPr txBox="1"/>
          <p:nvPr/>
        </p:nvSpPr>
        <p:spPr>
          <a:xfrm>
            <a:off x="60960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r" marL="0" indent="0">
              <a:buNone/>
            </a:pPr>
            <a:r>
              <a:rPr lang="zh-CN" altLang="en-US" sz="1200" b="0" dirty="0">
                <a:solidFill>
                  <a:srgbClr val="6B5645"/>
                </a:solidFill>
                <a:latin typeface="Caveat"/>
                <a:ea typeface="LXGW WenKai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2" descr="宽幅木版画风景：远山、水面、被裁断的近岸三层"/>
          <p:cNvPicPr>
            <a:picLocks noChangeAspect="1"/>
          </p:cNvPicPr>
          <p:nvPr/>
        </p:nvPicPr>
        <p:blipFill>
          <a:blip r:embed="rId2"/>
          <a:srcRect l="22008" r="2200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crim-band-1"/>
          <p:cNvSpPr/>
          <p:nvPr/>
        </p:nvSpPr>
        <p:spPr>
          <a:xfrm>
            <a:off x="0" y="5200000"/>
            <a:ext cx="4064000" cy="1000000"/>
          </a:xfrm>
          <a:prstGeom prst="rect">
            <a:avLst/>
          </a:prstGeom>
          <a:solidFill>
            <a:srgbClr val="37342E">
              <a:alpha val="92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" name="scrim-band-2"/>
          <p:cNvSpPr/>
          <p:nvPr/>
        </p:nvSpPr>
        <p:spPr>
          <a:xfrm>
            <a:off x="4064000" y="5200000"/>
            <a:ext cx="4064000" cy="1000000"/>
          </a:xfrm>
          <a:prstGeom prst="rect">
            <a:avLst/>
          </a:prstGeom>
          <a:solidFill>
            <a:srgbClr val="37342E">
              <a:alpha val="80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" name="scrim-band-3"/>
          <p:cNvSpPr/>
          <p:nvPr/>
        </p:nvSpPr>
        <p:spPr>
          <a:xfrm>
            <a:off x="8128000" y="5200000"/>
            <a:ext cx="4064000" cy="1000000"/>
          </a:xfrm>
          <a:prstGeom prst="rect">
            <a:avLst/>
          </a:prstGeom>
          <a:solidFill>
            <a:srgbClr val="37342E">
              <a:alpha val="66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6" name="title"/>
          <p:cNvSpPr txBox="1"/>
          <p:nvPr/>
        </p:nvSpPr>
        <p:spPr>
          <a:xfrm>
            <a:off x="685800" y="5200000"/>
            <a:ext cx="10820400" cy="100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4000" b="1" dirty="0">
                <a:solidFill>
                  <a:srgbClr val="FFF7ED"/>
                </a:solidFill>
                <a:latin typeface="Caveat"/>
                <a:ea typeface="LXGW WenKai"/>
              </a:rPr>
              <a:t>示范：三层叠出来是这个样子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6858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1200" b="0" dirty="0">
                <a:solidFill>
                  <a:srgbClr val="6B5645"/>
                </a:solidFill>
                <a:latin typeface="Caveat"/>
                <a:ea typeface="LXGW WenKai"/>
              </a:rPr>
              <a:t>浪与山 · 文旅海报工作坊 第 2 讲 · 90 分钟</a:t>
            </a:r>
          </a:p>
        </p:txBody>
      </p:sp>
      <p:sp>
        <p:nvSpPr>
          <p:cNvPr id="8" name="page-number"/>
          <p:cNvSpPr txBox="1"/>
          <p:nvPr/>
        </p:nvSpPr>
        <p:spPr>
          <a:xfrm>
            <a:off x="60960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r" marL="0" indent="0">
              <a:buNone/>
            </a:pPr>
            <a:r>
              <a:rPr lang="zh-CN" altLang="en-US" sz="1200" b="0" dirty="0">
                <a:solidFill>
                  <a:srgbClr val="6B5645"/>
                </a:solidFill>
                <a:latin typeface="Caveat"/>
                <a:ea typeface="LXGW WenKai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8"/>
          <p:cNvSpPr txBox="1"/>
          <p:nvPr/>
        </p:nvSpPr>
        <p:spPr>
          <a:xfrm>
            <a:off x="685800" y="760000"/>
            <a:ext cx="10820400" cy="8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2800" b="1" dirty="0">
                <a:solidFill>
                  <a:srgbClr val="1F1206"/>
                </a:solidFill>
                <a:latin typeface="Caveat"/>
                <a:ea typeface="LXGW WenKai"/>
              </a:rPr>
              <a:t>三个常见错误，和它们的改法</a:t>
            </a:r>
          </a:p>
        </p:txBody>
      </p:sp>
      <p:sp>
        <p:nvSpPr>
          <p:cNvPr id="3" name="left-header"/>
          <p:cNvSpPr/>
          <p:nvPr/>
        </p:nvSpPr>
        <p:spPr>
          <a:xfrm>
            <a:off x="685800" y="1700000"/>
            <a:ext cx="4724400" cy="420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" name="left-header-text"/>
          <p:cNvSpPr txBox="1"/>
          <p:nvPr/>
        </p:nvSpPr>
        <p:spPr>
          <a:xfrm>
            <a:off x="685800" y="1700000"/>
            <a:ext cx="4724400" cy="42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ctr" marL="0" indent="0">
              <a:buNone/>
            </a:pPr>
            <a:r>
              <a:rPr lang="zh-CN" altLang="en-US" sz="1400" b="1" dirty="0">
                <a:solidFill>
                  <a:srgbClr val="FFF7ED"/>
                </a:solidFill>
                <a:latin typeface="Caveat"/>
                <a:ea typeface="LXGW WenKai"/>
              </a:rPr>
              <a:t>A</a:t>
            </a:r>
          </a:p>
        </p:txBody>
      </p:sp>
      <p:sp>
        <p:nvSpPr>
          <p:cNvPr id="5" name="left-items"/>
          <p:cNvSpPr txBox="1"/>
          <p:nvPr/>
        </p:nvSpPr>
        <p:spPr>
          <a:xfrm>
            <a:off x="685800" y="2120000"/>
            <a:ext cx="4724400" cy="276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228600" indent="-228600">
              <a:lnSpc>
                <a:spcPts val="3622"/>
              </a:lnSpc>
              <a:buFont typeface="Arial"/>
              <a:buChar char="•"/>
            </a:pPr>
            <a:r>
              <a:rPr lang="zh-CN" altLang="en-US" sz="1600" b="0" dirty="0">
                <a:solidFill>
                  <a:srgbClr val="1F1206"/>
                </a:solidFill>
                <a:latin typeface="Caveat"/>
                <a:ea typeface="LXGW WenKai"/>
              </a:rPr>
              <a:t>错误一：颜色越加越多，最后有七八种。</a:t>
            </a:r>
          </a:p>
          <a:p>
            <a:pPr algn="l" marL="228600" indent="-228600">
              <a:lnSpc>
                <a:spcPts val="3622"/>
              </a:lnSpc>
              <a:buFont typeface="Arial"/>
              <a:buChar char="•"/>
            </a:pPr>
            <a:r>
              <a:rPr lang="zh-CN" altLang="en-US" sz="1600" b="0" dirty="0">
                <a:solidFill>
                  <a:srgbClr val="1F1206"/>
                </a:solidFill>
                <a:latin typeface="Caveat"/>
                <a:ea typeface="LXGW WenKai"/>
              </a:rPr>
              <a:t>错误二：把版画当底纹，上面盖一层半透明白，再压满字。</a:t>
            </a:r>
          </a:p>
          <a:p>
            <a:pPr algn="l" marL="228600" indent="-228600">
              <a:lnSpc>
                <a:spcPts val="3622"/>
              </a:lnSpc>
              <a:buFont typeface="Arial"/>
              <a:buChar char="•"/>
            </a:pPr>
            <a:r>
              <a:rPr lang="zh-CN" altLang="en-US" sz="1600" b="0" dirty="0">
                <a:solidFill>
                  <a:srgbClr val="1F1206"/>
                </a:solidFill>
                <a:latin typeface="Caveat"/>
                <a:ea typeface="LXGW WenKai"/>
              </a:rPr>
              <a:t>错误三：所有元素都完整，谁也不裁断，画面像贴纸集合。</a:t>
            </a:r>
          </a:p>
        </p:txBody>
      </p:sp>
      <p:sp>
        <p:nvSpPr>
          <p:cNvPr id="6" name="right-header"/>
          <p:cNvSpPr/>
          <p:nvPr/>
        </p:nvSpPr>
        <p:spPr>
          <a:xfrm>
            <a:off x="5810200" y="1700000"/>
            <a:ext cx="4724400" cy="420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7" name="right-header-text"/>
          <p:cNvSpPr txBox="1"/>
          <p:nvPr/>
        </p:nvSpPr>
        <p:spPr>
          <a:xfrm>
            <a:off x="5810200" y="1700000"/>
            <a:ext cx="4724400" cy="42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ctr" marL="0" indent="0">
              <a:buNone/>
            </a:pPr>
            <a:r>
              <a:rPr lang="zh-CN" altLang="en-US" sz="1400" b="1" dirty="0">
                <a:solidFill>
                  <a:srgbClr val="FFF7ED"/>
                </a:solidFill>
                <a:latin typeface="Caveat"/>
                <a:ea typeface="LXGW WenKai"/>
              </a:rPr>
              <a:t>错误二最常见，也最难劝——它看起来最省事。</a:t>
            </a:r>
          </a:p>
        </p:txBody>
      </p:sp>
      <p:sp>
        <p:nvSpPr>
          <p:cNvPr id="8" name="right-items"/>
          <p:cNvSpPr txBox="1"/>
          <p:nvPr/>
        </p:nvSpPr>
        <p:spPr>
          <a:xfrm>
            <a:off x="5810200" y="2120000"/>
            <a:ext cx="4724400" cy="276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228600" indent="-228600">
              <a:lnSpc>
                <a:spcPts val="3622"/>
              </a:lnSpc>
              <a:buFont typeface="Arial"/>
              <a:buChar char="•"/>
            </a:pPr>
            <a:r>
              <a:rPr lang="zh-CN" altLang="en-US" sz="1600" b="0" dirty="0">
                <a:solidFill>
                  <a:srgbClr val="1F1206"/>
                </a:solidFill>
                <a:latin typeface="Caveat"/>
                <a:ea typeface="LXGW WenKai"/>
              </a:rPr>
              <a:t>改法：删到四种以内，其中一种只用于点睛。</a:t>
            </a:r>
          </a:p>
          <a:p>
            <a:pPr algn="l" marL="228600" indent="-228600">
              <a:lnSpc>
                <a:spcPts val="3622"/>
              </a:lnSpc>
              <a:buFont typeface="Arial"/>
              <a:buChar char="•"/>
            </a:pPr>
            <a:r>
              <a:rPr lang="zh-CN" altLang="en-US" sz="1600" b="0" dirty="0">
                <a:solidFill>
                  <a:srgbClr val="1F1206"/>
                </a:solidFill>
                <a:latin typeface="Caveat"/>
                <a:ea typeface="LXGW WenKai"/>
              </a:rPr>
              <a:t>改法：给文字留出真正的空处，画就让它是画。</a:t>
            </a:r>
          </a:p>
          <a:p>
            <a:pPr algn="l" marL="228600" indent="-228600">
              <a:lnSpc>
                <a:spcPts val="3622"/>
              </a:lnSpc>
              <a:buFont typeface="Arial"/>
              <a:buChar char="•"/>
            </a:pPr>
            <a:r>
              <a:rPr lang="zh-CN" altLang="en-US" sz="1600" b="0" dirty="0">
                <a:solidFill>
                  <a:srgbClr val="1F1206"/>
                </a:solidFill>
                <a:latin typeface="Caveat"/>
                <a:ea typeface="LXGW WenKai"/>
              </a:rPr>
              <a:t>改法：挑一样近景，大胆裁掉它三分之一。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6858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1200" b="0" dirty="0">
                <a:solidFill>
                  <a:srgbClr val="6B5645"/>
                </a:solidFill>
                <a:latin typeface="Caveat"/>
                <a:ea typeface="LXGW WenKai"/>
              </a:rPr>
              <a:t>浪与山 · 文旅海报工作坊 第 2 讲 · 90 分钟</a:t>
            </a:r>
          </a:p>
        </p:txBody>
      </p:sp>
      <p:sp>
        <p:nvSpPr>
          <p:cNvPr id="10" name="page-number"/>
          <p:cNvSpPr txBox="1"/>
          <p:nvPr/>
        </p:nvSpPr>
        <p:spPr>
          <a:xfrm>
            <a:off x="60960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r" marL="0" indent="0">
              <a:buNone/>
            </a:pPr>
            <a:r>
              <a:rPr lang="zh-CN" altLang="en-US" sz="1200" b="0" dirty="0">
                <a:solidFill>
                  <a:srgbClr val="6B5645"/>
                </a:solidFill>
                <a:latin typeface="Caveat"/>
                <a:ea typeface="LXGW WenKai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-dot"/>
          <p:cNvSpPr/>
          <p:nvPr/>
        </p:nvSpPr>
        <p:spPr>
          <a:xfrm>
            <a:off x="685800" y="620000"/>
            <a:ext cx="200000" cy="70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title-9"/>
          <p:cNvSpPr txBox="1"/>
          <p:nvPr/>
        </p:nvSpPr>
        <p:spPr>
          <a:xfrm>
            <a:off x="685800" y="760000"/>
            <a:ext cx="10820400" cy="8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2800" b="1" dirty="0">
                <a:solidFill>
                  <a:srgbClr val="1F1206"/>
                </a:solidFill>
                <a:latin typeface="Caveat"/>
                <a:ea typeface="LXGW WenKai"/>
              </a:rPr>
              <a:t>作业 · 下周带来什么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685800" y="1700000"/>
            <a:ext cx="10820400" cy="45484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228600" indent="-228600">
              <a:lnSpc>
                <a:spcPts val="4094"/>
              </a:lnSpc>
              <a:buFont typeface="Arial"/>
              <a:buChar char="•"/>
            </a:pPr>
            <a:r>
              <a:rPr lang="zh-CN" altLang="en-US" sz="1800" b="0" dirty="0">
                <a:solidFill>
                  <a:srgbClr val="1F1206"/>
                </a:solidFill>
                <a:latin typeface="Caveat"/>
                <a:ea typeface="LXGW WenKai"/>
              </a:rPr>
              <a:t>一张 A3 草图：三层分明，四色以内，前景有裁断。</a:t>
            </a:r>
          </a:p>
          <a:p>
            <a:pPr algn="l" marL="228600" indent="-228600">
              <a:lnSpc>
                <a:spcPts val="4094"/>
              </a:lnSpc>
              <a:buFont typeface="Arial"/>
              <a:buChar char="•"/>
            </a:pPr>
            <a:r>
              <a:rPr lang="zh-CN" altLang="en-US" sz="1800" b="0" dirty="0">
                <a:solidFill>
                  <a:srgbClr val="1F1206"/>
                </a:solidFill>
                <a:latin typeface="Caveat"/>
                <a:ea typeface="LXGW WenKai"/>
              </a:rPr>
              <a:t>一句话说明：你想让人记住这个地方的哪一点。</a:t>
            </a:r>
          </a:p>
          <a:p>
            <a:pPr algn="l" marL="228600" indent="-228600">
              <a:lnSpc>
                <a:spcPts val="4094"/>
              </a:lnSpc>
              <a:buFont typeface="Arial"/>
              <a:buChar char="•"/>
            </a:pPr>
            <a:r>
              <a:rPr lang="zh-CN" altLang="en-US" sz="1800" b="0" dirty="0">
                <a:solidFill>
                  <a:srgbClr val="1F1206"/>
                </a:solidFill>
                <a:latin typeface="Caveat"/>
                <a:ea typeface="LXGW WenKai"/>
              </a:rPr>
              <a:t>一张失败稿：把你自己判定不合格的那版也带来，我们看它坏在哪。</a:t>
            </a:r>
          </a:p>
          <a:p>
            <a:pPr algn="l" marL="228600" indent="-228600">
              <a:lnSpc>
                <a:spcPts val="4094"/>
              </a:lnSpc>
              <a:buFont typeface="Arial"/>
              <a:buChar char="•"/>
            </a:pPr>
            <a:r>
              <a:rPr lang="zh-CN" altLang="en-US" sz="1800" b="0" dirty="0">
                <a:solidFill>
                  <a:srgbClr val="1F1206"/>
                </a:solidFill>
                <a:latin typeface="Caveat"/>
                <a:ea typeface="LXGW WenKai"/>
              </a:rPr>
              <a:t>交付时间：下周同一时间，纸质稿，不收截图。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1200" b="0" dirty="0">
                <a:solidFill>
                  <a:srgbClr val="6B5645"/>
                </a:solidFill>
                <a:latin typeface="Caveat"/>
                <a:ea typeface="LXGW WenKai"/>
              </a:rPr>
              <a:t>浪与山 · 文旅海报工作坊 第 2 讲 · 90 分钟</a:t>
            </a:r>
          </a:p>
        </p:txBody>
      </p:sp>
      <p:sp>
        <p:nvSpPr>
          <p:cNvPr id="6" name="page-number"/>
          <p:cNvSpPr txBox="1"/>
          <p:nvPr/>
        </p:nvSpPr>
        <p:spPr>
          <a:xfrm>
            <a:off x="60960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r" marL="0" indent="0">
              <a:buNone/>
            </a:pPr>
            <a:r>
              <a:rPr lang="zh-CN" altLang="en-US" sz="1200" b="0" dirty="0">
                <a:solidFill>
                  <a:srgbClr val="6B5645"/>
                </a:solidFill>
                <a:latin typeface="Caveat"/>
                <a:ea typeface="LXGW WenKai"/>
              </a:rPr>
              <a:t>9 / 9</a:t>
            </a:r>
          </a:p>
        </p:txBody>
      </p:sp>
      <p:sp>
        <p:nvSpPr>
          <p:cNvPr id="7" name="oceanleo-credits"/>
          <p:cNvSpPr txBox="1"/>
          <p:nvPr/>
        </p:nvSpPr>
        <p:spPr>
          <a:xfrm>
            <a:off x="685800" y="6060800"/>
            <a:ext cx="10820400" cy="32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1200" b="0" dirty="0">
                <a:solidFill>
                  <a:srgbClr val="6B5645"/>
                </a:solidFill>
                <a:latin typeface="Caveat"/>
                <a:ea typeface="LXGW WenKai"/>
              </a:rPr>
              <a:t>配图复用自 OceanLeo 平台既有浮世绘和风演示模板（ukiyo / route-ukiyo / artedu-ukiyo 三套整页图裁切），第一方素材 (OceanLeo-Free-1.0); 课程文字为 OceanLeo 第一方原创示例 (CC0-1.0)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ceanLeo Deck">
  <a:themeElements>
    <a:clrScheme name="OceanLeo">
      <a:dk1>
        <a:srgbClr val="1F1206"/>
      </a:dk1>
      <a:lt1>
        <a:srgbClr val="FFF7ED"/>
      </a:lt1>
      <a:dk2>
        <a:srgbClr val="6B5645"/>
      </a:dk2>
      <a:lt2>
        <a:srgbClr val="FFF7ED"/>
      </a:lt2>
      <a:accent1>
        <a:srgbClr val="EA580C"/>
      </a:accent1>
      <a:accent2>
        <a:srgbClr val="C2410C"/>
      </a:accent2>
      <a:accent3>
        <a:srgbClr val="7C2D12"/>
      </a:accent3>
      <a:accent4>
        <a:srgbClr val="FB923C"/>
      </a:accent4>
      <a:accent5>
        <a:srgbClr val="FDBA74"/>
      </a:accent5>
      <a:accent6>
        <a:srgbClr val="F97316"/>
      </a:accent6>
      <a:hlink>
        <a:srgbClr val="0969DA"/>
      </a:hlink>
      <a:folHlink>
        <a:srgbClr val="8250DF"/>
      </a:folHlink>
    </a:clrScheme>
    <a:fontScheme name="OceanLeo">
      <a:majorFont>
        <a:latin typeface="Caveat"/>
        <a:ea typeface="LXGW WenKai"/>
        <a:cs typeface=""/>
      </a:majorFont>
      <a:minorFont>
        <a:latin typeface="LXGW WenKai"/>
        <a:ea typeface="LXGW WenKai"/>
        <a:cs typeface=""/>
      </a:minorFont>
    </a:fontScheme>
    <a:fmtScheme name="OceanLeo">
      <a:fillStyleLst>
        <a:solidFill>
          <a:schemeClr val="phClr">
            <a:lumMod val="100000"/>
          </a:schemeClr>
        </a:solidFill>
        <a:solidFill>
          <a:schemeClr val="phClr">
            <a:lumMod val="90000"/>
          </a:schemeClr>
        </a:solidFill>
        <a:solidFill>
          <a:schemeClr val="phClr">
            <a:lumMod val="80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>
            <a:lumMod val="100000"/>
          </a:schemeClr>
        </a:solidFill>
        <a:solidFill>
          <a:schemeClr val="phClr">
            <a:lumMod val="95000"/>
          </a:schemeClr>
        </a:solidFill>
        <a:solidFill>
          <a:schemeClr val="phClr">
            <a:lumMod val="85000"/>
          </a:schemeClr>
        </a:solidFill>
      </a:bgFillStyleLst>
    </a:fmtScheme>
  </a:themeElements>
  <a:objectDefaults/>
  <a:extraClrSchemeLst/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浪与山：六个版画语汇，做一张能用的文旅海报</dc:title>
  <dc:subject>浪与山：六个版画语汇，做一张能用的文旅海报</dc:subject>
  <dc:creator>OceanLeo</dc:creator>
  <cp:lastModifiedBy>OceanLeo</cp:lastModifiedBy>
  <cp:revision>1</cp:revision>
  <dcterms:created xsi:type="dcterms:W3CDTF">2026-07-29T00:00:00Z</dcterms:created>
  <dcterms:modified xsi:type="dcterms:W3CDTF">2026-07-29T00:00:00Z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ceanLeoCredits">
    <vt:lpwstr>配图复用自 OceanLeo 平台既有浮世绘和风演示模板（ukiyo / route-ukiyo / artedu-ukiyo 三套整页图裁切），第一方素材 (OceanLeo-Free-1.0); 课程文字为 OceanLeo 第一方原创示例 (CC0-1.0)</vt:lpwstr>
  </property>
</Properties>
</file>