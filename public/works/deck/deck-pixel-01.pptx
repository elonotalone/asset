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theme" Target="theme/theme1.xml"/><Relationship Id="rId12" Type="http://schemas.openxmlformats.org/officeDocument/2006/relationships/notesMaster" Target="notesMasters/notesMaster1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首屏 P75（秒）</c:v>
                </c:pt>
              </c:strCache>
            </c:strRef>
          </c:tx>
          <c:spPr>
            <a:solidFill>
              <a:srgbClr val="2A4BD7"/>
            </a:solidFill>
          </c:spPr>
          <c:marker>
            <c:symbol val="circle"/>
            <c:size val="7"/>
            <c:spPr>
              <a:solidFill>
                <a:srgbClr val="2A4BD7"/>
              </a:solidFill>
            </c:spPr>
          </c:marker>
          <c:cat>
            <c:strRef>
              <c:f>Sheet1!$A$2:$A$8</c:f>
              <c:strCache>
                <c:ptCount val="7"/>
                <c:pt idx="0">
                  <c:v>W0</c:v>
                </c:pt>
                <c:pt idx="1">
                  <c:v>W1</c:v>
                </c:pt>
                <c:pt idx="2">
                  <c:v>W2</c:v>
                </c:pt>
                <c:pt idx="3">
                  <c:v>W3</c:v>
                </c:pt>
                <c:pt idx="4">
                  <c:v>W4</c:v>
                </c:pt>
                <c:pt idx="5">
                  <c:v>W5</c:v>
                </c:pt>
                <c:pt idx="6">
                  <c:v>W6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4.2</c:v>
                </c:pt>
                <c:pt idx="1">
                  <c:v>3.6</c:v>
                </c:pt>
                <c:pt idx="2">
                  <c:v>2.9</c:v>
                </c:pt>
                <c:pt idx="3">
                  <c:v>3.1</c:v>
                </c:pt>
                <c:pt idx="4">
                  <c:v>1.8</c:v>
                </c:pt>
                <c:pt idx="5">
                  <c:v>1.3</c:v>
                </c:pt>
                <c:pt idx="6">
                  <c:v>1.1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接口 P95（秒）</c:v>
                </c:pt>
              </c:strCache>
            </c:strRef>
          </c:tx>
          <c:spPr>
            <a:solidFill>
              <a:srgbClr val="8A90A3"/>
            </a:solidFill>
          </c:spPr>
          <c:marker>
            <c:symbol val="square"/>
            <c:size val="7"/>
            <c:spPr>
              <a:solidFill>
                <a:srgbClr val="8A90A3"/>
              </a:solidFill>
            </c:spPr>
          </c:marker>
          <c:cat>
            <c:strRef>
              <c:f>Sheet1!$A$2:$A$8</c:f>
              <c:strCache>
                <c:ptCount val="7"/>
                <c:pt idx="0">
                  <c:v>W0</c:v>
                </c:pt>
                <c:pt idx="1">
                  <c:v>W1</c:v>
                </c:pt>
                <c:pt idx="2">
                  <c:v>W2</c:v>
                </c:pt>
                <c:pt idx="3">
                  <c:v>W3</c:v>
                </c:pt>
                <c:pt idx="4">
                  <c:v>W4</c:v>
                </c:pt>
                <c:pt idx="5">
                  <c:v>W5</c:v>
                </c:pt>
                <c:pt idx="6">
                  <c:v>W6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0.98</c:v>
                </c:pt>
                <c:pt idx="1">
                  <c:v>0.91</c:v>
                </c:pt>
                <c:pt idx="2">
                  <c:v>0.87</c:v>
                </c:pt>
                <c:pt idx="3">
                  <c:v>0.64</c:v>
                </c:pt>
                <c:pt idx="4">
                  <c:v>0.41</c:v>
                </c:pt>
                <c:pt idx="5">
                  <c:v>0.35</c:v>
                </c:pt>
                <c:pt idx="6">
                  <c:v>0.312</c:v>
                </c:pt>
              </c:numCache>
            </c:numRef>
          </c:val>
          <c:smooth val="0"/>
        </c:ser>
        <c:marker val="1"/>
        <c:axId val="111111111"/>
        <c:axId val="222222222"/>
      </c:lineChart>
      <c:catAx>
        <c:axId val="111111111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zh-CN" sz="1400"/>
                  <a:t>秒</a:t>
                </a:r>
              </a:p>
            </c:rich>
          </c:tx>
          <c:overlay val="0"/>
        </c:title>
        <c:crossAx val="222222222"/>
      </c:catAx>
      <c:valAx>
        <c:axId val="222222222"/>
        <c:scaling>
          <c:orientation val="minMax"/>
        </c:scaling>
        <c:delete val="0"/>
        <c:axPos val="l"/>
        <c:majorGridlines/>
        <c:numFmt formatCode="General" sourceLinked="1"/>
        <c:crossAx val="111111111"/>
      </c:valAx>
    </c:plotArea>
    <c:legend>
      <c:legendPos val="b"/>
      <c:overlay val="0"/>
    </c:legend>
    <c:plotVisOnly val="1"/>
    <c:dispBlanksAs val="gap"/>
  </c:chart>
  <c:spPr>
    <a:solidFill>
      <a:srgbClr val="FFFFFF"/>
    </a:solidFill>
  </c:spPr>
  <c:externalData xmlns:r="http://schemas.openxmlformats.org/officeDocument/2006/relationships" r:id="rId1">
    <c:autoUpdate val="0"/>
  </c:externalData>
</c:chartSpace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这份材料对内。数字全给，包括我们做砸的那两周。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先给结论，再讲过程。回滚那两次是这份材料里最值钱的部分。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强调第 0 周。没有那一周，后面六周会全在瞎改。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 3 周首屏不降反升，因为缓存改错了。表上留着，不许美化。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两条线在第 3 周分岔的那一刻，就该停下来查缓存，而不是继续加优化。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坑三写清楚是谁改的、怎么发现的，别含糊过去。含糊一次，下次还犯。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这一半是运维和前端一起做的，功劳写两边。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最后一条要认下来：没有验收标准的优化，等于没有终点。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9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三件事都有人、有日期。没有日期的不写进这一页。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title"/>
          <p:cNvSpPr>
            <a:spLocks noGrp="1"/>
          </p:cNvSpPr>
          <p:nvPr>
            <p:ph type="title"/>
          </p:nvPr>
        </p:nvSpPr>
        <p:spPr>
          <a:xfrm>
            <a:off x="685800" y="1500000"/>
            <a:ext cx="10820400" cy="9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title-accentBar"/>
          <p:cNvSpPr>
            <a:spLocks noGrp="1"/>
          </p:cNvSpPr>
          <p:nvPr>
            <p:ph type="body" idx="1"/>
          </p:nvPr>
        </p:nvSpPr>
        <p:spPr>
          <a:xfrm>
            <a:off x="685800" y="2400000"/>
            <a:ext cx="10820400" cy="9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title-subtitle"/>
          <p:cNvSpPr>
            <a:spLocks noGrp="1"/>
          </p:cNvSpPr>
          <p:nvPr>
            <p:ph type="body" idx="2"/>
          </p:nvPr>
        </p:nvSpPr>
        <p:spPr>
          <a:xfrm>
            <a:off x="685800" y="2700000"/>
            <a:ext cx="10820400" cy="6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accentBar"/>
          <p:cNvSpPr>
            <a:spLocks noGrp="1"/>
          </p:cNvSpPr>
          <p:nvPr>
            <p:ph type="title"/>
          </p:nvPr>
        </p:nvSpPr>
        <p:spPr>
          <a:xfrm>
            <a:off x="0" y="0"/>
            <a:ext cx="460000" cy="6858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section-title"/>
          <p:cNvSpPr>
            <a:spLocks noGrp="1"/>
          </p:cNvSpPr>
          <p:nvPr>
            <p:ph type="body" idx="1"/>
          </p:nvPr>
        </p:nvSpPr>
        <p:spPr>
          <a:xfrm>
            <a:off x="1000000" y="2600000"/>
            <a:ext cx="10506200" cy="9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ection-subtitle"/>
          <p:cNvSpPr>
            <a:spLocks noGrp="1"/>
          </p:cNvSpPr>
          <p:nvPr>
            <p:ph type="body" idx="2"/>
          </p:nvPr>
        </p:nvSpPr>
        <p:spPr>
          <a:xfrm>
            <a:off x="1000000" y="3600000"/>
            <a:ext cx="10506200" cy="6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ullets-accentDot"/>
          <p:cNvSpPr>
            <a:spLocks noGrp="1"/>
          </p:cNvSpPr>
          <p:nvPr>
            <p:ph type="title"/>
          </p:nvPr>
        </p:nvSpPr>
        <p:spPr>
          <a:xfrm>
            <a:off x="685800" y="620000"/>
            <a:ext cx="200000" cy="7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bullets-title"/>
          <p:cNvSpPr>
            <a:spLocks noGrp="1"/>
          </p:cNvSpPr>
          <p:nvPr>
            <p:ph type="body" idx="1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bullets-bullets"/>
          <p:cNvSpPr>
            <a:spLocks noGrp="1"/>
          </p:cNvSpPr>
          <p:nvPr>
            <p:ph type="body" idx="2"/>
          </p:nvPr>
        </p:nvSpPr>
        <p:spPr>
          <a:xfrm>
            <a:off x="685800" y="1700000"/>
            <a:ext cx="10820400" cy="45484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wo-column-title"/>
          <p:cNvSpPr>
            <a:spLocks noGrp="1"/>
          </p:cNvSpPr>
          <p:nvPr>
            <p:ph type="title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two-column-left"/>
          <p:cNvSpPr>
            <a:spLocks noGrp="1"/>
          </p:cNvSpPr>
          <p:nvPr>
            <p:ph type="body" idx="1"/>
          </p:nvPr>
        </p:nvSpPr>
        <p:spPr>
          <a:xfrm>
            <a:off x="685800" y="1700000"/>
            <a:ext cx="4724400" cy="45484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two-column-right"/>
          <p:cNvSpPr>
            <a:spLocks noGrp="1"/>
          </p:cNvSpPr>
          <p:nvPr>
            <p:ph type="body" idx="2"/>
          </p:nvPr>
        </p:nvSpPr>
        <p:spPr>
          <a:xfrm>
            <a:off x="5810200" y="1700000"/>
            <a:ext cx="4724400" cy="45484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data-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a-table-title"/>
          <p:cNvSpPr>
            <a:spLocks noGrp="1"/>
          </p:cNvSpPr>
          <p:nvPr>
            <p:ph type="title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a-table-table"/>
          <p:cNvSpPr>
            <a:spLocks noGrp="1"/>
          </p:cNvSpPr>
          <p:nvPr>
            <p:ph type="body" idx="1"/>
          </p:nvPr>
        </p:nvSpPr>
        <p:spPr>
          <a:xfrm>
            <a:off x="685800" y="1700000"/>
            <a:ext cx="10820400" cy="45484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image-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-full-image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image-full-scrim"/>
          <p:cNvSpPr>
            <a:spLocks noGrp="1"/>
          </p:cNvSpPr>
          <p:nvPr>
            <p:ph type="body" idx="1"/>
          </p:nvPr>
        </p:nvSpPr>
        <p:spPr>
          <a:xfrm>
            <a:off x="0" y="5200000"/>
            <a:ext cx="12192000" cy="10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image-full-title"/>
          <p:cNvSpPr>
            <a:spLocks noGrp="1"/>
          </p:cNvSpPr>
          <p:nvPr>
            <p:ph type="body" idx="2"/>
          </p:nvPr>
        </p:nvSpPr>
        <p:spPr>
          <a:xfrm>
            <a:off x="685800" y="5200000"/>
            <a:ext cx="10820400" cy="10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-left-image"/>
          <p:cNvSpPr>
            <a:spLocks noGrp="1"/>
          </p:cNvSpPr>
          <p:nvPr>
            <p:ph type="title"/>
          </p:nvPr>
        </p:nvSpPr>
        <p:spPr>
          <a:xfrm>
            <a:off x="685800" y="1700000"/>
            <a:ext cx="3962400" cy="36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image-left-title"/>
          <p:cNvSpPr>
            <a:spLocks noGrp="1"/>
          </p:cNvSpPr>
          <p:nvPr>
            <p:ph type="body" idx="1"/>
          </p:nvPr>
        </p:nvSpPr>
        <p:spPr>
          <a:xfrm>
            <a:off x="5562600" y="760000"/>
            <a:ext cx="59436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image-left-bullets"/>
          <p:cNvSpPr>
            <a:spLocks noGrp="1"/>
          </p:cNvSpPr>
          <p:nvPr>
            <p:ph type="body" idx="2"/>
          </p:nvPr>
        </p:nvSpPr>
        <p:spPr>
          <a:xfrm>
            <a:off x="5562600" y="1700000"/>
            <a:ext cx="5943600" cy="36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image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-right-image"/>
          <p:cNvSpPr>
            <a:spLocks noGrp="1"/>
          </p:cNvSpPr>
          <p:nvPr>
            <p:ph type="title"/>
          </p:nvPr>
        </p:nvSpPr>
        <p:spPr>
          <a:xfrm>
            <a:off x="7543800" y="1700000"/>
            <a:ext cx="3962400" cy="36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image-right-title"/>
          <p:cNvSpPr>
            <a:spLocks noGrp="1"/>
          </p:cNvSpPr>
          <p:nvPr>
            <p:ph type="body" idx="1"/>
          </p:nvPr>
        </p:nvSpPr>
        <p:spPr>
          <a:xfrm>
            <a:off x="685800" y="760000"/>
            <a:ext cx="59436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image-right-bullets"/>
          <p:cNvSpPr>
            <a:spLocks noGrp="1"/>
          </p:cNvSpPr>
          <p:nvPr>
            <p:ph type="body" idx="2"/>
          </p:nvPr>
        </p:nvSpPr>
        <p:spPr>
          <a:xfrm>
            <a:off x="685800" y="1700000"/>
            <a:ext cx="5943600" cy="36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image-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-grid-title"/>
          <p:cNvSpPr>
            <a:spLocks noGrp="1"/>
          </p:cNvSpPr>
          <p:nvPr>
            <p:ph type="title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image-grid-cell"/>
          <p:cNvSpPr>
            <a:spLocks noGrp="1"/>
          </p:cNvSpPr>
          <p:nvPr>
            <p:ph type="body" idx="1"/>
          </p:nvPr>
        </p:nvSpPr>
        <p:spPr>
          <a:xfrm>
            <a:off x="685800" y="1700000"/>
            <a:ext cx="3505200" cy="202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chart-foc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rt-focus-title"/>
          <p:cNvSpPr>
            <a:spLocks noGrp="1"/>
          </p:cNvSpPr>
          <p:nvPr>
            <p:ph type="title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chart-focus-chart"/>
          <p:cNvSpPr>
            <a:spLocks noGrp="1"/>
          </p:cNvSpPr>
          <p:nvPr>
            <p:ph type="body" idx="1"/>
          </p:nvPr>
        </p:nvSpPr>
        <p:spPr>
          <a:xfrm>
            <a:off x="685800" y="1700000"/>
            <a:ext cx="10820400" cy="3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chart-focus-conclusion"/>
          <p:cNvSpPr>
            <a:spLocks noGrp="1"/>
          </p:cNvSpPr>
          <p:nvPr>
            <p:ph type="body" idx="2"/>
          </p:nvPr>
        </p:nvSpPr>
        <p:spPr>
          <a:xfrm>
            <a:off x="685800" y="5600000"/>
            <a:ext cx="10820400" cy="48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hart-with-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rt-with-notes-title"/>
          <p:cNvSpPr>
            <a:spLocks noGrp="1"/>
          </p:cNvSpPr>
          <p:nvPr>
            <p:ph type="title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chart-with-notes-chart"/>
          <p:cNvSpPr>
            <a:spLocks noGrp="1"/>
          </p:cNvSpPr>
          <p:nvPr>
            <p:ph type="body" idx="1"/>
          </p:nvPr>
        </p:nvSpPr>
        <p:spPr>
          <a:xfrm>
            <a:off x="685800" y="1700000"/>
            <a:ext cx="5943600" cy="3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chart-with-notes-bullets"/>
          <p:cNvSpPr>
            <a:spLocks noGrp="1"/>
          </p:cNvSpPr>
          <p:nvPr>
            <p:ph type="body" idx="2"/>
          </p:nvPr>
        </p:nvSpPr>
        <p:spPr>
          <a:xfrm>
            <a:off x="6934200" y="1700000"/>
            <a:ext cx="3962400" cy="3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kpi-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pi-row-title"/>
          <p:cNvSpPr>
            <a:spLocks noGrp="1"/>
          </p:cNvSpPr>
          <p:nvPr>
            <p:ph type="title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kpi-row-card"/>
          <p:cNvSpPr>
            <a:spLocks noGrp="1"/>
          </p:cNvSpPr>
          <p:nvPr>
            <p:ph type="body" idx="1"/>
          </p:nvPr>
        </p:nvSpPr>
        <p:spPr>
          <a:xfrm>
            <a:off x="685800" y="2000000"/>
            <a:ext cx="4724400" cy="19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mparison-title"/>
          <p:cNvSpPr>
            <a:spLocks noGrp="1"/>
          </p:cNvSpPr>
          <p:nvPr>
            <p:ph type="title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comparison-leftHeader"/>
          <p:cNvSpPr>
            <a:spLocks noGrp="1"/>
          </p:cNvSpPr>
          <p:nvPr>
            <p:ph type="body" idx="1"/>
          </p:nvPr>
        </p:nvSpPr>
        <p:spPr>
          <a:xfrm>
            <a:off x="685800" y="1700000"/>
            <a:ext cx="4724400" cy="42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comparison-rightHeader"/>
          <p:cNvSpPr>
            <a:spLocks noGrp="1"/>
          </p:cNvSpPr>
          <p:nvPr>
            <p:ph type="body" idx="2"/>
          </p:nvPr>
        </p:nvSpPr>
        <p:spPr>
          <a:xfrm>
            <a:off x="5810200" y="1700000"/>
            <a:ext cx="4724400" cy="42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line-title"/>
          <p:cNvSpPr>
            <a:spLocks noGrp="1"/>
          </p:cNvSpPr>
          <p:nvPr>
            <p:ph type="title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timeline-axis"/>
          <p:cNvSpPr>
            <a:spLocks noGrp="1"/>
          </p:cNvSpPr>
          <p:nvPr>
            <p:ph type="body" idx="1"/>
          </p:nvPr>
        </p:nvSpPr>
        <p:spPr>
          <a:xfrm>
            <a:off x="685800" y="3400000"/>
            <a:ext cx="10820400" cy="4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timeline-node"/>
          <p:cNvSpPr>
            <a:spLocks noGrp="1"/>
          </p:cNvSpPr>
          <p:nvPr>
            <p:ph type="body" idx="2"/>
          </p:nvPr>
        </p:nvSpPr>
        <p:spPr>
          <a:xfrm>
            <a:off x="685800" y="3310000"/>
            <a:ext cx="180000" cy="18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-mark"/>
          <p:cNvSpPr>
            <a:spLocks noGrp="1"/>
          </p:cNvSpPr>
          <p:nvPr>
            <p:ph type="title"/>
          </p:nvPr>
        </p:nvSpPr>
        <p:spPr>
          <a:xfrm>
            <a:off x="1609800" y="2200000"/>
            <a:ext cx="300000" cy="3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quote-quote"/>
          <p:cNvSpPr>
            <a:spLocks noGrp="1"/>
          </p:cNvSpPr>
          <p:nvPr>
            <p:ph type="body" idx="1"/>
          </p:nvPr>
        </p:nvSpPr>
        <p:spPr>
          <a:xfrm>
            <a:off x="2209800" y="2200000"/>
            <a:ext cx="7163400" cy="14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quote-attribution"/>
          <p:cNvSpPr>
            <a:spLocks noGrp="1"/>
          </p:cNvSpPr>
          <p:nvPr>
            <p:ph type="body" idx="2"/>
          </p:nvPr>
        </p:nvSpPr>
        <p:spPr>
          <a:xfrm>
            <a:off x="2209800" y="4000000"/>
            <a:ext cx="7163400" cy="4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mixed-tripty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ixed-triptych-title"/>
          <p:cNvSpPr>
            <a:spLocks noGrp="1"/>
          </p:cNvSpPr>
          <p:nvPr>
            <p:ph type="title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mixed-triptych-image"/>
          <p:cNvSpPr>
            <a:spLocks noGrp="1"/>
          </p:cNvSpPr>
          <p:nvPr>
            <p:ph type="body" idx="1"/>
          </p:nvPr>
        </p:nvSpPr>
        <p:spPr>
          <a:xfrm>
            <a:off x="685800" y="1700000"/>
            <a:ext cx="3505200" cy="24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mixed-triptych-chart"/>
          <p:cNvSpPr>
            <a:spLocks noGrp="1"/>
          </p:cNvSpPr>
          <p:nvPr>
            <p:ph type="body" idx="2"/>
          </p:nvPr>
        </p:nvSpPr>
        <p:spPr>
          <a:xfrm>
            <a:off x="4343400" y="1700000"/>
            <a:ext cx="3505200" cy="24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Body Placeholder"/>
          <p:cNvSpPr>
            <a:spLocks noGrp="1"/>
          </p:cNvSpPr>
          <p:nvPr>
            <p:ph type="body" idx="1"/>
          </p:nvPr>
        </p:nvSpPr>
        <p:spPr>
          <a:xfrm>
            <a:off x="685800" y="1700000"/>
            <a:ext cx="10820400" cy="45484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Number Placeholder"/>
          <p:cNvSpPr>
            <a:spLocks noGrp="1"/>
          </p:cNvSpPr>
          <p:nvPr>
            <p:ph type="sldNum" idx="12"/>
          </p:nvPr>
        </p:nvSpPr>
        <p:spPr>
          <a:xfrm>
            <a:off x="6096000" y="6400800"/>
            <a:ext cx="5410200" cy="3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00" r:id="rId1"/>
    <p:sldLayoutId id="2147483601" r:id="rId2"/>
    <p:sldLayoutId id="2147483602" r:id="rId3"/>
    <p:sldLayoutId id="2147483603" r:id="rId4"/>
    <p:sldLayoutId id="2147483604" r:id="rId5"/>
    <p:sldLayoutId id="2147483605" r:id="rId6"/>
    <p:sldLayoutId id="2147483606" r:id="rId7"/>
    <p:sldLayoutId id="2147483607" r:id="rId8"/>
    <p:sldLayoutId id="2147483608" r:id="rId9"/>
    <p:sldLayoutId id="2147483609" r:id="rId10"/>
    <p:sldLayoutId id="2147483610" r:id="rId11"/>
    <p:sldLayoutId id="2147483611" r:id="rId12"/>
    <p:sldLayoutId id="2147483612" r:id="rId13"/>
    <p:sldLayoutId id="2147483613" r:id="rId14"/>
    <p:sldLayoutId id="2147483614" r:id="rId15"/>
    <p:sldLayoutId id="2147483615" r:id="rId16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.pn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1"/>
          <p:cNvSpPr txBox="1"/>
          <p:nvPr/>
        </p:nvSpPr>
        <p:spPr>
          <a:xfrm>
            <a:off x="685800" y="1500000"/>
            <a:ext cx="10820400" cy="9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ctr" marL="0" indent="0">
              <a:buNone/>
            </a:pPr>
            <a:r>
              <a:rPr lang="zh-CN" altLang="en-US" sz="4400" b="1" dirty="0">
                <a:solidFill>
                  <a:srgbClr val="1F2328"/>
                </a:solidFill>
                <a:latin typeface="Noto Sans Mono CJK SC"/>
                <a:ea typeface="Microsoft YaHei"/>
              </a:rPr>
              <a:t>像素级复盘</a:t>
            </a:r>
          </a:p>
        </p:txBody>
      </p:sp>
      <p:sp>
        <p:nvSpPr>
          <p:cNvPr id="3" name="accent-bar"/>
          <p:cNvSpPr/>
          <p:nvPr/>
        </p:nvSpPr>
        <p:spPr>
          <a:xfrm>
            <a:off x="685800" y="2400000"/>
            <a:ext cx="10820400" cy="90000"/>
          </a:xfrm>
          <a:prstGeom prst="rect">
            <a:avLst/>
          </a:prstGeom>
          <a:solidFill>
            <a:srgbClr val="2A4BD7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" name="subtitle"/>
          <p:cNvSpPr txBox="1"/>
          <p:nvPr/>
        </p:nvSpPr>
        <p:spPr>
          <a:xfrm>
            <a:off x="685800" y="2700000"/>
            <a:ext cx="10820400" cy="6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ctr" marL="0" indent="0">
              <a:buNone/>
            </a:pPr>
            <a:r>
              <a:rPr lang="zh-CN" altLang="en-US" sz="1800" b="0" dirty="0">
                <a:solidFill>
                  <a:srgbClr val="3A4149"/>
                </a:solidFill>
                <a:latin typeface="Noto Sans Mono CJK SC"/>
                <a:ea typeface="Microsoft YaHei"/>
              </a:rPr>
              <a:t>把首屏 4.2 秒砍到 1.1 秒的六周 · 前端组 · 2026 上半年 · 内部材料，含难看的数字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200" b="0" dirty="0">
                <a:solidFill>
                  <a:srgbClr val="3A4149"/>
                </a:solidFill>
                <a:latin typeface="Noto Sans Mono CJK SC"/>
                <a:ea typeface="Microsoft YaHei"/>
              </a:rPr>
              <a:t>前端组 · 2026 上半年迭代复盘 · 内部材料</a:t>
            </a:r>
          </a:p>
        </p:txBody>
      </p:sp>
      <p:sp>
        <p:nvSpPr>
          <p:cNvPr id="6" name="page-number"/>
          <p:cNvSpPr txBox="1"/>
          <p:nvPr/>
        </p:nvSpPr>
        <p:spPr>
          <a:xfrm>
            <a:off x="60960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r" marL="0" indent="0">
              <a:buNone/>
            </a:pPr>
            <a:r>
              <a:rPr lang="zh-CN" altLang="en-US" sz="1200" b="0" dirty="0">
                <a:solidFill>
                  <a:srgbClr val="3A4149"/>
                </a:solidFill>
                <a:latin typeface="Noto Sans Mono CJK SC"/>
                <a:ea typeface="Microsoft YaHei"/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2"/>
          <p:cNvSpPr txBox="1"/>
          <p:nvPr/>
        </p:nvSpPr>
        <p:spPr>
          <a:xfrm>
            <a:off x="685800" y="760000"/>
            <a:ext cx="10820400" cy="8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2800" b="1" dirty="0">
                <a:solidFill>
                  <a:srgbClr val="1F2328"/>
                </a:solidFill>
                <a:latin typeface="Noto Sans Mono CJK SC"/>
                <a:ea typeface="Microsoft YaHei"/>
              </a:rPr>
              <a:t>六周之后的四个数</a:t>
            </a:r>
          </a:p>
        </p:txBody>
      </p:sp>
      <p:sp>
        <p:nvSpPr>
          <p:cNvPr id="3" name="kpi-card-0"/>
          <p:cNvSpPr/>
          <p:nvPr/>
        </p:nvSpPr>
        <p:spPr>
          <a:xfrm>
            <a:off x="685800" y="2000000"/>
            <a:ext cx="2438400" cy="1900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" name="kpi-value-0"/>
          <p:cNvSpPr txBox="1"/>
          <p:nvPr/>
        </p:nvSpPr>
        <p:spPr>
          <a:xfrm>
            <a:off x="685800" y="2000000"/>
            <a:ext cx="2438400" cy="1178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ctr" marL="0" indent="0">
              <a:buNone/>
            </a:pPr>
            <a:r>
              <a:rPr lang="zh-CN" altLang="en-US" sz="5400" b="1" dirty="0">
                <a:solidFill>
                  <a:srgbClr val="2A4BD7"/>
                </a:solidFill>
                <a:latin typeface="Noto Sans Mono CJK SC"/>
                <a:ea typeface="Microsoft YaHei"/>
              </a:rPr>
              <a:t>1.1秒</a:t>
            </a:r>
          </a:p>
        </p:txBody>
      </p:sp>
      <p:sp>
        <p:nvSpPr>
          <p:cNvPr id="5" name="kpi-label-0"/>
          <p:cNvSpPr txBox="1"/>
          <p:nvPr/>
        </p:nvSpPr>
        <p:spPr>
          <a:xfrm>
            <a:off x="685800" y="3178000"/>
            <a:ext cx="2438400" cy="722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ctr" marL="0" indent="0">
              <a:buNone/>
            </a:pPr>
            <a:r>
              <a:rPr lang="zh-CN" altLang="en-US" sz="1400" b="0" dirty="0">
                <a:solidFill>
                  <a:srgbClr val="3A4149"/>
                </a:solidFill>
                <a:latin typeface="Noto Sans Mono CJK SC"/>
                <a:ea typeface="Microsoft YaHei"/>
              </a:rPr>
              <a:t>首屏 P75 从 4.2 秒下来，-74%</a:t>
            </a:r>
          </a:p>
        </p:txBody>
      </p:sp>
      <p:sp>
        <p:nvSpPr>
          <p:cNvPr id="6" name="kpi-card-1"/>
          <p:cNvSpPr/>
          <p:nvPr/>
        </p:nvSpPr>
        <p:spPr>
          <a:xfrm>
            <a:off x="3479800" y="2000000"/>
            <a:ext cx="2438400" cy="1900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7" name="kpi-value-1"/>
          <p:cNvSpPr txBox="1"/>
          <p:nvPr/>
        </p:nvSpPr>
        <p:spPr>
          <a:xfrm>
            <a:off x="3479800" y="2000000"/>
            <a:ext cx="2438400" cy="1178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ctr" marL="0" indent="0">
              <a:buNone/>
            </a:pPr>
            <a:r>
              <a:rPr lang="zh-CN" altLang="en-US" sz="5400" b="1" dirty="0">
                <a:solidFill>
                  <a:srgbClr val="2A4BD7"/>
                </a:solidFill>
                <a:latin typeface="Noto Sans Mono CJK SC"/>
                <a:ea typeface="Microsoft YaHei"/>
              </a:rPr>
              <a:t>312毫秒</a:t>
            </a:r>
          </a:p>
        </p:txBody>
      </p:sp>
      <p:sp>
        <p:nvSpPr>
          <p:cNvPr id="8" name="kpi-label-1"/>
          <p:cNvSpPr txBox="1"/>
          <p:nvPr/>
        </p:nvSpPr>
        <p:spPr>
          <a:xfrm>
            <a:off x="3479800" y="3178000"/>
            <a:ext cx="2438400" cy="722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ctr" marL="0" indent="0">
              <a:buNone/>
            </a:pPr>
            <a:r>
              <a:rPr lang="zh-CN" altLang="en-US" sz="1400" b="0" dirty="0">
                <a:solidFill>
                  <a:srgbClr val="3A4149"/>
                </a:solidFill>
                <a:latin typeface="Noto Sans Mono CJK SC"/>
                <a:ea typeface="Microsoft YaHei"/>
              </a:rPr>
              <a:t>接口 P95 从 980 毫秒下来</a:t>
            </a:r>
          </a:p>
        </p:txBody>
      </p:sp>
      <p:sp>
        <p:nvSpPr>
          <p:cNvPr id="9" name="kpi-card-2"/>
          <p:cNvSpPr/>
          <p:nvPr/>
        </p:nvSpPr>
        <p:spPr>
          <a:xfrm>
            <a:off x="6273800" y="2000000"/>
            <a:ext cx="2438400" cy="1900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0" name="kpi-value-2"/>
          <p:cNvSpPr txBox="1"/>
          <p:nvPr/>
        </p:nvSpPr>
        <p:spPr>
          <a:xfrm>
            <a:off x="6273800" y="2000000"/>
            <a:ext cx="2438400" cy="1178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ctr" marL="0" indent="0">
              <a:buNone/>
            </a:pPr>
            <a:r>
              <a:rPr lang="zh-CN" altLang="en-US" sz="5400" b="1" dirty="0">
                <a:solidFill>
                  <a:srgbClr val="2A4BD7"/>
                </a:solidFill>
                <a:latin typeface="Noto Sans Mono CJK SC"/>
                <a:ea typeface="Microsoft YaHei"/>
              </a:rPr>
              <a:t>0.7%</a:t>
            </a:r>
          </a:p>
        </p:txBody>
      </p:sp>
      <p:sp>
        <p:nvSpPr>
          <p:cNvPr id="11" name="kpi-label-2"/>
          <p:cNvSpPr txBox="1"/>
          <p:nvPr/>
        </p:nvSpPr>
        <p:spPr>
          <a:xfrm>
            <a:off x="6273800" y="3178000"/>
            <a:ext cx="2438400" cy="722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ctr" marL="0" indent="0">
              <a:buNone/>
            </a:pPr>
            <a:r>
              <a:rPr lang="zh-CN" altLang="en-US" sz="1400" b="0" dirty="0">
                <a:solidFill>
                  <a:srgbClr val="3A4149"/>
                </a:solidFill>
                <a:latin typeface="Noto Sans Mono CJK SC"/>
                <a:ea typeface="Microsoft YaHei"/>
              </a:rPr>
              <a:t>白屏率 从 3.4% 下来</a:t>
            </a:r>
          </a:p>
        </p:txBody>
      </p:sp>
      <p:sp>
        <p:nvSpPr>
          <p:cNvPr id="12" name="kpi-card-3"/>
          <p:cNvSpPr/>
          <p:nvPr/>
        </p:nvSpPr>
        <p:spPr>
          <a:xfrm>
            <a:off x="9067800" y="2000000"/>
            <a:ext cx="2438400" cy="1900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3" name="kpi-value-3"/>
          <p:cNvSpPr txBox="1"/>
          <p:nvPr/>
        </p:nvSpPr>
        <p:spPr>
          <a:xfrm>
            <a:off x="9067800" y="2000000"/>
            <a:ext cx="2438400" cy="1178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ctr" marL="0" indent="0">
              <a:buNone/>
            </a:pPr>
            <a:r>
              <a:rPr lang="zh-CN" altLang="en-US" sz="5400" b="1" dirty="0">
                <a:solidFill>
                  <a:srgbClr val="2A4BD7"/>
                </a:solidFill>
                <a:latin typeface="Noto Sans Mono CJK SC"/>
                <a:ea typeface="Microsoft YaHei"/>
              </a:rPr>
              <a:t>2次</a:t>
            </a:r>
          </a:p>
        </p:txBody>
      </p:sp>
      <p:sp>
        <p:nvSpPr>
          <p:cNvPr id="14" name="kpi-label-3"/>
          <p:cNvSpPr txBox="1"/>
          <p:nvPr/>
        </p:nvSpPr>
        <p:spPr>
          <a:xfrm>
            <a:off x="9067800" y="3178000"/>
            <a:ext cx="2438400" cy="722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ctr" marL="0" indent="0">
              <a:buNone/>
            </a:pPr>
            <a:r>
              <a:rPr lang="zh-CN" altLang="en-US" sz="1400" b="0" dirty="0">
                <a:solidFill>
                  <a:srgbClr val="3A4149"/>
                </a:solidFill>
                <a:latin typeface="Noto Sans Mono CJK SC"/>
                <a:ea typeface="Microsoft YaHei"/>
              </a:rPr>
              <a:t>回滚 两次都在第 3 周</a:t>
            </a:r>
          </a:p>
        </p:txBody>
      </p:sp>
      <p:sp>
        <p:nvSpPr>
          <p:cNvPr id="15" name="footer"/>
          <p:cNvSpPr txBox="1"/>
          <p:nvPr/>
        </p:nvSpPr>
        <p:spPr>
          <a:xfrm>
            <a:off x="6858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200" b="0" dirty="0">
                <a:solidFill>
                  <a:srgbClr val="3A4149"/>
                </a:solidFill>
                <a:latin typeface="Noto Sans Mono CJK SC"/>
                <a:ea typeface="Microsoft YaHei"/>
              </a:rPr>
              <a:t>前端组 · 2026 上半年迭代复盘 · 内部材料</a:t>
            </a:r>
          </a:p>
        </p:txBody>
      </p:sp>
      <p:sp>
        <p:nvSpPr>
          <p:cNvPr id="16" name="page-number"/>
          <p:cNvSpPr txBox="1"/>
          <p:nvPr/>
        </p:nvSpPr>
        <p:spPr>
          <a:xfrm>
            <a:off x="60960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r" marL="0" indent="0">
              <a:buNone/>
            </a:pPr>
            <a:r>
              <a:rPr lang="zh-CN" altLang="en-US" sz="1200" b="0" dirty="0">
                <a:solidFill>
                  <a:srgbClr val="3A4149"/>
                </a:solidFill>
                <a:latin typeface="Noto Sans Mono CJK SC"/>
                <a:ea typeface="Microsoft YaHei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2" descr="像素画沙漏：钴蓝外框、灰色沙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543800" y="1700000"/>
            <a:ext cx="3962400" cy="3600000"/>
          </a:xfrm>
          <a:prstGeom prst="rect">
            <a:avLst/>
          </a:prstGeom>
        </p:spPr>
      </p:pic>
      <p:sp>
        <p:nvSpPr>
          <p:cNvPr id="3" name="title-3"/>
          <p:cNvSpPr txBox="1"/>
          <p:nvPr/>
        </p:nvSpPr>
        <p:spPr>
          <a:xfrm>
            <a:off x="685800" y="760000"/>
            <a:ext cx="5943600" cy="8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2800" b="1" dirty="0">
                <a:solidFill>
                  <a:srgbClr val="1F2328"/>
                </a:solidFill>
                <a:latin typeface="Noto Sans Mono CJK SC"/>
                <a:ea typeface="Microsoft YaHei"/>
              </a:rPr>
              <a:t>问题不是「慢」，是「不知道哪里慢」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685800" y="1700000"/>
            <a:ext cx="5943600" cy="36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228600" indent="-228600">
              <a:lnSpc>
                <a:spcPts val="4094"/>
              </a:lnSpc>
              <a:buFont typeface="Arial"/>
              <a:buChar char="•"/>
            </a:pPr>
            <a:r>
              <a:rPr lang="zh-CN" altLang="en-US" sz="1800" b="0" dirty="0">
                <a:solidFill>
                  <a:srgbClr val="1F2328"/>
                </a:solidFill>
                <a:latin typeface="Noto Sans Mono CJK SC"/>
                <a:ea typeface="Microsoft YaHei"/>
              </a:rPr>
              <a:t>上线两年，首屏没人量过 P75，看板上只有均值 1.8 秒——均值把长尾全抹平了。</a:t>
            </a:r>
          </a:p>
          <a:p>
            <a:pPr algn="l" marL="228600" indent="-228600">
              <a:lnSpc>
                <a:spcPts val="4094"/>
              </a:lnSpc>
              <a:buFont typeface="Arial"/>
              <a:buChar char="•"/>
            </a:pPr>
            <a:r>
              <a:rPr lang="zh-CN" altLang="en-US" sz="1800" b="0" dirty="0">
                <a:solidFill>
                  <a:srgbClr val="1F2328"/>
                </a:solidFill>
                <a:latin typeface="Noto Sans Mono CJK SC"/>
                <a:ea typeface="Microsoft YaHei"/>
              </a:rPr>
              <a:t>接口耗时埋在网关日志里，前端拿不到，出事只能猜。</a:t>
            </a:r>
          </a:p>
          <a:p>
            <a:pPr algn="l" marL="228600" indent="-228600">
              <a:lnSpc>
                <a:spcPts val="4094"/>
              </a:lnSpc>
              <a:buFont typeface="Arial"/>
              <a:buChar char="•"/>
            </a:pPr>
            <a:r>
              <a:rPr lang="zh-CN" altLang="en-US" sz="1800" b="0" dirty="0">
                <a:solidFill>
                  <a:srgbClr val="1F2328"/>
                </a:solidFill>
                <a:latin typeface="Noto Sans Mono CJK SC"/>
                <a:ea typeface="Microsoft YaHei"/>
              </a:rPr>
              <a:t>「慢」的投诉一周 20 条，其中 14 条来自同一个省份的移动网络。</a:t>
            </a:r>
          </a:p>
          <a:p>
            <a:pPr algn="l" marL="228600" indent="-228600">
              <a:lnSpc>
                <a:spcPts val="4094"/>
              </a:lnSpc>
              <a:buFont typeface="Arial"/>
              <a:buChar char="•"/>
            </a:pPr>
            <a:r>
              <a:rPr lang="zh-CN" altLang="en-US" sz="1800" b="0" dirty="0">
                <a:solidFill>
                  <a:srgbClr val="1F2328"/>
                </a:solidFill>
                <a:latin typeface="Noto Sans Mono CJK SC"/>
                <a:ea typeface="Microsoft YaHei"/>
              </a:rPr>
              <a:t>第 0 周我们只做了一件事：把三条曲线画出来，什么都没改。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200" b="0" dirty="0">
                <a:solidFill>
                  <a:srgbClr val="3A4149"/>
                </a:solidFill>
                <a:latin typeface="Noto Sans Mono CJK SC"/>
                <a:ea typeface="Microsoft YaHei"/>
              </a:rPr>
              <a:t>前端组 · 2026 上半年迭代复盘 · 内部材料</a:t>
            </a:r>
          </a:p>
        </p:txBody>
      </p:sp>
      <p:sp>
        <p:nvSpPr>
          <p:cNvPr id="6" name="page-number"/>
          <p:cNvSpPr txBox="1"/>
          <p:nvPr/>
        </p:nvSpPr>
        <p:spPr>
          <a:xfrm>
            <a:off x="60960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r" marL="0" indent="0">
              <a:buNone/>
            </a:pPr>
            <a:r>
              <a:rPr lang="zh-CN" altLang="en-US" sz="1200" b="0" dirty="0">
                <a:solidFill>
                  <a:srgbClr val="3A4149"/>
                </a:solidFill>
                <a:latin typeface="Noto Sans Mono CJK SC"/>
                <a:ea typeface="Microsoft YaHei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4"/>
          <p:cNvSpPr txBox="1"/>
          <p:nvPr/>
        </p:nvSpPr>
        <p:spPr>
          <a:xfrm>
            <a:off x="685800" y="760000"/>
            <a:ext cx="10820400" cy="8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2800" b="1" dirty="0">
                <a:solidFill>
                  <a:srgbClr val="1F2328"/>
                </a:solidFill>
                <a:latin typeface="Noto Sans Mono CJK SC"/>
                <a:ea typeface="Microsoft YaHei"/>
              </a:rPr>
              <a:t>逐周的账</a:t>
            </a:r>
          </a:p>
        </p:txBody>
      </p:sp>
      <p:sp>
        <p:nvSpPr>
          <p:cNvPr id="3" name="table-header"/>
          <p:cNvSpPr/>
          <p:nvPr/>
        </p:nvSpPr>
        <p:spPr>
          <a:xfrm>
            <a:off x="685800" y="1700000"/>
            <a:ext cx="10820400" cy="420000"/>
          </a:xfrm>
          <a:prstGeom prst="rect">
            <a:avLst/>
          </a:prstGeom>
          <a:solidFill>
            <a:srgbClr val="2A4BD7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" name="th-0"/>
          <p:cNvSpPr txBox="1"/>
          <p:nvPr/>
        </p:nvSpPr>
        <p:spPr>
          <a:xfrm>
            <a:off x="685800" y="1700000"/>
            <a:ext cx="1803400" cy="42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Noto Sans Mono CJK SC"/>
                <a:ea typeface="Microsoft YaHei"/>
              </a:rPr>
              <a:t>周</a:t>
            </a:r>
          </a:p>
        </p:txBody>
      </p:sp>
      <p:sp>
        <p:nvSpPr>
          <p:cNvPr id="5" name="th-1"/>
          <p:cNvSpPr txBox="1"/>
          <p:nvPr/>
        </p:nvSpPr>
        <p:spPr>
          <a:xfrm>
            <a:off x="2489200" y="1700000"/>
            <a:ext cx="1803400" cy="42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Noto Sans Mono CJK SC"/>
                <a:ea typeface="Microsoft YaHei"/>
              </a:rPr>
              <a:t>首屏 P75</a:t>
            </a:r>
          </a:p>
        </p:txBody>
      </p:sp>
      <p:sp>
        <p:nvSpPr>
          <p:cNvPr id="6" name="th-2"/>
          <p:cNvSpPr txBox="1"/>
          <p:nvPr/>
        </p:nvSpPr>
        <p:spPr>
          <a:xfrm>
            <a:off x="4292600" y="1700000"/>
            <a:ext cx="1803400" cy="42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Noto Sans Mono CJK SC"/>
                <a:ea typeface="Microsoft YaHei"/>
              </a:rPr>
              <a:t>接口 P95</a:t>
            </a:r>
          </a:p>
        </p:txBody>
      </p:sp>
      <p:sp>
        <p:nvSpPr>
          <p:cNvPr id="7" name="th-3"/>
          <p:cNvSpPr txBox="1"/>
          <p:nvPr/>
        </p:nvSpPr>
        <p:spPr>
          <a:xfrm>
            <a:off x="6096000" y="1700000"/>
            <a:ext cx="1803400" cy="42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Noto Sans Mono CJK SC"/>
                <a:ea typeface="Microsoft YaHei"/>
              </a:rPr>
              <a:t>发版</a:t>
            </a:r>
          </a:p>
        </p:txBody>
      </p:sp>
      <p:sp>
        <p:nvSpPr>
          <p:cNvPr id="8" name="th-4"/>
          <p:cNvSpPr txBox="1"/>
          <p:nvPr/>
        </p:nvSpPr>
        <p:spPr>
          <a:xfrm>
            <a:off x="7899400" y="1700000"/>
            <a:ext cx="1803400" cy="42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Noto Sans Mono CJK SC"/>
                <a:ea typeface="Microsoft YaHei"/>
              </a:rPr>
              <a:t>回滚</a:t>
            </a:r>
          </a:p>
        </p:txBody>
      </p:sp>
      <p:sp>
        <p:nvSpPr>
          <p:cNvPr id="9" name="th-5"/>
          <p:cNvSpPr txBox="1"/>
          <p:nvPr/>
        </p:nvSpPr>
        <p:spPr>
          <a:xfrm>
            <a:off x="9702800" y="1700000"/>
            <a:ext cx="1803400" cy="42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Noto Sans Mono CJK SC"/>
                <a:ea typeface="Microsoft YaHei"/>
              </a:rPr>
              <a:t>这一周干了什么</a:t>
            </a:r>
          </a:p>
        </p:txBody>
      </p:sp>
      <p:sp>
        <p:nvSpPr>
          <p:cNvPr id="10" name="td-0-0"/>
          <p:cNvSpPr txBox="1"/>
          <p:nvPr/>
        </p:nvSpPr>
        <p:spPr>
          <a:xfrm>
            <a:off x="685800" y="2120000"/>
            <a:ext cx="180340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ans Mono CJK SC"/>
                <a:ea typeface="Microsoft YaHei"/>
              </a:rPr>
              <a:t>W0</a:t>
            </a:r>
          </a:p>
        </p:txBody>
      </p:sp>
      <p:sp>
        <p:nvSpPr>
          <p:cNvPr id="11" name="td-0-1"/>
          <p:cNvSpPr txBox="1"/>
          <p:nvPr/>
        </p:nvSpPr>
        <p:spPr>
          <a:xfrm>
            <a:off x="2489200" y="2120000"/>
            <a:ext cx="180340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ans Mono CJK SC"/>
                <a:ea typeface="Microsoft YaHei"/>
              </a:rPr>
              <a:t>4.2 秒</a:t>
            </a:r>
          </a:p>
        </p:txBody>
      </p:sp>
      <p:sp>
        <p:nvSpPr>
          <p:cNvPr id="12" name="td-0-2"/>
          <p:cNvSpPr txBox="1"/>
          <p:nvPr/>
        </p:nvSpPr>
        <p:spPr>
          <a:xfrm>
            <a:off x="4292600" y="2120000"/>
            <a:ext cx="180340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ans Mono CJK SC"/>
                <a:ea typeface="Microsoft YaHei"/>
              </a:rPr>
              <a:t>980 毫秒</a:t>
            </a:r>
          </a:p>
        </p:txBody>
      </p:sp>
      <p:sp>
        <p:nvSpPr>
          <p:cNvPr id="13" name="td-0-3"/>
          <p:cNvSpPr txBox="1"/>
          <p:nvPr/>
        </p:nvSpPr>
        <p:spPr>
          <a:xfrm>
            <a:off x="6096000" y="2120000"/>
            <a:ext cx="180340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ans Mono CJK SC"/>
                <a:ea typeface="Microsoft YaHei"/>
              </a:rPr>
              <a:t>0</a:t>
            </a:r>
          </a:p>
        </p:txBody>
      </p:sp>
      <p:sp>
        <p:nvSpPr>
          <p:cNvPr id="14" name="td-0-4"/>
          <p:cNvSpPr txBox="1"/>
          <p:nvPr/>
        </p:nvSpPr>
        <p:spPr>
          <a:xfrm>
            <a:off x="7899400" y="2120000"/>
            <a:ext cx="180340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ans Mono CJK SC"/>
                <a:ea typeface="Microsoft YaHei"/>
              </a:rPr>
              <a:t>0</a:t>
            </a:r>
          </a:p>
        </p:txBody>
      </p:sp>
      <p:sp>
        <p:nvSpPr>
          <p:cNvPr id="15" name="td-0-5"/>
          <p:cNvSpPr txBox="1"/>
          <p:nvPr/>
        </p:nvSpPr>
        <p:spPr>
          <a:xfrm>
            <a:off x="9702800" y="2120000"/>
            <a:ext cx="180340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ans Mono CJK SC"/>
                <a:ea typeface="Microsoft YaHei"/>
              </a:rPr>
              <a:t>接埋点，画曲线</a:t>
            </a:r>
          </a:p>
        </p:txBody>
      </p:sp>
      <p:sp>
        <p:nvSpPr>
          <p:cNvPr id="16" name="tr-1"/>
          <p:cNvSpPr/>
          <p:nvPr/>
        </p:nvSpPr>
        <p:spPr>
          <a:xfrm>
            <a:off x="685800" y="2500000"/>
            <a:ext cx="10820400" cy="380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7" name="td-1-0"/>
          <p:cNvSpPr txBox="1"/>
          <p:nvPr/>
        </p:nvSpPr>
        <p:spPr>
          <a:xfrm>
            <a:off x="685800" y="2500000"/>
            <a:ext cx="180340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ans Mono CJK SC"/>
                <a:ea typeface="Microsoft YaHei"/>
              </a:rPr>
              <a:t>W1</a:t>
            </a:r>
          </a:p>
        </p:txBody>
      </p:sp>
      <p:sp>
        <p:nvSpPr>
          <p:cNvPr id="18" name="td-1-1"/>
          <p:cNvSpPr txBox="1"/>
          <p:nvPr/>
        </p:nvSpPr>
        <p:spPr>
          <a:xfrm>
            <a:off x="2489200" y="2500000"/>
            <a:ext cx="180340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ans Mono CJK SC"/>
                <a:ea typeface="Microsoft YaHei"/>
              </a:rPr>
              <a:t>3.6 秒</a:t>
            </a:r>
          </a:p>
        </p:txBody>
      </p:sp>
      <p:sp>
        <p:nvSpPr>
          <p:cNvPr id="19" name="td-1-2"/>
          <p:cNvSpPr txBox="1"/>
          <p:nvPr/>
        </p:nvSpPr>
        <p:spPr>
          <a:xfrm>
            <a:off x="4292600" y="2500000"/>
            <a:ext cx="180340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ans Mono CJK SC"/>
                <a:ea typeface="Microsoft YaHei"/>
              </a:rPr>
              <a:t>910 毫秒</a:t>
            </a:r>
          </a:p>
        </p:txBody>
      </p:sp>
      <p:sp>
        <p:nvSpPr>
          <p:cNvPr id="20" name="td-1-3"/>
          <p:cNvSpPr txBox="1"/>
          <p:nvPr/>
        </p:nvSpPr>
        <p:spPr>
          <a:xfrm>
            <a:off x="6096000" y="2500000"/>
            <a:ext cx="180340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ans Mono CJK SC"/>
                <a:ea typeface="Microsoft YaHei"/>
              </a:rPr>
              <a:t>2</a:t>
            </a:r>
          </a:p>
        </p:txBody>
      </p:sp>
      <p:sp>
        <p:nvSpPr>
          <p:cNvPr id="21" name="td-1-4"/>
          <p:cNvSpPr txBox="1"/>
          <p:nvPr/>
        </p:nvSpPr>
        <p:spPr>
          <a:xfrm>
            <a:off x="7899400" y="2500000"/>
            <a:ext cx="180340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ans Mono CJK SC"/>
                <a:ea typeface="Microsoft YaHei"/>
              </a:rPr>
              <a:t>0</a:t>
            </a:r>
          </a:p>
        </p:txBody>
      </p:sp>
      <p:sp>
        <p:nvSpPr>
          <p:cNvPr id="22" name="td-1-5"/>
          <p:cNvSpPr txBox="1"/>
          <p:nvPr/>
        </p:nvSpPr>
        <p:spPr>
          <a:xfrm>
            <a:off x="9702800" y="2500000"/>
            <a:ext cx="180340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ans Mono CJK SC"/>
                <a:ea typeface="Microsoft YaHei"/>
              </a:rPr>
              <a:t>首屏图片改按需加载</a:t>
            </a:r>
          </a:p>
        </p:txBody>
      </p:sp>
      <p:sp>
        <p:nvSpPr>
          <p:cNvPr id="23" name="td-2-0"/>
          <p:cNvSpPr txBox="1"/>
          <p:nvPr/>
        </p:nvSpPr>
        <p:spPr>
          <a:xfrm>
            <a:off x="685800" y="2880000"/>
            <a:ext cx="180340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ans Mono CJK SC"/>
                <a:ea typeface="Microsoft YaHei"/>
              </a:rPr>
              <a:t>W2</a:t>
            </a:r>
          </a:p>
        </p:txBody>
      </p:sp>
      <p:sp>
        <p:nvSpPr>
          <p:cNvPr id="24" name="td-2-1"/>
          <p:cNvSpPr txBox="1"/>
          <p:nvPr/>
        </p:nvSpPr>
        <p:spPr>
          <a:xfrm>
            <a:off x="2489200" y="2880000"/>
            <a:ext cx="180340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ans Mono CJK SC"/>
                <a:ea typeface="Microsoft YaHei"/>
              </a:rPr>
              <a:t>2.9 秒</a:t>
            </a:r>
          </a:p>
        </p:txBody>
      </p:sp>
      <p:sp>
        <p:nvSpPr>
          <p:cNvPr id="25" name="td-2-2"/>
          <p:cNvSpPr txBox="1"/>
          <p:nvPr/>
        </p:nvSpPr>
        <p:spPr>
          <a:xfrm>
            <a:off x="4292600" y="2880000"/>
            <a:ext cx="180340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ans Mono CJK SC"/>
                <a:ea typeface="Microsoft YaHei"/>
              </a:rPr>
              <a:t>870 毫秒</a:t>
            </a:r>
          </a:p>
        </p:txBody>
      </p:sp>
      <p:sp>
        <p:nvSpPr>
          <p:cNvPr id="26" name="td-2-3"/>
          <p:cNvSpPr txBox="1"/>
          <p:nvPr/>
        </p:nvSpPr>
        <p:spPr>
          <a:xfrm>
            <a:off x="6096000" y="2880000"/>
            <a:ext cx="180340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ans Mono CJK SC"/>
                <a:ea typeface="Microsoft YaHei"/>
              </a:rPr>
              <a:t>3</a:t>
            </a:r>
          </a:p>
        </p:txBody>
      </p:sp>
      <p:sp>
        <p:nvSpPr>
          <p:cNvPr id="27" name="td-2-4"/>
          <p:cNvSpPr txBox="1"/>
          <p:nvPr/>
        </p:nvSpPr>
        <p:spPr>
          <a:xfrm>
            <a:off x="7899400" y="2880000"/>
            <a:ext cx="180340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ans Mono CJK SC"/>
                <a:ea typeface="Microsoft YaHei"/>
              </a:rPr>
              <a:t>0</a:t>
            </a:r>
          </a:p>
        </p:txBody>
      </p:sp>
      <p:sp>
        <p:nvSpPr>
          <p:cNvPr id="28" name="td-2-5"/>
          <p:cNvSpPr txBox="1"/>
          <p:nvPr/>
        </p:nvSpPr>
        <p:spPr>
          <a:xfrm>
            <a:off x="9702800" y="2880000"/>
            <a:ext cx="180340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ans Mono CJK SC"/>
                <a:ea typeface="Microsoft YaHei"/>
              </a:rPr>
              <a:t>首包拆分，去掉两个大依赖</a:t>
            </a:r>
          </a:p>
        </p:txBody>
      </p:sp>
      <p:sp>
        <p:nvSpPr>
          <p:cNvPr id="29" name="tr-3"/>
          <p:cNvSpPr/>
          <p:nvPr/>
        </p:nvSpPr>
        <p:spPr>
          <a:xfrm>
            <a:off x="685800" y="3260000"/>
            <a:ext cx="10820400" cy="380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0" name="td-3-0"/>
          <p:cNvSpPr txBox="1"/>
          <p:nvPr/>
        </p:nvSpPr>
        <p:spPr>
          <a:xfrm>
            <a:off x="685800" y="3260000"/>
            <a:ext cx="180340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ans Mono CJK SC"/>
                <a:ea typeface="Microsoft YaHei"/>
              </a:rPr>
              <a:t>W3</a:t>
            </a:r>
          </a:p>
        </p:txBody>
      </p:sp>
      <p:sp>
        <p:nvSpPr>
          <p:cNvPr id="31" name="td-3-1"/>
          <p:cNvSpPr txBox="1"/>
          <p:nvPr/>
        </p:nvSpPr>
        <p:spPr>
          <a:xfrm>
            <a:off x="2489200" y="3260000"/>
            <a:ext cx="180340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ans Mono CJK SC"/>
                <a:ea typeface="Microsoft YaHei"/>
              </a:rPr>
              <a:t>3.1 秒</a:t>
            </a:r>
          </a:p>
        </p:txBody>
      </p:sp>
      <p:sp>
        <p:nvSpPr>
          <p:cNvPr id="32" name="td-3-2"/>
          <p:cNvSpPr txBox="1"/>
          <p:nvPr/>
        </p:nvSpPr>
        <p:spPr>
          <a:xfrm>
            <a:off x="4292600" y="3260000"/>
            <a:ext cx="180340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ans Mono CJK SC"/>
                <a:ea typeface="Microsoft YaHei"/>
              </a:rPr>
              <a:t>640 毫秒</a:t>
            </a:r>
          </a:p>
        </p:txBody>
      </p:sp>
      <p:sp>
        <p:nvSpPr>
          <p:cNvPr id="33" name="td-3-3"/>
          <p:cNvSpPr txBox="1"/>
          <p:nvPr/>
        </p:nvSpPr>
        <p:spPr>
          <a:xfrm>
            <a:off x="6096000" y="3260000"/>
            <a:ext cx="180340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ans Mono CJK SC"/>
                <a:ea typeface="Microsoft YaHei"/>
              </a:rPr>
              <a:t>4</a:t>
            </a:r>
          </a:p>
        </p:txBody>
      </p:sp>
      <p:sp>
        <p:nvSpPr>
          <p:cNvPr id="34" name="td-3-4"/>
          <p:cNvSpPr txBox="1"/>
          <p:nvPr/>
        </p:nvSpPr>
        <p:spPr>
          <a:xfrm>
            <a:off x="7899400" y="3260000"/>
            <a:ext cx="180340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ans Mono CJK SC"/>
                <a:ea typeface="Microsoft YaHei"/>
              </a:rPr>
              <a:t>2</a:t>
            </a:r>
          </a:p>
        </p:txBody>
      </p:sp>
      <p:sp>
        <p:nvSpPr>
          <p:cNvPr id="35" name="td-3-5"/>
          <p:cNvSpPr txBox="1"/>
          <p:nvPr/>
        </p:nvSpPr>
        <p:spPr>
          <a:xfrm>
            <a:off x="9702800" y="3260000"/>
            <a:ext cx="180340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ans Mono CJK SC"/>
                <a:ea typeface="Microsoft YaHei"/>
              </a:rPr>
              <a:t>缓存策略改错，回滚两次</a:t>
            </a:r>
          </a:p>
        </p:txBody>
      </p:sp>
      <p:sp>
        <p:nvSpPr>
          <p:cNvPr id="36" name="td-4-0"/>
          <p:cNvSpPr txBox="1"/>
          <p:nvPr/>
        </p:nvSpPr>
        <p:spPr>
          <a:xfrm>
            <a:off x="685800" y="3640000"/>
            <a:ext cx="180340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ans Mono CJK SC"/>
                <a:ea typeface="Microsoft YaHei"/>
              </a:rPr>
              <a:t>W4</a:t>
            </a:r>
          </a:p>
        </p:txBody>
      </p:sp>
      <p:sp>
        <p:nvSpPr>
          <p:cNvPr id="37" name="td-4-1"/>
          <p:cNvSpPr txBox="1"/>
          <p:nvPr/>
        </p:nvSpPr>
        <p:spPr>
          <a:xfrm>
            <a:off x="2489200" y="3640000"/>
            <a:ext cx="180340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ans Mono CJK SC"/>
                <a:ea typeface="Microsoft YaHei"/>
              </a:rPr>
              <a:t>1.8 秒</a:t>
            </a:r>
          </a:p>
        </p:txBody>
      </p:sp>
      <p:sp>
        <p:nvSpPr>
          <p:cNvPr id="38" name="td-4-2"/>
          <p:cNvSpPr txBox="1"/>
          <p:nvPr/>
        </p:nvSpPr>
        <p:spPr>
          <a:xfrm>
            <a:off x="4292600" y="3640000"/>
            <a:ext cx="180340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ans Mono CJK SC"/>
                <a:ea typeface="Microsoft YaHei"/>
              </a:rPr>
              <a:t>410 毫秒</a:t>
            </a:r>
          </a:p>
        </p:txBody>
      </p:sp>
      <p:sp>
        <p:nvSpPr>
          <p:cNvPr id="39" name="td-4-3"/>
          <p:cNvSpPr txBox="1"/>
          <p:nvPr/>
        </p:nvSpPr>
        <p:spPr>
          <a:xfrm>
            <a:off x="6096000" y="3640000"/>
            <a:ext cx="180340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ans Mono CJK SC"/>
                <a:ea typeface="Microsoft YaHei"/>
              </a:rPr>
              <a:t>2</a:t>
            </a:r>
          </a:p>
        </p:txBody>
      </p:sp>
      <p:sp>
        <p:nvSpPr>
          <p:cNvPr id="40" name="td-4-4"/>
          <p:cNvSpPr txBox="1"/>
          <p:nvPr/>
        </p:nvSpPr>
        <p:spPr>
          <a:xfrm>
            <a:off x="7899400" y="3640000"/>
            <a:ext cx="180340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ans Mono CJK SC"/>
                <a:ea typeface="Microsoft YaHei"/>
              </a:rPr>
              <a:t>0</a:t>
            </a:r>
          </a:p>
        </p:txBody>
      </p:sp>
      <p:sp>
        <p:nvSpPr>
          <p:cNvPr id="41" name="td-4-5"/>
          <p:cNvSpPr txBox="1"/>
          <p:nvPr/>
        </p:nvSpPr>
        <p:spPr>
          <a:xfrm>
            <a:off x="9702800" y="3640000"/>
            <a:ext cx="180340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ans Mono CJK SC"/>
                <a:ea typeface="Microsoft YaHei"/>
              </a:rPr>
              <a:t>接口合并，列表改分页</a:t>
            </a:r>
          </a:p>
        </p:txBody>
      </p:sp>
      <p:sp>
        <p:nvSpPr>
          <p:cNvPr id="42" name="tr-5"/>
          <p:cNvSpPr/>
          <p:nvPr/>
        </p:nvSpPr>
        <p:spPr>
          <a:xfrm>
            <a:off x="685800" y="4020000"/>
            <a:ext cx="10820400" cy="380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3" name="td-5-0"/>
          <p:cNvSpPr txBox="1"/>
          <p:nvPr/>
        </p:nvSpPr>
        <p:spPr>
          <a:xfrm>
            <a:off x="685800" y="4020000"/>
            <a:ext cx="180340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ans Mono CJK SC"/>
                <a:ea typeface="Microsoft YaHei"/>
              </a:rPr>
              <a:t>W5</a:t>
            </a:r>
          </a:p>
        </p:txBody>
      </p:sp>
      <p:sp>
        <p:nvSpPr>
          <p:cNvPr id="44" name="td-5-1"/>
          <p:cNvSpPr txBox="1"/>
          <p:nvPr/>
        </p:nvSpPr>
        <p:spPr>
          <a:xfrm>
            <a:off x="2489200" y="4020000"/>
            <a:ext cx="180340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ans Mono CJK SC"/>
                <a:ea typeface="Microsoft YaHei"/>
              </a:rPr>
              <a:t>1.3 秒</a:t>
            </a:r>
          </a:p>
        </p:txBody>
      </p:sp>
      <p:sp>
        <p:nvSpPr>
          <p:cNvPr id="45" name="td-5-2"/>
          <p:cNvSpPr txBox="1"/>
          <p:nvPr/>
        </p:nvSpPr>
        <p:spPr>
          <a:xfrm>
            <a:off x="4292600" y="4020000"/>
            <a:ext cx="180340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ans Mono CJK SC"/>
                <a:ea typeface="Microsoft YaHei"/>
              </a:rPr>
              <a:t>350 毫秒</a:t>
            </a:r>
          </a:p>
        </p:txBody>
      </p:sp>
      <p:sp>
        <p:nvSpPr>
          <p:cNvPr id="46" name="td-5-3"/>
          <p:cNvSpPr txBox="1"/>
          <p:nvPr/>
        </p:nvSpPr>
        <p:spPr>
          <a:xfrm>
            <a:off x="6096000" y="4020000"/>
            <a:ext cx="180340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ans Mono CJK SC"/>
                <a:ea typeface="Microsoft YaHei"/>
              </a:rPr>
              <a:t>2</a:t>
            </a:r>
          </a:p>
        </p:txBody>
      </p:sp>
      <p:sp>
        <p:nvSpPr>
          <p:cNvPr id="47" name="td-5-4"/>
          <p:cNvSpPr txBox="1"/>
          <p:nvPr/>
        </p:nvSpPr>
        <p:spPr>
          <a:xfrm>
            <a:off x="7899400" y="4020000"/>
            <a:ext cx="180340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ans Mono CJK SC"/>
                <a:ea typeface="Microsoft YaHei"/>
              </a:rPr>
              <a:t>0</a:t>
            </a:r>
          </a:p>
        </p:txBody>
      </p:sp>
      <p:sp>
        <p:nvSpPr>
          <p:cNvPr id="48" name="td-5-5"/>
          <p:cNvSpPr txBox="1"/>
          <p:nvPr/>
        </p:nvSpPr>
        <p:spPr>
          <a:xfrm>
            <a:off x="9702800" y="4020000"/>
            <a:ext cx="180340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ans Mono CJK SC"/>
                <a:ea typeface="Microsoft YaHei"/>
              </a:rPr>
              <a:t>字体子集化，去掉阻塞脚本</a:t>
            </a:r>
          </a:p>
        </p:txBody>
      </p:sp>
      <p:sp>
        <p:nvSpPr>
          <p:cNvPr id="49" name="td-6-0"/>
          <p:cNvSpPr txBox="1"/>
          <p:nvPr/>
        </p:nvSpPr>
        <p:spPr>
          <a:xfrm>
            <a:off x="685800" y="4400000"/>
            <a:ext cx="180340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ans Mono CJK SC"/>
                <a:ea typeface="Microsoft YaHei"/>
              </a:rPr>
              <a:t>W6</a:t>
            </a:r>
          </a:p>
        </p:txBody>
      </p:sp>
      <p:sp>
        <p:nvSpPr>
          <p:cNvPr id="50" name="td-6-1"/>
          <p:cNvSpPr txBox="1"/>
          <p:nvPr/>
        </p:nvSpPr>
        <p:spPr>
          <a:xfrm>
            <a:off x="2489200" y="4400000"/>
            <a:ext cx="180340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ans Mono CJK SC"/>
                <a:ea typeface="Microsoft YaHei"/>
              </a:rPr>
              <a:t>1.1 秒</a:t>
            </a:r>
          </a:p>
        </p:txBody>
      </p:sp>
      <p:sp>
        <p:nvSpPr>
          <p:cNvPr id="51" name="td-6-2"/>
          <p:cNvSpPr txBox="1"/>
          <p:nvPr/>
        </p:nvSpPr>
        <p:spPr>
          <a:xfrm>
            <a:off x="4292600" y="4400000"/>
            <a:ext cx="180340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ans Mono CJK SC"/>
                <a:ea typeface="Microsoft YaHei"/>
              </a:rPr>
              <a:t>312 毫秒</a:t>
            </a:r>
          </a:p>
        </p:txBody>
      </p:sp>
      <p:sp>
        <p:nvSpPr>
          <p:cNvPr id="52" name="td-6-3"/>
          <p:cNvSpPr txBox="1"/>
          <p:nvPr/>
        </p:nvSpPr>
        <p:spPr>
          <a:xfrm>
            <a:off x="6096000" y="4400000"/>
            <a:ext cx="180340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ans Mono CJK SC"/>
                <a:ea typeface="Microsoft YaHei"/>
              </a:rPr>
              <a:t>1</a:t>
            </a:r>
          </a:p>
        </p:txBody>
      </p:sp>
      <p:sp>
        <p:nvSpPr>
          <p:cNvPr id="53" name="td-6-4"/>
          <p:cNvSpPr txBox="1"/>
          <p:nvPr/>
        </p:nvSpPr>
        <p:spPr>
          <a:xfrm>
            <a:off x="7899400" y="4400000"/>
            <a:ext cx="180340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ans Mono CJK SC"/>
                <a:ea typeface="Microsoft YaHei"/>
              </a:rPr>
              <a:t>0</a:t>
            </a:r>
          </a:p>
        </p:txBody>
      </p:sp>
      <p:sp>
        <p:nvSpPr>
          <p:cNvPr id="54" name="td-6-5"/>
          <p:cNvSpPr txBox="1"/>
          <p:nvPr/>
        </p:nvSpPr>
        <p:spPr>
          <a:xfrm>
            <a:off x="9702800" y="4400000"/>
            <a:ext cx="180340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ans Mono CJK SC"/>
                <a:ea typeface="Microsoft YaHei"/>
              </a:rPr>
              <a:t>只做验证，不加新东西</a:t>
            </a:r>
          </a:p>
        </p:txBody>
      </p:sp>
      <p:sp>
        <p:nvSpPr>
          <p:cNvPr id="55" name="footer"/>
          <p:cNvSpPr txBox="1"/>
          <p:nvPr/>
        </p:nvSpPr>
        <p:spPr>
          <a:xfrm>
            <a:off x="6858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200" b="0" dirty="0">
                <a:solidFill>
                  <a:srgbClr val="3A4149"/>
                </a:solidFill>
                <a:latin typeface="Noto Sans Mono CJK SC"/>
                <a:ea typeface="Microsoft YaHei"/>
              </a:rPr>
              <a:t>前端组 · 2026 上半年迭代复盘 · 内部材料</a:t>
            </a:r>
          </a:p>
        </p:txBody>
      </p:sp>
      <p:sp>
        <p:nvSpPr>
          <p:cNvPr id="56" name="page-number"/>
          <p:cNvSpPr txBox="1"/>
          <p:nvPr/>
        </p:nvSpPr>
        <p:spPr>
          <a:xfrm>
            <a:off x="60960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r" marL="0" indent="0">
              <a:buNone/>
            </a:pPr>
            <a:r>
              <a:rPr lang="zh-CN" altLang="en-US" sz="1200" b="0" dirty="0">
                <a:solidFill>
                  <a:srgbClr val="3A4149"/>
                </a:solidFill>
                <a:latin typeface="Noto Sans Mono CJK SC"/>
                <a:ea typeface="Microsoft YaHei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5"/>
          <p:cNvSpPr txBox="1"/>
          <p:nvPr/>
        </p:nvSpPr>
        <p:spPr>
          <a:xfrm>
            <a:off x="685800" y="760000"/>
            <a:ext cx="10820400" cy="8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2800" b="1" dirty="0">
                <a:solidFill>
                  <a:srgbClr val="1F2328"/>
                </a:solidFill>
                <a:latin typeface="Noto Sans Mono CJK SC"/>
                <a:ea typeface="Microsoft YaHei"/>
              </a:rPr>
              <a:t>首屏 P75 的下降不是一条直线</a:t>
            </a:r>
          </a:p>
        </p:txBody>
      </p:sp>
      <p:pic>
        <p:nvPicPr>
          <p:cNvPr id="3" name="p3" descr="像素画速度表：钴蓝表圈、灰色刻度、指针指向低速一侧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85800" y="1700000"/>
            <a:ext cx="3505200" cy="2400000"/>
          </a:xfrm>
          <a:prstGeom prst="rect">
            <a:avLst/>
          </a:prstGeom>
        </p:spPr>
      </p:pic>
      <p:graphicFrame>
        <p:nvGraphicFramePr>
          <p:cNvPr id="4" name="c4"/>
          <p:cNvGraphicFramePr/>
          <p:nvPr/>
        </p:nvGraphicFramePr>
        <p:xfrm>
          <a:off x="4343400" y="1700000"/>
          <a:ext cx="3505200" cy="24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bullets"/>
          <p:cNvSpPr txBox="1"/>
          <p:nvPr/>
        </p:nvSpPr>
        <p:spPr>
          <a:xfrm>
            <a:off x="8001000" y="1700000"/>
            <a:ext cx="3505200" cy="24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228600" indent="-228600">
              <a:lnSpc>
                <a:spcPts val="4094"/>
              </a:lnSpc>
              <a:buFont typeface="Arial"/>
              <a:buChar char="•"/>
            </a:pPr>
            <a:r>
              <a:rPr lang="zh-CN" altLang="en-US" sz="1600" b="0" dirty="0">
                <a:solidFill>
                  <a:srgbClr val="1F2328"/>
                </a:solidFill>
                <a:latin typeface="Noto Sans Mono CJK SC"/>
                <a:ea typeface="Microsoft YaHei"/>
              </a:rPr>
              <a:t>W0–W2：改的都是「看得见的大块」，降得快。</a:t>
            </a:r>
          </a:p>
          <a:p>
            <a:pPr algn="l" marL="228600" indent="-228600">
              <a:lnSpc>
                <a:spcPts val="4094"/>
              </a:lnSpc>
              <a:buFont typeface="Arial"/>
              <a:buChar char="•"/>
            </a:pPr>
            <a:r>
              <a:rPr lang="zh-CN" altLang="en-US" sz="1600" b="0" dirty="0">
                <a:solidFill>
                  <a:srgbClr val="1F2328"/>
                </a:solidFill>
                <a:latin typeface="Noto Sans Mono CJK SC"/>
                <a:ea typeface="Microsoft YaHei"/>
              </a:rPr>
              <a:t>W3：接口在降、首屏在升——缓存键漏了灰度标记。</a:t>
            </a:r>
          </a:p>
          <a:p>
            <a:pPr algn="l" marL="228600" indent="-228600">
              <a:lnSpc>
                <a:spcPts val="4094"/>
              </a:lnSpc>
              <a:buFont typeface="Arial"/>
              <a:buChar char="•"/>
            </a:pPr>
            <a:r>
              <a:rPr lang="zh-CN" altLang="en-US" sz="1600" b="0" dirty="0">
                <a:solidFill>
                  <a:srgbClr val="1F2328"/>
                </a:solidFill>
                <a:latin typeface="Noto Sans Mono CJK SC"/>
                <a:ea typeface="Microsoft YaHei"/>
              </a:rPr>
              <a:t>W4–W6：接口与首屏同向下降，收敛在 1.1 秒。</a:t>
            </a:r>
          </a:p>
        </p:txBody>
      </p:sp>
      <p:sp>
        <p:nvSpPr>
          <p:cNvPr id="6" name="conclusion-bar"/>
          <p:cNvSpPr/>
          <p:nvPr/>
        </p:nvSpPr>
        <p:spPr>
          <a:xfrm>
            <a:off x="685800" y="4400000"/>
            <a:ext cx="10820400" cy="700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7" name="conclusion"/>
          <p:cNvSpPr txBox="1"/>
          <p:nvPr/>
        </p:nvSpPr>
        <p:spPr>
          <a:xfrm>
            <a:off x="685800" y="4400000"/>
            <a:ext cx="10820400" cy="70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600" b="0" dirty="0">
                <a:solidFill>
                  <a:srgbClr val="1F2328"/>
                </a:solidFill>
                <a:latin typeface="Noto Sans Mono CJK SC"/>
                <a:ea typeface="Microsoft YaHei"/>
              </a:rPr>
              <a:t>两条线在第 3 周分岔的那一刻，就该停下来查缓存，而不是继续加优化。</a:t>
            </a:r>
          </a:p>
        </p:txBody>
      </p:sp>
      <p:sp>
        <p:nvSpPr>
          <p:cNvPr id="8" name="footer"/>
          <p:cNvSpPr txBox="1"/>
          <p:nvPr/>
        </p:nvSpPr>
        <p:spPr>
          <a:xfrm>
            <a:off x="6858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200" b="0" dirty="0">
                <a:solidFill>
                  <a:srgbClr val="3A4149"/>
                </a:solidFill>
                <a:latin typeface="Noto Sans Mono CJK SC"/>
                <a:ea typeface="Microsoft YaHei"/>
              </a:rPr>
              <a:t>前端组 · 2026 上半年迭代复盘 · 内部材料</a:t>
            </a:r>
          </a:p>
        </p:txBody>
      </p:sp>
      <p:sp>
        <p:nvSpPr>
          <p:cNvPr id="9" name="page-number"/>
          <p:cNvSpPr txBox="1"/>
          <p:nvPr/>
        </p:nvSpPr>
        <p:spPr>
          <a:xfrm>
            <a:off x="60960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r" marL="0" indent="0">
              <a:buNone/>
            </a:pPr>
            <a:r>
              <a:rPr lang="zh-CN" altLang="en-US" sz="1200" b="0" dirty="0">
                <a:solidFill>
                  <a:srgbClr val="3A4149"/>
                </a:solidFill>
                <a:latin typeface="Noto Sans Mono CJK SC"/>
                <a:ea typeface="Microsoft YaHei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2" descr="像素画甲虫：钴蓝身体、灰色足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85800" y="1700000"/>
            <a:ext cx="3962400" cy="3600000"/>
          </a:xfrm>
          <a:prstGeom prst="rect">
            <a:avLst/>
          </a:prstGeom>
        </p:spPr>
      </p:pic>
      <p:sp>
        <p:nvSpPr>
          <p:cNvPr id="3" name="title-6"/>
          <p:cNvSpPr txBox="1"/>
          <p:nvPr/>
        </p:nvSpPr>
        <p:spPr>
          <a:xfrm>
            <a:off x="5562600" y="760000"/>
            <a:ext cx="5943600" cy="8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2800" b="1" dirty="0">
                <a:solidFill>
                  <a:srgbClr val="1F2328"/>
                </a:solidFill>
                <a:latin typeface="Noto Sans Mono CJK SC"/>
                <a:ea typeface="Microsoft YaHei"/>
              </a:rPr>
              <a:t>三个真正吃时间的坑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5562600" y="1700000"/>
            <a:ext cx="5943600" cy="36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228600" indent="-228600">
              <a:lnSpc>
                <a:spcPts val="4094"/>
              </a:lnSpc>
              <a:buFont typeface="Arial"/>
              <a:buChar char="•"/>
            </a:pPr>
            <a:r>
              <a:rPr lang="zh-CN" altLang="en-US" sz="1800" b="0" dirty="0">
                <a:solidFill>
                  <a:srgbClr val="1F2328"/>
                </a:solidFill>
                <a:latin typeface="Noto Sans Mono CJK SC"/>
                <a:ea typeface="Microsoft YaHei"/>
              </a:rPr>
              <a:t>坑一：首页一次性请求 11 个接口，其中 4 个的返回在首屏根本用不上。</a:t>
            </a:r>
          </a:p>
          <a:p>
            <a:pPr algn="l" marL="228600" indent="-228600">
              <a:lnSpc>
                <a:spcPts val="4094"/>
              </a:lnSpc>
              <a:buFont typeface="Arial"/>
              <a:buChar char="•"/>
            </a:pPr>
            <a:r>
              <a:rPr lang="zh-CN" altLang="en-US" sz="1800" b="0" dirty="0">
                <a:solidFill>
                  <a:srgbClr val="1F2328"/>
                </a:solidFill>
                <a:latin typeface="Noto Sans Mono CJK SC"/>
                <a:ea typeface="Microsoft YaHei"/>
              </a:rPr>
              <a:t>坑二：全量中文字体 3.2 MB，用到的字不足 900 个。子集化之后 210 KB。</a:t>
            </a:r>
          </a:p>
          <a:p>
            <a:pPr algn="l" marL="228600" indent="-228600">
              <a:lnSpc>
                <a:spcPts val="4094"/>
              </a:lnSpc>
              <a:buFont typeface="Arial"/>
              <a:buChar char="•"/>
            </a:pPr>
            <a:r>
              <a:rPr lang="zh-CN" altLang="en-US" sz="1800" b="0" dirty="0">
                <a:solidFill>
                  <a:srgbClr val="1F2328"/>
                </a:solidFill>
                <a:latin typeface="Noto Sans Mono CJK SC"/>
                <a:ea typeface="Microsoft YaHei"/>
              </a:rPr>
              <a:t>坑三：缓存键漏了灰度标记，第 3 周的两次回滚都是它——灰度用户拿到了正式包。</a:t>
            </a:r>
          </a:p>
          <a:p>
            <a:pPr algn="l" marL="228600" indent="-228600">
              <a:lnSpc>
                <a:spcPts val="4094"/>
              </a:lnSpc>
              <a:buFont typeface="Arial"/>
              <a:buChar char="•"/>
            </a:pPr>
            <a:r>
              <a:rPr lang="zh-CN" altLang="en-US" sz="1800" b="0" dirty="0">
                <a:solidFill>
                  <a:srgbClr val="1F2328"/>
                </a:solidFill>
                <a:latin typeface="Noto Sans Mono CJK SC"/>
                <a:ea typeface="Microsoft YaHei"/>
              </a:rPr>
              <a:t>三个坑合计占了这次收益的 81%，其余优化加起来不到两成。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200" b="0" dirty="0">
                <a:solidFill>
                  <a:srgbClr val="3A4149"/>
                </a:solidFill>
                <a:latin typeface="Noto Sans Mono CJK SC"/>
                <a:ea typeface="Microsoft YaHei"/>
              </a:rPr>
              <a:t>前端组 · 2026 上半年迭代复盘 · 内部材料</a:t>
            </a:r>
          </a:p>
        </p:txBody>
      </p:sp>
      <p:sp>
        <p:nvSpPr>
          <p:cNvPr id="6" name="page-number"/>
          <p:cNvSpPr txBox="1"/>
          <p:nvPr/>
        </p:nvSpPr>
        <p:spPr>
          <a:xfrm>
            <a:off x="60960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r" marL="0" indent="0">
              <a:buNone/>
            </a:pPr>
            <a:r>
              <a:rPr lang="zh-CN" altLang="en-US" sz="1200" b="0" dirty="0">
                <a:solidFill>
                  <a:srgbClr val="3A4149"/>
                </a:solidFill>
                <a:latin typeface="Noto Sans Mono CJK SC"/>
                <a:ea typeface="Microsoft YaHei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2" descr="像素画服务器机柜：三层机架、钴蓝机箱、白色状态灯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543800" y="1700000"/>
            <a:ext cx="3962400" cy="3600000"/>
          </a:xfrm>
          <a:prstGeom prst="rect">
            <a:avLst/>
          </a:prstGeom>
        </p:spPr>
      </p:pic>
      <p:sp>
        <p:nvSpPr>
          <p:cNvPr id="3" name="title-7"/>
          <p:cNvSpPr txBox="1"/>
          <p:nvPr/>
        </p:nvSpPr>
        <p:spPr>
          <a:xfrm>
            <a:off x="685800" y="760000"/>
            <a:ext cx="5943600" cy="8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2800" b="1" dirty="0">
                <a:solidFill>
                  <a:srgbClr val="1F2328"/>
                </a:solidFill>
                <a:latin typeface="Noto Sans Mono CJK SC"/>
                <a:ea typeface="Microsoft YaHei"/>
              </a:rPr>
              <a:t>基础设施那一半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685800" y="1700000"/>
            <a:ext cx="5943600" cy="36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228600" indent="-228600">
              <a:lnSpc>
                <a:spcPts val="4094"/>
              </a:lnSpc>
              <a:buFont typeface="Arial"/>
              <a:buChar char="•"/>
            </a:pPr>
            <a:r>
              <a:rPr lang="zh-CN" altLang="en-US" sz="1800" b="0" dirty="0">
                <a:solidFill>
                  <a:srgbClr val="1F2328"/>
                </a:solidFill>
                <a:latin typeface="Noto Sans Mono CJK SC"/>
                <a:ea typeface="Microsoft YaHei"/>
              </a:rPr>
              <a:t>CDN 回源率 38% → 6%：把带哈希的静态资源和会变的 HTML 分开缓存。</a:t>
            </a:r>
          </a:p>
          <a:p>
            <a:pPr algn="l" marL="228600" indent="-228600">
              <a:lnSpc>
                <a:spcPts val="4094"/>
              </a:lnSpc>
              <a:buFont typeface="Arial"/>
              <a:buChar char="•"/>
            </a:pPr>
            <a:r>
              <a:rPr lang="zh-CN" altLang="en-US" sz="1800" b="0" dirty="0">
                <a:solidFill>
                  <a:srgbClr val="1F2328"/>
                </a:solidFill>
                <a:latin typeface="Noto Sans Mono CJK SC"/>
                <a:ea typeface="Microsoft YaHei"/>
              </a:rPr>
              <a:t>网关加了逐接口耗时上报，前端第一次能自己看到 P95。</a:t>
            </a:r>
          </a:p>
          <a:p>
            <a:pPr algn="l" marL="228600" indent="-228600">
              <a:lnSpc>
                <a:spcPts val="4094"/>
              </a:lnSpc>
              <a:buFont typeface="Arial"/>
              <a:buChar char="•"/>
            </a:pPr>
            <a:r>
              <a:rPr lang="zh-CN" altLang="en-US" sz="1800" b="0" dirty="0">
                <a:solidFill>
                  <a:srgbClr val="1F2328"/>
                </a:solidFill>
                <a:latin typeface="Noto Sans Mono CJK SC"/>
                <a:ea typeface="Microsoft YaHei"/>
              </a:rPr>
              <a:t>构建产物从 14 个 chunk 收敛到 6 个，首包 1.9 MB → 640 KB。</a:t>
            </a:r>
          </a:p>
          <a:p>
            <a:pPr algn="l" marL="228600" indent="-228600">
              <a:lnSpc>
                <a:spcPts val="4094"/>
              </a:lnSpc>
              <a:buFont typeface="Arial"/>
              <a:buChar char="•"/>
            </a:pPr>
            <a:r>
              <a:rPr lang="zh-CN" altLang="en-US" sz="1800" b="0" dirty="0">
                <a:solidFill>
                  <a:srgbClr val="1F2328"/>
                </a:solidFill>
                <a:latin typeface="Noto Sans Mono CJK SC"/>
                <a:ea typeface="Microsoft YaHei"/>
              </a:rPr>
              <a:t>灰度环境和正式环境的缓存键彻底分开，第 3 周那种事不会再来。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200" b="0" dirty="0">
                <a:solidFill>
                  <a:srgbClr val="3A4149"/>
                </a:solidFill>
                <a:latin typeface="Noto Sans Mono CJK SC"/>
                <a:ea typeface="Microsoft YaHei"/>
              </a:rPr>
              <a:t>前端组 · 2026 上半年迭代复盘 · 内部材料</a:t>
            </a:r>
          </a:p>
        </p:txBody>
      </p:sp>
      <p:sp>
        <p:nvSpPr>
          <p:cNvPr id="6" name="page-number"/>
          <p:cNvSpPr txBox="1"/>
          <p:nvPr/>
        </p:nvSpPr>
        <p:spPr>
          <a:xfrm>
            <a:off x="60960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r" marL="0" indent="0">
              <a:buNone/>
            </a:pPr>
            <a:r>
              <a:rPr lang="zh-CN" altLang="en-US" sz="1200" b="0" dirty="0">
                <a:solidFill>
                  <a:srgbClr val="3A4149"/>
                </a:solidFill>
                <a:latin typeface="Noto Sans Mono CJK SC"/>
                <a:ea typeface="Microsoft YaHei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8"/>
          <p:cNvSpPr txBox="1"/>
          <p:nvPr/>
        </p:nvSpPr>
        <p:spPr>
          <a:xfrm>
            <a:off x="685800" y="760000"/>
            <a:ext cx="10820400" cy="8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2800" b="1" dirty="0">
                <a:solidFill>
                  <a:srgbClr val="1F2328"/>
                </a:solidFill>
                <a:latin typeface="Noto Sans Mono CJK SC"/>
                <a:ea typeface="Microsoft YaHei"/>
              </a:rPr>
              <a:t>做对的 / 做砸的</a:t>
            </a:r>
          </a:p>
        </p:txBody>
      </p:sp>
      <p:sp>
        <p:nvSpPr>
          <p:cNvPr id="3" name="left-header"/>
          <p:cNvSpPr/>
          <p:nvPr/>
        </p:nvSpPr>
        <p:spPr>
          <a:xfrm>
            <a:off x="685800" y="1700000"/>
            <a:ext cx="4724400" cy="420000"/>
          </a:xfrm>
          <a:prstGeom prst="rect">
            <a:avLst/>
          </a:prstGeom>
          <a:solidFill>
            <a:srgbClr val="2A4BD7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" name="left-header-text"/>
          <p:cNvSpPr txBox="1"/>
          <p:nvPr/>
        </p:nvSpPr>
        <p:spPr>
          <a:xfrm>
            <a:off x="685800" y="1700000"/>
            <a:ext cx="4724400" cy="42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ctr" marL="0" indent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Noto Sans Mono CJK SC"/>
                <a:ea typeface="Microsoft YaHei"/>
              </a:rPr>
              <a:t>A</a:t>
            </a:r>
          </a:p>
        </p:txBody>
      </p:sp>
      <p:sp>
        <p:nvSpPr>
          <p:cNvPr id="5" name="left-items"/>
          <p:cNvSpPr txBox="1"/>
          <p:nvPr/>
        </p:nvSpPr>
        <p:spPr>
          <a:xfrm>
            <a:off x="685800" y="2120000"/>
            <a:ext cx="4724400" cy="276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228600" indent="-228600">
              <a:lnSpc>
                <a:spcPts val="3622"/>
              </a:lnSpc>
              <a:buFont typeface="Arial"/>
              <a:buChar char="•"/>
            </a:pPr>
            <a:r>
              <a:rPr lang="zh-CN" altLang="en-US" sz="1600" b="0" dirty="0">
                <a:solidFill>
                  <a:srgbClr val="1F2328"/>
                </a:solidFill>
                <a:latin typeface="Noto Sans Mono CJK SC"/>
                <a:ea typeface="Microsoft YaHei"/>
              </a:rPr>
              <a:t>对：第 0 周只量不改，后面每一步都能对上账。</a:t>
            </a:r>
          </a:p>
          <a:p>
            <a:pPr algn="l" marL="228600" indent="-228600">
              <a:lnSpc>
                <a:spcPts val="3622"/>
              </a:lnSpc>
              <a:buFont typeface="Arial"/>
              <a:buChar char="•"/>
            </a:pPr>
            <a:r>
              <a:rPr lang="zh-CN" altLang="en-US" sz="1600" b="0" dirty="0">
                <a:solidFill>
                  <a:srgbClr val="1F2328"/>
                </a:solidFill>
                <a:latin typeface="Noto Sans Mono CJK SC"/>
                <a:ea typeface="Microsoft YaHei"/>
              </a:rPr>
              <a:t>对：每周只动一类东西，出问题一眼看得出是哪一类。</a:t>
            </a:r>
          </a:p>
          <a:p>
            <a:pPr algn="l" marL="228600" indent="-228600">
              <a:lnSpc>
                <a:spcPts val="3622"/>
              </a:lnSpc>
              <a:buFont typeface="Arial"/>
              <a:buChar char="•"/>
            </a:pPr>
            <a:r>
              <a:rPr lang="zh-CN" altLang="en-US" sz="1600" b="0" dirty="0">
                <a:solidFill>
                  <a:srgbClr val="1F2328"/>
                </a:solidFill>
                <a:latin typeface="Noto Sans Mono CJK SC"/>
                <a:ea typeface="Microsoft YaHei"/>
              </a:rPr>
              <a:t>对：回滚不写进「事故」，写进这份复盘的正文。</a:t>
            </a:r>
          </a:p>
        </p:txBody>
      </p:sp>
      <p:sp>
        <p:nvSpPr>
          <p:cNvPr id="6" name="right-header"/>
          <p:cNvSpPr/>
          <p:nvPr/>
        </p:nvSpPr>
        <p:spPr>
          <a:xfrm>
            <a:off x="5810200" y="1700000"/>
            <a:ext cx="4724400" cy="420000"/>
          </a:xfrm>
          <a:prstGeom prst="rect">
            <a:avLst/>
          </a:prstGeom>
          <a:solidFill>
            <a:srgbClr val="3F4557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7" name="right-header-text"/>
          <p:cNvSpPr txBox="1"/>
          <p:nvPr/>
        </p:nvSpPr>
        <p:spPr>
          <a:xfrm>
            <a:off x="5810200" y="1700000"/>
            <a:ext cx="4724400" cy="42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ctr" marL="0" indent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Noto Sans Mono CJK SC"/>
                <a:ea typeface="Microsoft YaHei"/>
              </a:rPr>
              <a:t>最后一条要认下来：没有验收标准的优化，等于没有终点。</a:t>
            </a:r>
          </a:p>
        </p:txBody>
      </p:sp>
      <p:sp>
        <p:nvSpPr>
          <p:cNvPr id="8" name="right-items"/>
          <p:cNvSpPr txBox="1"/>
          <p:nvPr/>
        </p:nvSpPr>
        <p:spPr>
          <a:xfrm>
            <a:off x="5810200" y="2120000"/>
            <a:ext cx="4724400" cy="276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228600" indent="-228600">
              <a:lnSpc>
                <a:spcPts val="3622"/>
              </a:lnSpc>
              <a:buFont typeface="Arial"/>
              <a:buChar char="•"/>
            </a:pPr>
            <a:r>
              <a:rPr lang="zh-CN" altLang="en-US" sz="1600" b="0" dirty="0">
                <a:solidFill>
                  <a:srgbClr val="1F2328"/>
                </a:solidFill>
                <a:latin typeface="Noto Sans Mono CJK SC"/>
                <a:ea typeface="Microsoft YaHei"/>
              </a:rPr>
              <a:t>砸：第 3 周改缓存前没在灰度上跑满一天，回滚两次。</a:t>
            </a:r>
          </a:p>
          <a:p>
            <a:pPr algn="l" marL="228600" indent="-228600">
              <a:lnSpc>
                <a:spcPts val="3622"/>
              </a:lnSpc>
              <a:buFont typeface="Arial"/>
              <a:buChar char="•"/>
            </a:pPr>
            <a:r>
              <a:rPr lang="zh-CN" altLang="en-US" sz="1600" b="0" dirty="0">
                <a:solidFill>
                  <a:srgbClr val="1F2328"/>
                </a:solidFill>
                <a:latin typeface="Noto Sans Mono CJK SC"/>
                <a:ea typeface="Microsoft YaHei"/>
              </a:rPr>
              <a:t>砸：字体子集化拖到第 5 周才做，它其实是收益最大、风险最低的一件。</a:t>
            </a:r>
          </a:p>
          <a:p>
            <a:pPr algn="l" marL="228600" indent="-228600">
              <a:lnSpc>
                <a:spcPts val="3622"/>
              </a:lnSpc>
              <a:buFont typeface="Arial"/>
              <a:buChar char="•"/>
            </a:pPr>
            <a:r>
              <a:rPr lang="zh-CN" altLang="en-US" sz="1600" b="0" dirty="0">
                <a:solidFill>
                  <a:srgbClr val="1F2328"/>
                </a:solidFill>
                <a:latin typeface="Noto Sans Mono CJK SC"/>
                <a:ea typeface="Microsoft YaHei"/>
              </a:rPr>
              <a:t>砸：没定「多慢算慢」，验收标准是收尾时补的。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6858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200" b="0" dirty="0">
                <a:solidFill>
                  <a:srgbClr val="3A4149"/>
                </a:solidFill>
                <a:latin typeface="Noto Sans Mono CJK SC"/>
                <a:ea typeface="Microsoft YaHei"/>
              </a:rPr>
              <a:t>前端组 · 2026 上半年迭代复盘 · 内部材料</a:t>
            </a:r>
          </a:p>
        </p:txBody>
      </p:sp>
      <p:sp>
        <p:nvSpPr>
          <p:cNvPr id="10" name="page-number"/>
          <p:cNvSpPr txBox="1"/>
          <p:nvPr/>
        </p:nvSpPr>
        <p:spPr>
          <a:xfrm>
            <a:off x="60960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r" marL="0" indent="0">
              <a:buNone/>
            </a:pPr>
            <a:r>
              <a:rPr lang="zh-CN" altLang="en-US" sz="1200" b="0" dirty="0">
                <a:solidFill>
                  <a:srgbClr val="3A4149"/>
                </a:solidFill>
                <a:latin typeface="Noto Sans Mono CJK SC"/>
                <a:ea typeface="Microsoft YaHei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2" descr="像素画剪贴板清单：两项已打勾，一项未打勾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543800" y="1700000"/>
            <a:ext cx="3962400" cy="3600000"/>
          </a:xfrm>
          <a:prstGeom prst="rect">
            <a:avLst/>
          </a:prstGeom>
        </p:spPr>
      </p:pic>
      <p:sp>
        <p:nvSpPr>
          <p:cNvPr id="3" name="title-9"/>
          <p:cNvSpPr txBox="1"/>
          <p:nvPr/>
        </p:nvSpPr>
        <p:spPr>
          <a:xfrm>
            <a:off x="685800" y="760000"/>
            <a:ext cx="5943600" cy="8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2800" b="1" dirty="0">
                <a:solidFill>
                  <a:srgbClr val="1F2328"/>
                </a:solidFill>
                <a:latin typeface="Noto Sans Mono CJK SC"/>
                <a:ea typeface="Microsoft YaHei"/>
              </a:rPr>
              <a:t>下半年三件事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685800" y="1700000"/>
            <a:ext cx="5943600" cy="36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228600" indent="-228600">
              <a:lnSpc>
                <a:spcPts val="4094"/>
              </a:lnSpc>
              <a:buFont typeface="Arial"/>
              <a:buChar char="•"/>
            </a:pPr>
            <a:r>
              <a:rPr lang="zh-CN" altLang="en-US" sz="1800" b="0" dirty="0">
                <a:solidFill>
                  <a:srgbClr val="1F2328"/>
                </a:solidFill>
                <a:latin typeface="Noto Sans Mono CJK SC"/>
                <a:ea typeface="Microsoft YaHei"/>
              </a:rPr>
              <a:t>把首屏 P75 写进发版卡口：超过 1.5 秒不许发。负责人：阿哲，9 月 1 日起生效。</a:t>
            </a:r>
          </a:p>
          <a:p>
            <a:pPr algn="l" marL="228600" indent="-228600">
              <a:lnSpc>
                <a:spcPts val="4094"/>
              </a:lnSpc>
              <a:buFont typeface="Arial"/>
              <a:buChar char="•"/>
            </a:pPr>
            <a:r>
              <a:rPr lang="zh-CN" altLang="en-US" sz="1800" b="0" dirty="0">
                <a:solidFill>
                  <a:srgbClr val="1F2328"/>
                </a:solidFill>
                <a:latin typeface="Noto Sans Mono CJK SC"/>
                <a:ea typeface="Microsoft YaHei"/>
              </a:rPr>
              <a:t>把这六周的量法做成一个脚本，任何人跑一条命令就能出这张表。负责人：小林，8 月 25 日。</a:t>
            </a:r>
          </a:p>
          <a:p>
            <a:pPr algn="l" marL="228600" indent="-228600">
              <a:lnSpc>
                <a:spcPts val="4094"/>
              </a:lnSpc>
              <a:buFont typeface="Arial"/>
              <a:buChar char="•"/>
            </a:pPr>
            <a:r>
              <a:rPr lang="zh-CN" altLang="en-US" sz="1800" b="0" dirty="0">
                <a:solidFill>
                  <a:srgbClr val="1F2328"/>
                </a:solidFill>
                <a:latin typeface="Noto Sans Mono CJK SC"/>
                <a:ea typeface="Microsoft YaHei"/>
              </a:rPr>
              <a:t>给移动弱网单独立一条曲线——投诉里 70% 来自那一档。负责人：小周，9 月 15 日。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200" b="0" dirty="0">
                <a:solidFill>
                  <a:srgbClr val="3A4149"/>
                </a:solidFill>
                <a:latin typeface="Noto Sans Mono CJK SC"/>
                <a:ea typeface="Microsoft YaHei"/>
              </a:rPr>
              <a:t>前端组 · 2026 上半年迭代复盘 · 内部材料</a:t>
            </a:r>
          </a:p>
        </p:txBody>
      </p:sp>
      <p:sp>
        <p:nvSpPr>
          <p:cNvPr id="6" name="page-number"/>
          <p:cNvSpPr txBox="1"/>
          <p:nvPr/>
        </p:nvSpPr>
        <p:spPr>
          <a:xfrm>
            <a:off x="60960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r" marL="0" indent="0">
              <a:buNone/>
            </a:pPr>
            <a:r>
              <a:rPr lang="zh-CN" altLang="en-US" sz="1200" b="0" dirty="0">
                <a:solidFill>
                  <a:srgbClr val="3A4149"/>
                </a:solidFill>
                <a:latin typeface="Noto Sans Mono CJK SC"/>
                <a:ea typeface="Microsoft YaHei"/>
              </a:rPr>
              <a:t>9 / 9</a:t>
            </a:r>
          </a:p>
        </p:txBody>
      </p:sp>
      <p:sp>
        <p:nvSpPr>
          <p:cNvPr id="7" name="oceanleo-credits"/>
          <p:cNvSpPr txBox="1"/>
          <p:nvPr/>
        </p:nvSpPr>
        <p:spPr>
          <a:xfrm>
            <a:off x="685800" y="6060800"/>
            <a:ext cx="10820400" cy="32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200" b="0" dirty="0">
                <a:solidFill>
                  <a:srgbClr val="3A4149"/>
                </a:solidFill>
                <a:latin typeface="Noto Sans Mono CJK SC"/>
                <a:ea typeface="Microsoft YaHei"/>
              </a:rPr>
              <a:t>配图为 OceanLeo 第一方自行生成的像素画，生成后按 112 格网格量化到四色硬边（无柔边、无渐变），原始生成物随件出厂于 src/gen-raw/ (CC0-1.0); 文字与数据为 OceanLeo 第一方原创示例，不指向任何真实团队或系统 (CC0-1.0)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ceanLeo Deck">
  <a:themeElements>
    <a:clrScheme name="OceanLeo">
      <a:dk1>
        <a:srgbClr val="1F2328"/>
      </a:dk1>
      <a:lt1>
        <a:srgbClr val="FFFFFF"/>
      </a:lt1>
      <a:dk2>
        <a:srgbClr val="3A4149"/>
      </a:dk2>
      <a:lt2>
        <a:srgbClr val="F2F5F9"/>
      </a:lt2>
      <a:accent1>
        <a:srgbClr val="2A4BD7"/>
      </a:accent1>
      <a:accent2>
        <a:srgbClr val="1B3299"/>
      </a:accent2>
      <a:accent3>
        <a:srgbClr val="8A90A3"/>
      </a:accent3>
      <a:accent4>
        <a:srgbClr val="B4B8C5"/>
      </a:accent4>
      <a:accent5>
        <a:srgbClr val="E2574C"/>
      </a:accent5>
      <a:accent6>
        <a:srgbClr val="3F4557"/>
      </a:accent6>
      <a:hlink>
        <a:srgbClr val="0969DA"/>
      </a:hlink>
      <a:folHlink>
        <a:srgbClr val="8250DF"/>
      </a:folHlink>
    </a:clrScheme>
    <a:fontScheme name="OceanLeo">
      <a:majorFont>
        <a:latin typeface="Noto Sans Mono CJK SC"/>
        <a:ea typeface="Microsoft YaHei"/>
        <a:cs typeface=""/>
      </a:majorFont>
      <a:minorFont>
        <a:latin typeface="Noto Sans CJK SC"/>
        <a:ea typeface="Microsoft YaHei"/>
        <a:cs typeface=""/>
      </a:minorFont>
    </a:fontScheme>
    <a:fmtScheme name="OceanLeo">
      <a:fillStyleLst>
        <a:solidFill>
          <a:schemeClr val="phClr">
            <a:lumMod val="100000"/>
          </a:schemeClr>
        </a:solidFill>
        <a:solidFill>
          <a:schemeClr val="phClr">
            <a:lumMod val="90000"/>
          </a:schemeClr>
        </a:solidFill>
        <a:solidFill>
          <a:schemeClr val="phClr">
            <a:lumMod val="80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>
            <a:lumMod val="100000"/>
          </a:schemeClr>
        </a:solidFill>
        <a:solidFill>
          <a:schemeClr val="phClr">
            <a:lumMod val="95000"/>
          </a:schemeClr>
        </a:solidFill>
        <a:solidFill>
          <a:schemeClr val="phClr">
            <a:lumMod val="85000"/>
          </a:schemeClr>
        </a:solidFill>
      </a:bgFillStyleLst>
    </a:fmtScheme>
  </a:themeElements>
  <a:objectDefaults/>
  <a:extraClrSchemeLst/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像素级复盘：把首屏 4.2 秒砍到 1.1 秒的六周</dc:title>
  <dc:subject>像素级复盘：把首屏 4.2 秒砍到 1.1 秒的六周</dc:subject>
  <dc:creator>OceanLeo</dc:creator>
  <cp:lastModifiedBy>OceanLeo</cp:lastModifiedBy>
  <cp:revision>1</cp:revision>
  <dcterms:created xsi:type="dcterms:W3CDTF">2026-07-29T00:00:00Z</dcterms:created>
  <dcterms:modified xsi:type="dcterms:W3CDTF">2026-07-29T00:00:00Z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ceanLeoCredits">
    <vt:lpwstr>配图为 OceanLeo 第一方自行生成的像素画，生成后按 112 格网格量化到四色硬边（无柔边、无渐变），原始生成物随件出厂于 src/gen-raw/ (CC0-1.0); 文字与数据为 OceanLeo 第一方原创示例，不指向任何真实团队或系统 (CC0-1.0)</vt:lpwstr>
  </property>
</Properties>
</file>