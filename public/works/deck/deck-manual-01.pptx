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heme" Target="theme/theme1.xml"/><Relationship Id="rId12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照着这份手册做，一个 20 平方米的闲置空间在六周内可以开放。每一页只讲一步，看完就能动手。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把「阶段一 · 选点」的蓝色圆标贴在立项表右上角，交给下一步的人。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分拣当天必须清场，不许把没分完的书过夜堆在通道上。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任何一周交不出那件东西，就把后面整体顺延一周，不要压缩开放日前的第 5 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走位不通就改书架间距，不要改动线上的指引箭头去迁就它。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三件物料到齐当天拍一张合影存档，作为第 5 周的交付凭证。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选定后写进立项表并公示，中途改方式要重新公示七天。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首日表当晚发群里，第二天按上面的问题清单逐条改，不要等到周末复盘。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任何一行打不了勾就不开放。手册到此结束，下一版修订时间：2027 年 2 月。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title"/>
          <p:cNvSpPr>
            <a:spLocks noGrp="1"/>
          </p:cNvSpPr>
          <p:nvPr>
            <p:ph type="title"/>
          </p:nvPr>
        </p:nvSpPr>
        <p:spPr>
          <a:xfrm>
            <a:off x="685800" y="1500000"/>
            <a:ext cx="10820400" cy="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itle-accentBar"/>
          <p:cNvSpPr>
            <a:spLocks noGrp="1"/>
          </p:cNvSpPr>
          <p:nvPr>
            <p:ph type="body" idx="1"/>
          </p:nvPr>
        </p:nvSpPr>
        <p:spPr>
          <a:xfrm>
            <a:off x="685800" y="2400000"/>
            <a:ext cx="10820400" cy="9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itle-subtitle"/>
          <p:cNvSpPr>
            <a:spLocks noGrp="1"/>
          </p:cNvSpPr>
          <p:nvPr>
            <p:ph type="body" idx="2"/>
          </p:nvPr>
        </p:nvSpPr>
        <p:spPr>
          <a:xfrm>
            <a:off x="685800" y="2700000"/>
            <a:ext cx="10820400" cy="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accentBar"/>
          <p:cNvSpPr>
            <a:spLocks noGrp="1"/>
          </p:cNvSpPr>
          <p:nvPr>
            <p:ph type="title"/>
          </p:nvPr>
        </p:nvSpPr>
        <p:spPr>
          <a:xfrm>
            <a:off x="0" y="0"/>
            <a:ext cx="460000" cy="6858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section-title"/>
          <p:cNvSpPr>
            <a:spLocks noGrp="1"/>
          </p:cNvSpPr>
          <p:nvPr>
            <p:ph type="body" idx="1"/>
          </p:nvPr>
        </p:nvSpPr>
        <p:spPr>
          <a:xfrm>
            <a:off x="1000000" y="2600000"/>
            <a:ext cx="10506200" cy="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ection-subtitle"/>
          <p:cNvSpPr>
            <a:spLocks noGrp="1"/>
          </p:cNvSpPr>
          <p:nvPr>
            <p:ph type="body" idx="2"/>
          </p:nvPr>
        </p:nvSpPr>
        <p:spPr>
          <a:xfrm>
            <a:off x="1000000" y="3600000"/>
            <a:ext cx="10506200" cy="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llets-accentDot"/>
          <p:cNvSpPr>
            <a:spLocks noGrp="1"/>
          </p:cNvSpPr>
          <p:nvPr>
            <p:ph type="title"/>
          </p:nvPr>
        </p:nvSpPr>
        <p:spPr>
          <a:xfrm>
            <a:off x="685800" y="620000"/>
            <a:ext cx="200000" cy="7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bullets-title"/>
          <p:cNvSpPr>
            <a:spLocks noGrp="1"/>
          </p:cNvSpPr>
          <p:nvPr>
            <p:ph type="body" idx="1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bullets-bullets"/>
          <p:cNvSpPr>
            <a:spLocks noGrp="1"/>
          </p:cNvSpPr>
          <p:nvPr>
            <p:ph type="body" idx="2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o-column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wo-column-lef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4724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wo-column-right"/>
          <p:cNvSpPr>
            <a:spLocks noGrp="1"/>
          </p:cNvSpPr>
          <p:nvPr>
            <p:ph type="body" idx="2"/>
          </p:nvPr>
        </p:nvSpPr>
        <p:spPr>
          <a:xfrm>
            <a:off x="5810200" y="1700000"/>
            <a:ext cx="4724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ata-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-table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a-table-table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full-imag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full-scrim"/>
          <p:cNvSpPr>
            <a:spLocks noGrp="1"/>
          </p:cNvSpPr>
          <p:nvPr>
            <p:ph type="body" idx="1"/>
          </p:nvPr>
        </p:nvSpPr>
        <p:spPr>
          <a:xfrm>
            <a:off x="0" y="5200000"/>
            <a:ext cx="12192000" cy="10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full-title"/>
          <p:cNvSpPr>
            <a:spLocks noGrp="1"/>
          </p:cNvSpPr>
          <p:nvPr>
            <p:ph type="body" idx="2"/>
          </p:nvPr>
        </p:nvSpPr>
        <p:spPr>
          <a:xfrm>
            <a:off x="685800" y="5200000"/>
            <a:ext cx="10820400" cy="10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left-image"/>
          <p:cNvSpPr>
            <a:spLocks noGrp="1"/>
          </p:cNvSpPr>
          <p:nvPr>
            <p:ph type="title"/>
          </p:nvPr>
        </p:nvSpPr>
        <p:spPr>
          <a:xfrm>
            <a:off x="685800" y="1700000"/>
            <a:ext cx="39624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left-title"/>
          <p:cNvSpPr>
            <a:spLocks noGrp="1"/>
          </p:cNvSpPr>
          <p:nvPr>
            <p:ph type="body" idx="1"/>
          </p:nvPr>
        </p:nvSpPr>
        <p:spPr>
          <a:xfrm>
            <a:off x="5562600" y="760000"/>
            <a:ext cx="59436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left-bullets"/>
          <p:cNvSpPr>
            <a:spLocks noGrp="1"/>
          </p:cNvSpPr>
          <p:nvPr>
            <p:ph type="body" idx="2"/>
          </p:nvPr>
        </p:nvSpPr>
        <p:spPr>
          <a:xfrm>
            <a:off x="5562600" y="1700000"/>
            <a:ext cx="59436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right-image"/>
          <p:cNvSpPr>
            <a:spLocks noGrp="1"/>
          </p:cNvSpPr>
          <p:nvPr>
            <p:ph type="title"/>
          </p:nvPr>
        </p:nvSpPr>
        <p:spPr>
          <a:xfrm>
            <a:off x="7543800" y="1700000"/>
            <a:ext cx="39624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right-title"/>
          <p:cNvSpPr>
            <a:spLocks noGrp="1"/>
          </p:cNvSpPr>
          <p:nvPr>
            <p:ph type="body" idx="1"/>
          </p:nvPr>
        </p:nvSpPr>
        <p:spPr>
          <a:xfrm>
            <a:off x="685800" y="760000"/>
            <a:ext cx="59436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image-right-bullets"/>
          <p:cNvSpPr>
            <a:spLocks noGrp="1"/>
          </p:cNvSpPr>
          <p:nvPr>
            <p:ph type="body" idx="2"/>
          </p:nvPr>
        </p:nvSpPr>
        <p:spPr>
          <a:xfrm>
            <a:off x="685800" y="1700000"/>
            <a:ext cx="5943600" cy="36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grid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image-grid-cell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3505200" cy="20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chart-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focus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hart-focus-char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hart-focus-conclusion"/>
          <p:cNvSpPr>
            <a:spLocks noGrp="1"/>
          </p:cNvSpPr>
          <p:nvPr>
            <p:ph type="body" idx="2"/>
          </p:nvPr>
        </p:nvSpPr>
        <p:spPr>
          <a:xfrm>
            <a:off x="685800" y="5600000"/>
            <a:ext cx="10820400" cy="48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art-with-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with-notes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hart-with-notes-chart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59436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hart-with-notes-bullets"/>
          <p:cNvSpPr>
            <a:spLocks noGrp="1"/>
          </p:cNvSpPr>
          <p:nvPr>
            <p:ph type="body" idx="2"/>
          </p:nvPr>
        </p:nvSpPr>
        <p:spPr>
          <a:xfrm>
            <a:off x="6934200" y="1700000"/>
            <a:ext cx="3962400" cy="3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pi-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pi-row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kpi-row-card"/>
          <p:cNvSpPr>
            <a:spLocks noGrp="1"/>
          </p:cNvSpPr>
          <p:nvPr>
            <p:ph type="body" idx="1"/>
          </p:nvPr>
        </p:nvSpPr>
        <p:spPr>
          <a:xfrm>
            <a:off x="685800" y="2000000"/>
            <a:ext cx="4724400" cy="19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arison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comparison-leftHeader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4724400" cy="4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comparison-rightHeader"/>
          <p:cNvSpPr>
            <a:spLocks noGrp="1"/>
          </p:cNvSpPr>
          <p:nvPr>
            <p:ph type="body" idx="2"/>
          </p:nvPr>
        </p:nvSpPr>
        <p:spPr>
          <a:xfrm>
            <a:off x="5810200" y="1700000"/>
            <a:ext cx="4724400" cy="42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line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timeline-axis"/>
          <p:cNvSpPr>
            <a:spLocks noGrp="1"/>
          </p:cNvSpPr>
          <p:nvPr>
            <p:ph type="body" idx="1"/>
          </p:nvPr>
        </p:nvSpPr>
        <p:spPr>
          <a:xfrm>
            <a:off x="685800" y="3400000"/>
            <a:ext cx="10820400" cy="4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timeline-node"/>
          <p:cNvSpPr>
            <a:spLocks noGrp="1"/>
          </p:cNvSpPr>
          <p:nvPr>
            <p:ph type="body" idx="2"/>
          </p:nvPr>
        </p:nvSpPr>
        <p:spPr>
          <a:xfrm>
            <a:off x="685800" y="3310000"/>
            <a:ext cx="180000" cy="18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-mark"/>
          <p:cNvSpPr>
            <a:spLocks noGrp="1"/>
          </p:cNvSpPr>
          <p:nvPr>
            <p:ph type="title"/>
          </p:nvPr>
        </p:nvSpPr>
        <p:spPr>
          <a:xfrm>
            <a:off x="1609800" y="2200000"/>
            <a:ext cx="300000" cy="3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quote-quote"/>
          <p:cNvSpPr>
            <a:spLocks noGrp="1"/>
          </p:cNvSpPr>
          <p:nvPr>
            <p:ph type="body" idx="1"/>
          </p:nvPr>
        </p:nvSpPr>
        <p:spPr>
          <a:xfrm>
            <a:off x="2209800" y="2200000"/>
            <a:ext cx="7163400" cy="1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quote-attribution"/>
          <p:cNvSpPr>
            <a:spLocks noGrp="1"/>
          </p:cNvSpPr>
          <p:nvPr>
            <p:ph type="body" idx="2"/>
          </p:nvPr>
        </p:nvSpPr>
        <p:spPr>
          <a:xfrm>
            <a:off x="2209800" y="4000000"/>
            <a:ext cx="7163400" cy="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mixed-tripty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ed-triptych-title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mixed-triptych-image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3505200" cy="2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mixed-triptych-chart"/>
          <p:cNvSpPr>
            <a:spLocks noGrp="1"/>
          </p:cNvSpPr>
          <p:nvPr>
            <p:ph type="body" idx="2"/>
          </p:nvPr>
        </p:nvSpPr>
        <p:spPr>
          <a:xfrm>
            <a:off x="4343400" y="1700000"/>
            <a:ext cx="3505200" cy="24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85800" y="760000"/>
            <a:ext cx="10820400" cy="8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685800" y="1700000"/>
            <a:ext cx="10820400" cy="45484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type="sldNum" idx="12"/>
          </p:nvPr>
        </p:nvSpPr>
        <p:spPr>
          <a:xfrm>
            <a:off x="6096000" y="6400800"/>
            <a:ext cx="5410200" cy="3000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00" r:id="rId1"/>
    <p:sldLayoutId id="2147483601" r:id="rId2"/>
    <p:sldLayoutId id="2147483602" r:id="rId3"/>
    <p:sldLayoutId id="2147483603" r:id="rId4"/>
    <p:sldLayoutId id="2147483604" r:id="rId5"/>
    <p:sldLayoutId id="2147483605" r:id="rId6"/>
    <p:sldLayoutId id="2147483606" r:id="rId7"/>
    <p:sldLayoutId id="2147483607" r:id="rId8"/>
    <p:sldLayoutId id="2147483608" r:id="rId9"/>
    <p:sldLayoutId id="2147483609" r:id="rId10"/>
    <p:sldLayoutId id="2147483610" r:id="rId11"/>
    <p:sldLayoutId id="2147483611" r:id="rId12"/>
    <p:sldLayoutId id="2147483612" r:id="rId13"/>
    <p:sldLayoutId id="2147483613" r:id="rId14"/>
    <p:sldLayoutId id="2147483614" r:id="rId15"/>
    <p:sldLayoutId id="2147483615" r:id="rId16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"/>
          <p:cNvSpPr txBox="1"/>
          <p:nvPr/>
        </p:nvSpPr>
        <p:spPr>
          <a:xfrm>
            <a:off x="685800" y="1500000"/>
            <a:ext cx="10820400" cy="9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4400" b="1" dirty="0">
                <a:solidFill>
                  <a:srgbClr val="0F172A"/>
                </a:solidFill>
                <a:latin typeface="Space Grotesk"/>
                <a:ea typeface="Noto Sans SC"/>
              </a:rPr>
              <a:t>社区共享书屋落地手册</a:t>
            </a:r>
          </a:p>
        </p:txBody>
      </p:sp>
      <p:sp>
        <p:nvSpPr>
          <p:cNvPr id="3" name="accent-bar"/>
          <p:cNvSpPr/>
          <p:nvPr/>
        </p:nvSpPr>
        <p:spPr>
          <a:xfrm>
            <a:off x="685800" y="2400000"/>
            <a:ext cx="108204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685800" y="2700000"/>
            <a:ext cx="10820400" cy="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800" b="0" dirty="0">
                <a:solidFill>
                  <a:srgbClr val="475569"/>
                </a:solidFill>
                <a:latin typeface="Space Grotesk"/>
                <a:ea typeface="Noto Sans SC"/>
              </a:rPr>
              <a:t>给街道社区服务中心与志愿者组长 · v1.2 · 2026 年 8 月修订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社区共享书屋落地手册 · v1.2 · 街道社区服务中心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共享书屋点位平面示意：左侧为主阅读区，右侧自上而下三格为书架带，底部箭头标出主通道方向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0" y="1700000"/>
            <a:ext cx="3962400" cy="3600000"/>
          </a:xfrm>
          <a:prstGeom prst="rect">
            <a:avLst/>
          </a:prstGeom>
        </p:spPr>
      </p:pic>
      <p:sp>
        <p:nvSpPr>
          <p:cNvPr id="3" name="title-2"/>
          <p:cNvSpPr txBox="1"/>
          <p:nvPr/>
        </p:nvSpPr>
        <p:spPr>
          <a:xfrm>
            <a:off x="55626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0F172A"/>
                </a:solidFill>
                <a:latin typeface="Space Grotesk"/>
                <a:ea typeface="Noto Sans SC"/>
              </a:rPr>
              <a:t>第一步 · 选点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55626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先量净宽：主通道量到 1.2 米以上再往下走，量不到就换点位，不要靠减书架凑。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站在门口向里看一眼，看得见最里面那排书架的顶层，采光就够；看不见就补一盏 4000K 顶灯。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把点位平面拍一张照、标上门与窗，贴进立项表，后面四步都以这张图为准。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社区共享书屋落地手册 · v1.2 · 街道社区服务中心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分拣示意：五摞高低不一的书按开本排开，右上角一个警示圆点标出退回堆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43800" y="1700000"/>
            <a:ext cx="3962400" cy="3600000"/>
          </a:xfrm>
          <a:prstGeom prst="rect">
            <a:avLst/>
          </a:prstGeom>
        </p:spPr>
      </p:pic>
      <p:sp>
        <p:nvSpPr>
          <p:cNvPr id="3" name="title-3"/>
          <p:cNvSpPr txBox="1"/>
          <p:nvPr/>
        </p:nvSpPr>
        <p:spPr>
          <a:xfrm>
            <a:off x="6858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0F172A"/>
                </a:solidFill>
                <a:latin typeface="Space Grotesk"/>
                <a:ea typeface="Noto Sans SC"/>
              </a:rPr>
              <a:t>第二步 · 初次分拣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捐书到场当天全部过一遍手，分成「上架」「留用备补」「退回」三堆，不要留第四堆。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破损超过封面一半、有批注、缺页的一律进「退回」，当场登记捐赠人姓名与册数。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「上架」这一堆按开本高低码放，高的一摞、矮的一摞，下一步上架时省一半时间。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社区共享书屋落地手册 · v1.2 · 街道社区服务中心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0F172A"/>
                </a:solidFill>
                <a:latin typeface="Space Grotesk"/>
                <a:ea typeface="Noto Sans SC"/>
              </a:rPr>
              <a:t>六周排期：每一周只交一件东西</a:t>
            </a:r>
          </a:p>
        </p:txBody>
      </p:sp>
      <p:sp>
        <p:nvSpPr>
          <p:cNvPr id="3" name="axis"/>
          <p:cNvSpPr/>
          <p:nvPr/>
        </p:nvSpPr>
        <p:spPr>
          <a:xfrm>
            <a:off x="685800" y="3400000"/>
            <a:ext cx="10820400" cy="4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node-0"/>
          <p:cNvSpPr/>
          <p:nvPr/>
        </p:nvSpPr>
        <p:spPr>
          <a:xfrm>
            <a:off x="685800" y="3310000"/>
            <a:ext cx="180000" cy="18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at-0"/>
          <p:cNvSpPr txBox="1"/>
          <p:nvPr/>
        </p:nvSpPr>
        <p:spPr>
          <a:xfrm>
            <a:off x="-125900" y="3000000"/>
            <a:ext cx="1803400" cy="400000"/>
          </a:xfrm>
          <a:prstGeom prst="rect">
            <a:avLst/>
          </a:prstGeom>
          <a:noFill/>
        </p:spPr>
        <p:txBody>
          <a:bodyPr wrap="square" lIns="91440" rIns="91440" anchor="b">
            <a:normAutofit/>
          </a:bodyPr>
          <a:lstStyle/>
          <a:p>
            <a:pPr algn="ctr" marL="0" indent="0">
              <a:buNone/>
            </a:pPr>
            <a:r>
              <a:rPr lang="zh-CN" altLang="en-US" sz="2000" b="1" dirty="0">
                <a:solidFill>
                  <a:srgbClr val="0F172A"/>
                </a:solidFill>
                <a:latin typeface="Space Grotesk"/>
                <a:ea typeface="Noto Sans SC"/>
              </a:rPr>
              <a:t>第 1 周</a:t>
            </a:r>
          </a:p>
        </p:txBody>
      </p:sp>
      <p:sp>
        <p:nvSpPr>
          <p:cNvPr id="6" name="label-0"/>
          <p:cNvSpPr txBox="1"/>
          <p:nvPr/>
        </p:nvSpPr>
        <p:spPr>
          <a:xfrm>
            <a:off x="-125900" y="3700000"/>
            <a:ext cx="1803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0F172A"/>
                </a:solidFill>
                <a:latin typeface="Space Grotesk"/>
                <a:ea typeface="Noto Sans SC"/>
              </a:rPr>
              <a:t>选点定稿</a:t>
            </a:r>
          </a:p>
        </p:txBody>
      </p:sp>
      <p:sp>
        <p:nvSpPr>
          <p:cNvPr id="7" name="detail-0"/>
          <p:cNvSpPr txBox="1"/>
          <p:nvPr/>
        </p:nvSpPr>
        <p:spPr>
          <a:xfrm>
            <a:off x="-125900" y="4020000"/>
            <a:ext cx="1803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475569"/>
                </a:solidFill>
                <a:latin typeface="Space Grotesk"/>
                <a:ea typeface="Noto Sans SC"/>
              </a:rPr>
              <a:t>交平面图与净宽实测数</a:t>
            </a:r>
          </a:p>
        </p:txBody>
      </p:sp>
      <p:sp>
        <p:nvSpPr>
          <p:cNvPr id="8" name="node-1"/>
          <p:cNvSpPr/>
          <p:nvPr/>
        </p:nvSpPr>
        <p:spPr>
          <a:xfrm>
            <a:off x="2813880" y="3310000"/>
            <a:ext cx="180000" cy="18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" name="at-1"/>
          <p:cNvSpPr txBox="1"/>
          <p:nvPr/>
        </p:nvSpPr>
        <p:spPr>
          <a:xfrm>
            <a:off x="2002180" y="3000000"/>
            <a:ext cx="1803400" cy="400000"/>
          </a:xfrm>
          <a:prstGeom prst="rect">
            <a:avLst/>
          </a:prstGeom>
          <a:noFill/>
        </p:spPr>
        <p:txBody>
          <a:bodyPr wrap="square" lIns="91440" rIns="91440" anchor="b">
            <a:normAutofit/>
          </a:bodyPr>
          <a:lstStyle/>
          <a:p>
            <a:pPr algn="ctr" marL="0" indent="0">
              <a:buNone/>
            </a:pPr>
            <a:r>
              <a:rPr lang="zh-CN" altLang="en-US" sz="2000" b="1" dirty="0">
                <a:solidFill>
                  <a:srgbClr val="0F172A"/>
                </a:solidFill>
                <a:latin typeface="Space Grotesk"/>
                <a:ea typeface="Noto Sans SC"/>
              </a:rPr>
              <a:t>第 2 周</a:t>
            </a:r>
          </a:p>
        </p:txBody>
      </p:sp>
      <p:sp>
        <p:nvSpPr>
          <p:cNvPr id="10" name="label-1"/>
          <p:cNvSpPr txBox="1"/>
          <p:nvPr/>
        </p:nvSpPr>
        <p:spPr>
          <a:xfrm>
            <a:off x="2002180" y="3700000"/>
            <a:ext cx="1803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0F172A"/>
                </a:solidFill>
                <a:latin typeface="Space Grotesk"/>
                <a:ea typeface="Noto Sans SC"/>
              </a:rPr>
              <a:t>募书与分拣</a:t>
            </a:r>
          </a:p>
        </p:txBody>
      </p:sp>
      <p:sp>
        <p:nvSpPr>
          <p:cNvPr id="11" name="detail-1"/>
          <p:cNvSpPr txBox="1"/>
          <p:nvPr/>
        </p:nvSpPr>
        <p:spPr>
          <a:xfrm>
            <a:off x="2002180" y="4020000"/>
            <a:ext cx="1803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475569"/>
                </a:solidFill>
                <a:latin typeface="Space Grotesk"/>
                <a:ea typeface="Noto Sans SC"/>
              </a:rPr>
              <a:t>交三堆清单与捐赠登记</a:t>
            </a:r>
          </a:p>
        </p:txBody>
      </p:sp>
      <p:sp>
        <p:nvSpPr>
          <p:cNvPr id="12" name="node-2"/>
          <p:cNvSpPr/>
          <p:nvPr/>
        </p:nvSpPr>
        <p:spPr>
          <a:xfrm>
            <a:off x="4941960" y="3310000"/>
            <a:ext cx="180000" cy="18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" name="at-2"/>
          <p:cNvSpPr txBox="1"/>
          <p:nvPr/>
        </p:nvSpPr>
        <p:spPr>
          <a:xfrm>
            <a:off x="4130260" y="3000000"/>
            <a:ext cx="1803400" cy="400000"/>
          </a:xfrm>
          <a:prstGeom prst="rect">
            <a:avLst/>
          </a:prstGeom>
          <a:noFill/>
        </p:spPr>
        <p:txBody>
          <a:bodyPr wrap="square" lIns="91440" rIns="91440" anchor="b">
            <a:normAutofit/>
          </a:bodyPr>
          <a:lstStyle/>
          <a:p>
            <a:pPr algn="ctr" marL="0" indent="0">
              <a:buNone/>
            </a:pPr>
            <a:r>
              <a:rPr lang="zh-CN" altLang="en-US" sz="2000" b="1" dirty="0">
                <a:solidFill>
                  <a:srgbClr val="0F172A"/>
                </a:solidFill>
                <a:latin typeface="Space Grotesk"/>
                <a:ea typeface="Noto Sans SC"/>
              </a:rPr>
              <a:t>第 3 周</a:t>
            </a:r>
          </a:p>
        </p:txBody>
      </p:sp>
      <p:sp>
        <p:nvSpPr>
          <p:cNvPr id="14" name="label-2"/>
          <p:cNvSpPr txBox="1"/>
          <p:nvPr/>
        </p:nvSpPr>
        <p:spPr>
          <a:xfrm>
            <a:off x="4130260" y="3700000"/>
            <a:ext cx="1803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0F172A"/>
                </a:solidFill>
                <a:latin typeface="Space Grotesk"/>
                <a:ea typeface="Noto Sans SC"/>
              </a:rPr>
              <a:t>书架进场</a:t>
            </a:r>
          </a:p>
        </p:txBody>
      </p:sp>
      <p:sp>
        <p:nvSpPr>
          <p:cNvPr id="15" name="detail-2"/>
          <p:cNvSpPr txBox="1"/>
          <p:nvPr/>
        </p:nvSpPr>
        <p:spPr>
          <a:xfrm>
            <a:off x="4130260" y="4020000"/>
            <a:ext cx="1803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475569"/>
                </a:solidFill>
                <a:latin typeface="Space Grotesk"/>
                <a:ea typeface="Noto Sans SC"/>
              </a:rPr>
              <a:t>交固定验收单（含防倾倒）</a:t>
            </a:r>
          </a:p>
        </p:txBody>
      </p:sp>
      <p:sp>
        <p:nvSpPr>
          <p:cNvPr id="16" name="node-3"/>
          <p:cNvSpPr/>
          <p:nvPr/>
        </p:nvSpPr>
        <p:spPr>
          <a:xfrm>
            <a:off x="7070040" y="3310000"/>
            <a:ext cx="180000" cy="18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at-3"/>
          <p:cNvSpPr txBox="1"/>
          <p:nvPr/>
        </p:nvSpPr>
        <p:spPr>
          <a:xfrm>
            <a:off x="6258340" y="3000000"/>
            <a:ext cx="1803400" cy="400000"/>
          </a:xfrm>
          <a:prstGeom prst="rect">
            <a:avLst/>
          </a:prstGeom>
          <a:noFill/>
        </p:spPr>
        <p:txBody>
          <a:bodyPr wrap="square" lIns="91440" rIns="91440" anchor="b">
            <a:normAutofit/>
          </a:bodyPr>
          <a:lstStyle/>
          <a:p>
            <a:pPr algn="ctr" marL="0" indent="0">
              <a:buNone/>
            </a:pPr>
            <a:r>
              <a:rPr lang="zh-CN" altLang="en-US" sz="2000" b="1" dirty="0">
                <a:solidFill>
                  <a:srgbClr val="0F172A"/>
                </a:solidFill>
                <a:latin typeface="Space Grotesk"/>
                <a:ea typeface="Noto Sans SC"/>
              </a:rPr>
              <a:t>第 4 周</a:t>
            </a:r>
          </a:p>
        </p:txBody>
      </p:sp>
      <p:sp>
        <p:nvSpPr>
          <p:cNvPr id="18" name="label-3"/>
          <p:cNvSpPr txBox="1"/>
          <p:nvPr/>
        </p:nvSpPr>
        <p:spPr>
          <a:xfrm>
            <a:off x="6258340" y="3700000"/>
            <a:ext cx="1803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0F172A"/>
                </a:solidFill>
                <a:latin typeface="Space Grotesk"/>
                <a:ea typeface="Noto Sans SC"/>
              </a:rPr>
              <a:t>上架与动线</a:t>
            </a:r>
          </a:p>
        </p:txBody>
      </p:sp>
      <p:sp>
        <p:nvSpPr>
          <p:cNvPr id="19" name="detail-3"/>
          <p:cNvSpPr txBox="1"/>
          <p:nvPr/>
        </p:nvSpPr>
        <p:spPr>
          <a:xfrm>
            <a:off x="6258340" y="4020000"/>
            <a:ext cx="1803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475569"/>
                </a:solidFill>
                <a:latin typeface="Space Grotesk"/>
                <a:ea typeface="Noto Sans SC"/>
              </a:rPr>
              <a:t>交分类标签与动线走位图</a:t>
            </a:r>
          </a:p>
        </p:txBody>
      </p:sp>
      <p:sp>
        <p:nvSpPr>
          <p:cNvPr id="20" name="node-4"/>
          <p:cNvSpPr/>
          <p:nvPr/>
        </p:nvSpPr>
        <p:spPr>
          <a:xfrm>
            <a:off x="9198120" y="3310000"/>
            <a:ext cx="180000" cy="18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1" name="at-4"/>
          <p:cNvSpPr txBox="1"/>
          <p:nvPr/>
        </p:nvSpPr>
        <p:spPr>
          <a:xfrm>
            <a:off x="8386420" y="3000000"/>
            <a:ext cx="1803400" cy="400000"/>
          </a:xfrm>
          <a:prstGeom prst="rect">
            <a:avLst/>
          </a:prstGeom>
          <a:noFill/>
        </p:spPr>
        <p:txBody>
          <a:bodyPr wrap="square" lIns="91440" rIns="91440" anchor="b">
            <a:normAutofit/>
          </a:bodyPr>
          <a:lstStyle/>
          <a:p>
            <a:pPr algn="ctr" marL="0" indent="0">
              <a:buNone/>
            </a:pPr>
            <a:r>
              <a:rPr lang="zh-CN" altLang="en-US" sz="2000" b="1" dirty="0">
                <a:solidFill>
                  <a:srgbClr val="0F172A"/>
                </a:solidFill>
                <a:latin typeface="Space Grotesk"/>
                <a:ea typeface="Noto Sans SC"/>
              </a:rPr>
              <a:t>第 5 周</a:t>
            </a:r>
          </a:p>
        </p:txBody>
      </p:sp>
      <p:sp>
        <p:nvSpPr>
          <p:cNvPr id="22" name="label-4"/>
          <p:cNvSpPr txBox="1"/>
          <p:nvPr/>
        </p:nvSpPr>
        <p:spPr>
          <a:xfrm>
            <a:off x="8386420" y="3700000"/>
            <a:ext cx="1803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0F172A"/>
                </a:solidFill>
                <a:latin typeface="Space Grotesk"/>
                <a:ea typeface="Noto Sans SC"/>
              </a:rPr>
              <a:t>物料上墙</a:t>
            </a:r>
          </a:p>
        </p:txBody>
      </p:sp>
      <p:sp>
        <p:nvSpPr>
          <p:cNvPr id="23" name="detail-4"/>
          <p:cNvSpPr txBox="1"/>
          <p:nvPr/>
        </p:nvSpPr>
        <p:spPr>
          <a:xfrm>
            <a:off x="8386420" y="4020000"/>
            <a:ext cx="1803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475569"/>
                </a:solidFill>
                <a:latin typeface="Space Grotesk"/>
                <a:ea typeface="Noto Sans SC"/>
              </a:rPr>
              <a:t>交标识、借阅箱、值守表</a:t>
            </a:r>
          </a:p>
        </p:txBody>
      </p:sp>
      <p:sp>
        <p:nvSpPr>
          <p:cNvPr id="24" name="node-5"/>
          <p:cNvSpPr/>
          <p:nvPr/>
        </p:nvSpPr>
        <p:spPr>
          <a:xfrm>
            <a:off x="11326200" y="3310000"/>
            <a:ext cx="180000" cy="18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at-5"/>
          <p:cNvSpPr txBox="1"/>
          <p:nvPr/>
        </p:nvSpPr>
        <p:spPr>
          <a:xfrm>
            <a:off x="10514500" y="3000000"/>
            <a:ext cx="1803400" cy="400000"/>
          </a:xfrm>
          <a:prstGeom prst="rect">
            <a:avLst/>
          </a:prstGeom>
          <a:noFill/>
        </p:spPr>
        <p:txBody>
          <a:bodyPr wrap="square" lIns="91440" rIns="91440" anchor="b">
            <a:normAutofit/>
          </a:bodyPr>
          <a:lstStyle/>
          <a:p>
            <a:pPr algn="ctr" marL="0" indent="0">
              <a:buNone/>
            </a:pPr>
            <a:r>
              <a:rPr lang="zh-CN" altLang="en-US" sz="2000" b="1" dirty="0">
                <a:solidFill>
                  <a:srgbClr val="0F172A"/>
                </a:solidFill>
                <a:latin typeface="Space Grotesk"/>
                <a:ea typeface="Noto Sans SC"/>
              </a:rPr>
              <a:t>第 6 周</a:t>
            </a:r>
          </a:p>
        </p:txBody>
      </p:sp>
      <p:sp>
        <p:nvSpPr>
          <p:cNvPr id="26" name="label-5"/>
          <p:cNvSpPr txBox="1"/>
          <p:nvPr/>
        </p:nvSpPr>
        <p:spPr>
          <a:xfrm>
            <a:off x="10514500" y="3700000"/>
            <a:ext cx="1803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0F172A"/>
                </a:solidFill>
                <a:latin typeface="Space Grotesk"/>
                <a:ea typeface="Noto Sans SC"/>
              </a:rPr>
              <a:t>开放日</a:t>
            </a:r>
          </a:p>
        </p:txBody>
      </p:sp>
      <p:sp>
        <p:nvSpPr>
          <p:cNvPr id="27" name="detail-5"/>
          <p:cNvSpPr txBox="1"/>
          <p:nvPr/>
        </p:nvSpPr>
        <p:spPr>
          <a:xfrm>
            <a:off x="10514500" y="4020000"/>
            <a:ext cx="1803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ctr" marL="0" indent="0">
              <a:buNone/>
            </a:pPr>
            <a:r>
              <a:rPr lang="zh-CN" altLang="en-US" sz="1400" b="0" dirty="0">
                <a:solidFill>
                  <a:srgbClr val="475569"/>
                </a:solidFill>
                <a:latin typeface="Space Grotesk"/>
                <a:ea typeface="Noto Sans SC"/>
              </a:rPr>
              <a:t>交首日借阅数与问题清单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社区共享书屋落地手册 · v1.2 · 街道社区服务中心</a:t>
            </a:r>
          </a:p>
        </p:txBody>
      </p:sp>
      <p:sp>
        <p:nvSpPr>
          <p:cNvPr id="29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上架动线示意：三排书架横向排列，右侧一条弧线箭头自下而上标出顺时针行走路径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0" y="1700000"/>
            <a:ext cx="3962400" cy="3600000"/>
          </a:xfrm>
          <a:prstGeom prst="rect">
            <a:avLst/>
          </a:prstGeom>
        </p:spPr>
      </p:pic>
      <p:sp>
        <p:nvSpPr>
          <p:cNvPr id="3" name="title-5"/>
          <p:cNvSpPr txBox="1"/>
          <p:nvPr/>
        </p:nvSpPr>
        <p:spPr>
          <a:xfrm>
            <a:off x="55626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0F172A"/>
                </a:solidFill>
                <a:latin typeface="Space Grotesk"/>
                <a:ea typeface="Noto Sans SC"/>
              </a:rPr>
              <a:t>第三步 · 上架与动线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55626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从门口起顺时针上架，最常借的两类（少儿绘本、生活实用）放在进门第一排。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每排书架顶层留空一格，作为读者随手放回的缓冲位，避免书被塞进错误分类。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上完架自己走一遍全程：走不通、要侧身、要绕回头的地方当场调整间距。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社区共享书屋落地手册 · v1.2 · 街道社区服务中心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0F172A"/>
                </a:solidFill>
                <a:latin typeface="Space Grotesk"/>
                <a:ea typeface="Noto Sans SC"/>
              </a:rPr>
              <a:t>第四步 · 三件必备物料，缺一件不开放</a:t>
            </a:r>
          </a:p>
        </p:txBody>
      </p:sp>
      <p:pic>
        <p:nvPicPr>
          <p:cNvPr id="3" name="p3" descr="分层书架示意：四层横板，两格用深浅两种蓝色标出分类色带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0" y="1700000"/>
            <a:ext cx="3505200" cy="2020000"/>
          </a:xfrm>
          <a:prstGeom prst="rect">
            <a:avLst/>
          </a:prstGeom>
        </p:spPr>
      </p:pic>
      <p:sp>
        <p:nvSpPr>
          <p:cNvPr id="4" name="caption-0"/>
          <p:cNvSpPr txBox="1"/>
          <p:nvPr/>
        </p:nvSpPr>
        <p:spPr>
          <a:xfrm>
            <a:off x="685800" y="3420000"/>
            <a:ext cx="3505200" cy="300000"/>
          </a:xfrm>
          <a:prstGeom prst="rect">
            <a:avLst/>
          </a:prstGeom>
          <a:solidFill>
            <a:srgbClr val="0F172A">
              <a:alpha val="60000"/>
            </a:srgbClr>
          </a:solidFill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0" dirty="0">
                <a:solidFill>
                  <a:srgbClr val="EFF6FF"/>
                </a:solidFill>
                <a:latin typeface="Space Grotesk"/>
                <a:ea typeface="Noto Sans SC"/>
              </a:rPr>
              <a:t>① 分层书架：每层贴一条分类色带，色带颜色与墙上标识一致</a:t>
            </a:r>
          </a:p>
        </p:txBody>
      </p:sp>
      <p:pic>
        <p:nvPicPr>
          <p:cNvPr id="5" name="p5" descr="墙面标识牌示意：白色牌面上一条深蓝标题条与两条浅蓝正文条，下方一根立杆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43400" y="1700000"/>
            <a:ext cx="3505200" cy="2020000"/>
          </a:xfrm>
          <a:prstGeom prst="rect">
            <a:avLst/>
          </a:prstGeom>
        </p:spPr>
      </p:pic>
      <p:sp>
        <p:nvSpPr>
          <p:cNvPr id="6" name="caption-1"/>
          <p:cNvSpPr txBox="1"/>
          <p:nvPr/>
        </p:nvSpPr>
        <p:spPr>
          <a:xfrm>
            <a:off x="4343400" y="3420000"/>
            <a:ext cx="3505200" cy="300000"/>
          </a:xfrm>
          <a:prstGeom prst="rect">
            <a:avLst/>
          </a:prstGeom>
          <a:solidFill>
            <a:srgbClr val="0F172A">
              <a:alpha val="60000"/>
            </a:srgbClr>
          </a:solidFill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0" dirty="0">
                <a:solidFill>
                  <a:srgbClr val="EFF6FF"/>
                </a:solidFill>
                <a:latin typeface="Space Grotesk"/>
                <a:ea typeface="Noto Sans SC"/>
              </a:rPr>
              <a:t>② 墙面标识：写清开放时段、借阅上限、联系人电话，贴在进门视线高度</a:t>
            </a:r>
          </a:p>
        </p:txBody>
      </p:sp>
      <p:pic>
        <p:nvPicPr>
          <p:cNvPr id="7" name="p7" descr="借还箱示意：带斜面顶盖的箱体，正面中央一道警示色投书口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0" y="1700000"/>
            <a:ext cx="3505200" cy="2020000"/>
          </a:xfrm>
          <a:prstGeom prst="rect">
            <a:avLst/>
          </a:prstGeom>
        </p:spPr>
      </p:pic>
      <p:sp>
        <p:nvSpPr>
          <p:cNvPr id="8" name="caption-2"/>
          <p:cNvSpPr txBox="1"/>
          <p:nvPr/>
        </p:nvSpPr>
        <p:spPr>
          <a:xfrm>
            <a:off x="8001000" y="3420000"/>
            <a:ext cx="3505200" cy="300000"/>
          </a:xfrm>
          <a:prstGeom prst="rect">
            <a:avLst/>
          </a:prstGeom>
          <a:solidFill>
            <a:srgbClr val="0F172A">
              <a:alpha val="60000"/>
            </a:srgbClr>
          </a:solidFill>
        </p:spPr>
        <p:txBody>
          <a:bodyPr wrap="square" lIns="91440" rIns="91440" anchor="ctr">
            <a:normAutofit/>
          </a:bodyPr>
          <a:lstStyle/>
          <a:p>
            <a:pPr algn="l" marL="0" indent="0">
              <a:buNone/>
            </a:pPr>
            <a:r>
              <a:rPr lang="zh-CN" altLang="en-US" sz="1400" b="0" dirty="0">
                <a:solidFill>
                  <a:srgbClr val="EFF6FF"/>
                </a:solidFill>
                <a:latin typeface="Space Grotesk"/>
                <a:ea typeface="Noto Sans SC"/>
              </a:rPr>
              <a:t>③ 借还箱：投口朝外，每日闭馆前清空一次并登记册数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社区共享书屋落地手册 · v1.2 · 街道社区服务中心</a:t>
            </a:r>
          </a:p>
        </p:txBody>
      </p:sp>
      <p:sp>
        <p:nvSpPr>
          <p:cNvPr id="10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0F172A"/>
                </a:solidFill>
                <a:latin typeface="Space Grotesk"/>
                <a:ea typeface="Noto Sans SC"/>
              </a:rPr>
              <a:t>第五步 · 值守方式二选一，先定了再排班</a:t>
            </a:r>
          </a:p>
        </p:txBody>
      </p:sp>
      <p:sp>
        <p:nvSpPr>
          <p:cNvPr id="3" name="left-header"/>
          <p:cNvSpPr/>
          <p:nvPr/>
        </p:nvSpPr>
        <p:spPr>
          <a:xfrm>
            <a:off x="685800" y="1700000"/>
            <a:ext cx="4724400" cy="4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left-header-text"/>
          <p:cNvSpPr txBox="1"/>
          <p:nvPr/>
        </p:nvSpPr>
        <p:spPr>
          <a:xfrm>
            <a:off x="685800" y="1700000"/>
            <a:ext cx="4724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1" dirty="0">
                <a:solidFill>
                  <a:srgbClr val="EFF6FF"/>
                </a:solidFill>
                <a:latin typeface="Space Grotesk"/>
                <a:ea typeface="Noto Sans SC"/>
              </a:rPr>
              <a:t>A</a:t>
            </a:r>
          </a:p>
        </p:txBody>
      </p:sp>
      <p:sp>
        <p:nvSpPr>
          <p:cNvPr id="5" name="left-items"/>
          <p:cNvSpPr txBox="1"/>
          <p:nvPr/>
        </p:nvSpPr>
        <p:spPr>
          <a:xfrm>
            <a:off x="685800" y="2120000"/>
            <a:ext cx="4724400" cy="276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0F172A"/>
                </a:solidFill>
                <a:latin typeface="Space Grotesk"/>
                <a:ea typeface="Noto Sans SC"/>
              </a:rPr>
              <a:t>有人值守：每日两班，每班 2 小时。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0F172A"/>
                </a:solidFill>
                <a:latin typeface="Space Grotesk"/>
                <a:ea typeface="Noto Sans SC"/>
              </a:rPr>
              <a:t>适合日均到访 30 人以上、以少儿读者为主的点位。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0F172A"/>
                </a:solidFill>
                <a:latin typeface="Space Grotesk"/>
                <a:ea typeface="Noto Sans SC"/>
              </a:rPr>
              <a:t>要额外准备：值守表、志愿者培训一次、临时联络群。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0F172A"/>
                </a:solidFill>
                <a:latin typeface="Space Grotesk"/>
                <a:ea typeface="Noto Sans SC"/>
              </a:rPr>
              <a:t>风险：排班断档一次，当天就得闭馆。</a:t>
            </a:r>
          </a:p>
        </p:txBody>
      </p:sp>
      <p:sp>
        <p:nvSpPr>
          <p:cNvPr id="6" name="right-header"/>
          <p:cNvSpPr/>
          <p:nvPr/>
        </p:nvSpPr>
        <p:spPr>
          <a:xfrm>
            <a:off x="5810200" y="1700000"/>
            <a:ext cx="4724400" cy="420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right-header-text"/>
          <p:cNvSpPr txBox="1"/>
          <p:nvPr/>
        </p:nvSpPr>
        <p:spPr>
          <a:xfrm>
            <a:off x="5810200" y="1700000"/>
            <a:ext cx="4724400" cy="42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 marL="0" indent="0">
              <a:buNone/>
            </a:pPr>
            <a:r>
              <a:rPr lang="zh-CN" altLang="en-US" sz="1400" b="1" dirty="0">
                <a:solidFill>
                  <a:srgbClr val="EFF6FF"/>
                </a:solidFill>
                <a:latin typeface="Space Grotesk"/>
                <a:ea typeface="Noto Sans SC"/>
              </a:rPr>
              <a:t>选定后写进立项表并公示，中途改方式要重新公示七天。</a:t>
            </a:r>
          </a:p>
        </p:txBody>
      </p:sp>
      <p:sp>
        <p:nvSpPr>
          <p:cNvPr id="8" name="right-items"/>
          <p:cNvSpPr txBox="1"/>
          <p:nvPr/>
        </p:nvSpPr>
        <p:spPr>
          <a:xfrm>
            <a:off x="5810200" y="2120000"/>
            <a:ext cx="4724400" cy="276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0F172A"/>
                </a:solidFill>
                <a:latin typeface="Space Grotesk"/>
                <a:ea typeface="Noto Sans SC"/>
              </a:rPr>
              <a:t>无人自助：全天开放，借还全靠自助登记本。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0F172A"/>
                </a:solidFill>
                <a:latin typeface="Space Grotesk"/>
                <a:ea typeface="Noto Sans SC"/>
              </a:rPr>
              <a:t>适合日均到访 30 人以下、以成人读者为主的点位。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0F172A"/>
                </a:solidFill>
                <a:latin typeface="Space Grotesk"/>
                <a:ea typeface="Noto Sans SC"/>
              </a:rPr>
              <a:t>要额外准备：自助登记本、每周一次盘点、监控或门禁。</a:t>
            </a:r>
          </a:p>
          <a:p>
            <a:pPr algn="l" marL="228600" indent="-228600">
              <a:lnSpc>
                <a:spcPts val="3622"/>
              </a:lnSpc>
              <a:buFont typeface="Arial"/>
              <a:buChar char="•"/>
            </a:pPr>
            <a:r>
              <a:rPr lang="zh-CN" altLang="en-US" sz="1600" b="0" dirty="0">
                <a:solidFill>
                  <a:srgbClr val="0F172A"/>
                </a:solidFill>
                <a:latin typeface="Space Grotesk"/>
                <a:ea typeface="Noto Sans SC"/>
              </a:rPr>
              <a:t>风险：图书年流失率按 8% 预估，预算里先留出补书钱。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社区共享书屋落地手册 · v1.2 · 街道社区服务中心</a:t>
            </a:r>
          </a:p>
        </p:txBody>
      </p:sp>
      <p:sp>
        <p:nvSpPr>
          <p:cNvPr id="10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 descr="开放日现场示意：一条横幅下五位读者并排站在书架前，高矮交错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43800" y="1700000"/>
            <a:ext cx="3962400" cy="3600000"/>
          </a:xfrm>
          <a:prstGeom prst="rect">
            <a:avLst/>
          </a:prstGeom>
        </p:spPr>
      </p:pic>
      <p:sp>
        <p:nvSpPr>
          <p:cNvPr id="3" name="title-8"/>
          <p:cNvSpPr txBox="1"/>
          <p:nvPr/>
        </p:nvSpPr>
        <p:spPr>
          <a:xfrm>
            <a:off x="685800" y="760000"/>
            <a:ext cx="59436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0F172A"/>
                </a:solidFill>
                <a:latin typeface="Space Grotesk"/>
                <a:ea typeface="Noto Sans SC"/>
              </a:rPr>
              <a:t>第六步 · 开放日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5943600" cy="36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开放前 30 分钟到场，逐排点一次书、试一次借还箱、确认标识没有被挡住。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首日只推一件事：现场办证。其余活动全部往后排，不要在第一天做多件事。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闭馆后当天填首日表：到访人数、借出册数、被问到三次以上的问题各记一行。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社区共享书屋落地手册 · v1.2 · 街道社区服务中心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dot"/>
          <p:cNvSpPr/>
          <p:nvPr/>
        </p:nvSpPr>
        <p:spPr>
          <a:xfrm>
            <a:off x="685800" y="620000"/>
            <a:ext cx="200000" cy="7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itle-9"/>
          <p:cNvSpPr txBox="1"/>
          <p:nvPr/>
        </p:nvSpPr>
        <p:spPr>
          <a:xfrm>
            <a:off x="685800" y="760000"/>
            <a:ext cx="10820400" cy="8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2800" b="1" dirty="0">
                <a:solidFill>
                  <a:srgbClr val="0F172A"/>
                </a:solidFill>
                <a:latin typeface="Space Grotesk"/>
                <a:ea typeface="Noto Sans SC"/>
              </a:rPr>
              <a:t>交付检查清单：六步各收一行，全部打勾才算交付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1700000"/>
            <a:ext cx="10820400" cy="45484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① 选点：主通道净宽实测 ≥ 1.2 米，平面图已进立项表。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② 分拣：三堆清单与捐赠登记齐全，现场无过夜散书。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③ 上架：顺时针单向动线走通一遍，每排顶层留有缓冲格。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④ 物料：书架色带、墙面标识、借还箱三件到齐并已合影存档。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⑤ 值守：方式已选定、已公示，排班表覆盖开放后两周。</a:t>
            </a:r>
          </a:p>
          <a:p>
            <a:pPr algn="l" marL="228600" indent="-228600">
              <a:lnSpc>
                <a:spcPts val="4094"/>
              </a:lnSpc>
              <a:buFont typeface="Arial"/>
              <a:buChar char="•"/>
            </a:pPr>
            <a:r>
              <a:rPr lang="zh-CN" altLang="en-US" sz="1800" b="0" dirty="0">
                <a:solidFill>
                  <a:srgbClr val="0F172A"/>
                </a:solidFill>
                <a:latin typeface="Space Grotesk"/>
                <a:ea typeface="Noto Sans SC"/>
              </a:rPr>
              <a:t>⑥ 开放日：首日表已填并发群，问题清单已分派到人。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社区共享书屋落地手册 · v1.2 · 街道社区服务中心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6096000" y="6400800"/>
            <a:ext cx="5410200" cy="30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r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9 / 9</a:t>
            </a:r>
          </a:p>
        </p:txBody>
      </p:sp>
      <p:sp>
        <p:nvSpPr>
          <p:cNvPr id="7" name="oceanleo-credits"/>
          <p:cNvSpPr txBox="1"/>
          <p:nvPr/>
        </p:nvSpPr>
        <p:spPr>
          <a:xfrm>
            <a:off x="685800" y="6060800"/>
            <a:ext cx="10820400" cy="320000"/>
          </a:xfrm>
          <a:prstGeom prst="rect">
            <a:avLst/>
          </a:prstGeom>
          <a:noFill/>
        </p:spPr>
        <p:txBody>
          <a:bodyPr wrap="square" lIns="91440" rIns="91440" anchor="t">
            <a:normAutofit/>
          </a:bodyPr>
          <a:lstStyle/>
          <a:p>
            <a:pPr algn="l" marL="0" indent="0">
              <a:buNone/>
            </a:pPr>
            <a:r>
              <a:rPr lang="zh-CN" altLang="en-US" sz="1200" b="0" dirty="0">
                <a:solidFill>
                  <a:srgbClr val="475569"/>
                </a:solidFill>
                <a:latin typeface="Space Grotesk"/>
                <a:ea typeface="Noto Sans SC"/>
              </a:rPr>
              <a:t>OceanLeo 第一方原创，插图为程序化生成的示意图，非实拍照片；流程与数字为示例，不指向任何真实点位 (CC0-1.0)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Leo Deck">
  <a:themeElements>
    <a:clrScheme name="OceanLeo">
      <a:dk1>
        <a:srgbClr val="0F172A"/>
      </a:dk1>
      <a:lt1>
        <a:srgbClr val="EFF6FF"/>
      </a:lt1>
      <a:dk2>
        <a:srgbClr val="475569"/>
      </a:dk2>
      <a:lt2>
        <a:srgbClr val="EFF6FF"/>
      </a:lt2>
      <a:accent1>
        <a:srgbClr val="2563EB"/>
      </a:accent1>
      <a:accent2>
        <a:srgbClr val="1D4ED8"/>
      </a:accent2>
      <a:accent3>
        <a:srgbClr val="1E3A8A"/>
      </a:accent3>
      <a:accent4>
        <a:srgbClr val="3B82F6"/>
      </a:accent4>
      <a:accent5>
        <a:srgbClr val="93C5FD"/>
      </a:accent5>
      <a:accent6>
        <a:srgbClr val="475569"/>
      </a:accent6>
      <a:hlink>
        <a:srgbClr val="0969DA"/>
      </a:hlink>
      <a:folHlink>
        <a:srgbClr val="8250DF"/>
      </a:folHlink>
    </a:clrScheme>
    <a:fontScheme name="OceanLeo">
      <a:majorFont>
        <a:latin typeface="Space Grotesk"/>
        <a:ea typeface="Noto Sans SC"/>
        <a:cs typeface=""/>
      </a:majorFont>
      <a:minorFont>
        <a:latin typeface="Noto Sans SC"/>
        <a:ea typeface="Noto Sans SC"/>
        <a:cs typeface=""/>
      </a:minorFont>
    </a:fontScheme>
    <a:fmtScheme name="OceanLeo">
      <a:fillStyleLst>
        <a:solidFill>
          <a:schemeClr val="phClr">
            <a:lumMod val="100000"/>
          </a:schemeClr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>
            <a:lumMod val="100000"/>
          </a:schemeClr>
        </a:solidFill>
        <a:solidFill>
          <a:schemeClr val="phClr">
            <a:lumMod val="95000"/>
          </a:schemeClr>
        </a:solidFill>
        <a:solidFill>
          <a:schemeClr val="phClr">
            <a:lumMod val="85000"/>
          </a:schemeClr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社区共享书屋落地手册：从选点到开放日</dc:title>
  <dc:subject>社区共享书屋落地手册：从选点到开放日</dc:subject>
  <dc:creator>OceanLeo</dc:creator>
  <cp:lastModifiedBy>OceanLeo</cp:lastModifiedBy>
  <cp:revision>1</cp:revision>
  <dcterms:created xsi:type="dcterms:W3CDTF">2026-07-29T00:00:00Z</dcterms:created>
  <dcterms:modified xsi:type="dcterms:W3CDTF">2026-07-29T00:00:00Z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ceanLeoCredits">
    <vt:lpwstr>OceanLeo 第一方原创，插图为程序化生成的示意图，非实拍照片；流程与数字为示例，不指向任何真实点位 (CC0-1.0)</vt:lpwstr>
  </property>
  <property fmtid="{D5CDD505-2E9C-101B-9397-08002B2CF9AE}" pid="3" name="usage_scope">
    <vt:lpwstr>commercial-ok</vt:lpwstr>
  </property>
  <property fmtid="{D5CDD505-2E9C-101B-9397-08002B2CF9AE}" pid="4" name="license_family">
    <vt:lpwstr>CC0-1.0</vt:lpwstr>
  </property>
  <property fmtid="{D5CDD505-2E9C-101B-9397-08002B2CF9AE}" pid="5" name="supply_tier">
    <vt:lpwstr>first-party</vt:lpwstr>
  </property>
</Properties>
</file>